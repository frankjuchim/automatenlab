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[0:00–0:20] Einstieg
„Im letzten Video ist der DEA an aⁿbⁿ gescheitert. Heute bekommt er einen Stapel als Gedächtnis – in der Notation, die im Abi verlangt wird.“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[0:20–1:00] Der Keller
„Wie ein Tellerstapel: Du kommst nur an den obersten Teller.“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[1:00–2:10] Die Beschriftung
„Ein Übergang fragt zwei Dinge: Was liegt oben? Was lese ich?“
„Die Ablage A# wird von rechts abgelegt: erst #, dann A – also liegt A oben.“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[2:10–2:45] Der Kellerautomat für aⁿbⁿ
Graph einmal komplett vorlesen.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[2:45–3:45] Live: Simulator
Bei jedem Schritt: Übergang vorlesen, Keller kommentieren.
Kurz aab laden: „Wo bleibt er stehen?“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[3:45–5:00] Die Abi-Tabelle
„Erste Zeile: S0, nur #, noch nichts gelesen – Striche.“
„Spalte drei: das Zeichen, das der Übergang oben vorgefunden hat.“
„Der ε-Übergang bekommt eine eigene Zeile – mit ε als Eingabezeichen.“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[5:30–6:15] Jetzt du: aab
„Achte auf den Schluss: Warum genau wird aab abgelehnt?“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[6:15–6:40] Zusammenfassung
Ausblick: Grammatiken – die andere Seite der Sprachen.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_TITEL">
    <p:bg>
      <p:bgPr>
        <a:solidFill>
          <a:srgbClr val="0E64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4572000"/>
            <a:ext cx="3200400" cy="2057400"/>
          </a:xfrm>
          <a:prstGeom prst="rect">
            <a:avLst/>
          </a:prstGeom>
          <a:solidFill>
            <a:srgbClr val="0B574A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45720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457200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58600" y="45720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978640" y="457200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66294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0" y="630936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58600" y="66294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978640" y="630936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_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5  ·  Kellerautomaten  ·  automatenlab.frankjuchim.de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8778240" y="4572000"/>
            <a:ext cx="3200400" cy="2057400"/>
          </a:xfrm>
          <a:prstGeom prst="rect">
            <a:avLst/>
          </a:prstGeom>
          <a:solidFill>
            <a:srgbClr val="F1F7F6"/>
          </a:solidFill>
          <a:ln/>
        </p:spPr>
      </p:sp>
      <p:sp>
        <p:nvSpPr>
          <p:cNvPr id="5" name="Shape 2"/>
          <p:cNvSpPr/>
          <p:nvPr/>
        </p:nvSpPr>
        <p:spPr>
          <a:xfrm>
            <a:off x="8778240" y="45720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78240" y="457200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658600" y="45720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978640" y="457200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0" y="66294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778240" y="630936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658600" y="66294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978640" y="630936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_AKZENT">
    <p:bg>
      <p:bgPr>
        <a:solidFill>
          <a:srgbClr val="F1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5  ·  Kellerautomaten  ·  automatenlab.frankjuchim.de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8778240" y="4572000"/>
            <a:ext cx="3200400" cy="2057400"/>
          </a:xfrm>
          <a:prstGeom prst="rect">
            <a:avLst/>
          </a:prstGeom>
          <a:solidFill>
            <a:srgbClr val="E4EEEC"/>
          </a:solidFill>
          <a:ln/>
        </p:spPr>
      </p:sp>
      <p:sp>
        <p:nvSpPr>
          <p:cNvPr id="5" name="Shape 2"/>
          <p:cNvSpPr/>
          <p:nvPr/>
        </p:nvSpPr>
        <p:spPr>
          <a:xfrm>
            <a:off x="8778240" y="45720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78240" y="457200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658600" y="45720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978640" y="457200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0" y="66294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778240" y="630936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658600" y="66294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978640" y="630936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_DUNKEL">
    <p:bg>
      <p:bgPr>
        <a:solidFill>
          <a:srgbClr val="0A4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4572000"/>
            <a:ext cx="3200400" cy="2057400"/>
          </a:xfrm>
          <a:prstGeom prst="rect">
            <a:avLst/>
          </a:prstGeom>
          <a:solidFill>
            <a:srgbClr val="083D34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45720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457200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58600" y="45720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978640" y="457200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66294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0" y="630936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58600" y="66294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978640" y="630936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Erklärvideo 5  ·  Maschinen, die Sprache verstehen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7863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Kellerautomaten: Notation und Abi-Tabelle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640080" y="3977640"/>
            <a:ext cx="7772400" cy="1463040"/>
          </a:xfrm>
          <a:prstGeom prst="roundRect">
            <a:avLst>
              <a:gd name="adj" fmla="val 7500"/>
            </a:avLst>
          </a:prstGeom>
          <a:solidFill>
            <a:srgbClr val="0A4A3F"/>
          </a:solidFill>
          <a:ln w="12700">
            <a:solidFill>
              <a:srgbClr val="0A4A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4114800"/>
            <a:ext cx="7315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Leitfrage</a:t>
            </a:r>
            <a:endParaRPr lang="en-US" sz="1500" dirty="0"/>
          </a:p>
          <a:p>
            <a:pPr indent="0" marL="0">
              <a:buNone/>
            </a:pPr>
            <a:r>
              <a:rPr lang="en-US" sz="23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Wie erkennt eine Maschine a</a:t>
            </a:r>
            <a:r>
              <a:rPr lang="en-US" sz="2300" i="1" baseline="3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r>
              <a:rPr lang="en-US" sz="23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r>
              <a:rPr lang="en-US" sz="2300" i="1" baseline="3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r>
              <a:rPr lang="en-US" sz="23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und wie dokumentiere ich das im Abi?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035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FD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automatenlab.frankjuchim.de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0" y="914400"/>
            <a:ext cx="960120" cy="96012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0" y="9144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10561320" y="914400"/>
            <a:ext cx="960120" cy="96012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61320" y="9144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9857232" y="2331720"/>
            <a:ext cx="960120" cy="96012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F3D9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948672" y="2423160"/>
            <a:ext cx="777240" cy="777240"/>
          </a:xfrm>
          <a:prstGeom prst="ellipse">
            <a:avLst/>
          </a:prstGeom>
          <a:solidFill>
            <a:srgbClr val="0E6455"/>
          </a:solidFill>
          <a:ln w="19050">
            <a:solidFill>
              <a:srgbClr val="F3D9B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857232" y="233172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S2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10122408" y="1389888"/>
            <a:ext cx="420624" cy="0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H="1">
            <a:off x="10652760" y="1874520"/>
            <a:ext cx="256032" cy="475488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 Stapel als Gedächtnis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786384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Kellerspeicher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Zugriff nur auf das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oberste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Zeichen</a:t>
            </a:r>
            <a:endParaRPr lang="en-US" sz="22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liegt am Anfang im Keller (Vorbelegung)</a:t>
            </a:r>
            <a:endParaRPr lang="en-US" sz="22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Kelleralphabet, z. B. Γ = {#, A}</a:t>
            </a:r>
            <a:endParaRPr lang="en-US" sz="22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Schritt: oberstes Zeichen entfernen und eine Zeichenkette ablegen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KELLER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9966960" y="2331720"/>
            <a:ext cx="822960" cy="548640"/>
          </a:xfrm>
          <a:prstGeom prst="rect">
            <a:avLst/>
          </a:prstGeom>
          <a:solidFill>
            <a:srgbClr val="B26A0F"/>
          </a:solidFill>
          <a:ln w="15240">
            <a:solidFill>
              <a:srgbClr val="0A4A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966960" y="23317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966960" y="2880360"/>
            <a:ext cx="822960" cy="548640"/>
          </a:xfrm>
          <a:prstGeom prst="rect">
            <a:avLst/>
          </a:prstGeom>
          <a:solidFill>
            <a:srgbClr val="F6E7CF"/>
          </a:solidFill>
          <a:ln w="15240">
            <a:solidFill>
              <a:srgbClr val="0A4A3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966960" y="288036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9966960" y="3429000"/>
            <a:ext cx="822960" cy="548640"/>
          </a:xfrm>
          <a:prstGeom prst="rect">
            <a:avLst/>
          </a:prstGeom>
          <a:solidFill>
            <a:srgbClr val="D7E4E1"/>
          </a:solidFill>
          <a:ln w="15240">
            <a:solidFill>
              <a:srgbClr val="0A4A3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966960" y="34290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0881360" y="23774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oben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(oberstes Kellerzeichen, Eingabe) : Ablage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786384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(#, a) : A#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# entfernen, A# ablegen ⇒ A liegt oben</a:t>
            </a:r>
            <a:endParaRPr lang="en-US" sz="22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(A, a) : AA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ein weiteres A</a:t>
            </a:r>
            <a:endParaRPr lang="en-US" sz="22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(A, b) : ε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A entfernen, nichts ablegen</a:t>
            </a:r>
            <a:endParaRPr lang="en-US" sz="22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(#, ε) : #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ohne ein Zeichen zu lesen (ε-Übergang)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8ECDB"/>
          </a:solidFill>
          <a:ln w="12700">
            <a:solidFill>
              <a:srgbClr val="B26A0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ABLAGEREGEL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Ablage wird </a:t>
            </a:r>
            <a:r>
              <a:rPr lang="en-US" sz="19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rechts</a:t>
            </a: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abgelegt.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</a:t>
            </a:r>
            <a:r>
              <a:rPr lang="en-US" sz="19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</a:t>
            </a: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Zeichen liegt danach </a:t>
            </a:r>
            <a:r>
              <a:rPr lang="en-US" sz="19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oben</a:t>
            </a: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Vorher – nachher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21792" y="1371600"/>
            <a:ext cx="2474976" cy="4114800"/>
          </a:xfrm>
          <a:prstGeom prst="roundRect">
            <a:avLst>
              <a:gd name="adj" fmla="val 3695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508760"/>
            <a:ext cx="243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(#, a) : A#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68680" y="3703320"/>
            <a:ext cx="685800" cy="502920"/>
          </a:xfrm>
          <a:prstGeom prst="rect">
            <a:avLst/>
          </a:prstGeom>
          <a:solidFill>
            <a:srgbClr val="D7E4E1"/>
          </a:solidFill>
          <a:ln w="15240">
            <a:solidFill>
              <a:srgbClr val="0A4A3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370332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427939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vorher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645920" y="3429000"/>
            <a:ext cx="411480" cy="0"/>
          </a:xfrm>
          <a:prstGeom prst="line">
            <a:avLst/>
          </a:prstGeom>
          <a:noFill/>
          <a:ln w="31750">
            <a:solidFill>
              <a:srgbClr val="B26A0F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148840" y="3200400"/>
            <a:ext cx="685800" cy="502920"/>
          </a:xfrm>
          <a:prstGeom prst="rect">
            <a:avLst/>
          </a:prstGeom>
          <a:solidFill>
            <a:srgbClr val="F6E7CF"/>
          </a:solidFill>
          <a:ln w="15240">
            <a:solidFill>
              <a:srgbClr val="0A4A3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148840" y="320040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148840" y="3703320"/>
            <a:ext cx="685800" cy="502920"/>
          </a:xfrm>
          <a:prstGeom prst="rect">
            <a:avLst/>
          </a:prstGeom>
          <a:solidFill>
            <a:srgbClr val="D7E4E1"/>
          </a:solidFill>
          <a:ln w="15240">
            <a:solidFill>
              <a:srgbClr val="0A4A3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148840" y="370332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427939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nachher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892040"/>
            <a:ext cx="243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Oben liegt A.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3243072" y="1371600"/>
            <a:ext cx="2474976" cy="4114800"/>
          </a:xfrm>
          <a:prstGeom prst="roundRect">
            <a:avLst>
              <a:gd name="adj" fmla="val 3695"/>
            </a:avLst>
          </a:prstGeom>
          <a:solidFill>
            <a:srgbClr val="FFFFFF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261360" y="1508760"/>
            <a:ext cx="243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(A, a) : AA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3489960" y="3200400"/>
            <a:ext cx="685800" cy="502920"/>
          </a:xfrm>
          <a:prstGeom prst="rect">
            <a:avLst/>
          </a:prstGeom>
          <a:solidFill>
            <a:srgbClr val="B26A0F"/>
          </a:solidFill>
          <a:ln w="15240">
            <a:solidFill>
              <a:srgbClr val="0A4A3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489960" y="320040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3489960" y="3703320"/>
            <a:ext cx="685800" cy="502920"/>
          </a:xfrm>
          <a:prstGeom prst="rect">
            <a:avLst/>
          </a:prstGeom>
          <a:solidFill>
            <a:srgbClr val="D7E4E1"/>
          </a:solidFill>
          <a:ln w="15240">
            <a:solidFill>
              <a:srgbClr val="0A4A3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489960" y="370332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2941320" y="427939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vorher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267200" y="3429000"/>
            <a:ext cx="411480" cy="0"/>
          </a:xfrm>
          <a:prstGeom prst="line">
            <a:avLst/>
          </a:prstGeom>
          <a:noFill/>
          <a:ln w="31750">
            <a:solidFill>
              <a:srgbClr val="B26A0F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770120" y="2697480"/>
            <a:ext cx="685800" cy="502920"/>
          </a:xfrm>
          <a:prstGeom prst="rect">
            <a:avLst/>
          </a:prstGeom>
          <a:solidFill>
            <a:srgbClr val="F6E7CF"/>
          </a:solidFill>
          <a:ln w="15240">
            <a:solidFill>
              <a:srgbClr val="0A4A3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770120" y="269748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4770120" y="3200400"/>
            <a:ext cx="685800" cy="502920"/>
          </a:xfrm>
          <a:prstGeom prst="rect">
            <a:avLst/>
          </a:prstGeom>
          <a:solidFill>
            <a:srgbClr val="F6E7CF"/>
          </a:solidFill>
          <a:ln w="15240">
            <a:solidFill>
              <a:srgbClr val="0A4A3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770120" y="320040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4770120" y="3703320"/>
            <a:ext cx="685800" cy="502920"/>
          </a:xfrm>
          <a:prstGeom prst="rect">
            <a:avLst/>
          </a:prstGeom>
          <a:solidFill>
            <a:srgbClr val="D7E4E1"/>
          </a:solidFill>
          <a:ln w="15240">
            <a:solidFill>
              <a:srgbClr val="0A4A3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770120" y="370332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</a:t>
            </a:r>
            <a:endParaRPr lang="en-US" sz="2200" dirty="0"/>
          </a:p>
        </p:txBody>
      </p:sp>
      <p:sp>
        <p:nvSpPr>
          <p:cNvPr id="29" name="Text 27"/>
          <p:cNvSpPr txBox="1"/>
          <p:nvPr/>
        </p:nvSpPr>
        <p:spPr>
          <a:xfrm>
            <a:off x="4221480" y="427939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nachher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3261360" y="4892040"/>
            <a:ext cx="243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A mehr.</a:t>
            </a:r>
            <a:endParaRPr lang="en-US" sz="1900" dirty="0"/>
          </a:p>
        </p:txBody>
      </p:sp>
      <p:sp>
        <p:nvSpPr>
          <p:cNvPr id="31" name="Shape 29"/>
          <p:cNvSpPr/>
          <p:nvPr/>
        </p:nvSpPr>
        <p:spPr>
          <a:xfrm>
            <a:off x="5864352" y="1371600"/>
            <a:ext cx="2474976" cy="4114800"/>
          </a:xfrm>
          <a:prstGeom prst="roundRect">
            <a:avLst>
              <a:gd name="adj" fmla="val 3695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882640" y="1508760"/>
            <a:ext cx="243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(A, b) : ε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6111240" y="2697480"/>
            <a:ext cx="685800" cy="502920"/>
          </a:xfrm>
          <a:prstGeom prst="rect">
            <a:avLst/>
          </a:prstGeom>
          <a:solidFill>
            <a:srgbClr val="B26A0F"/>
          </a:solidFill>
          <a:ln w="15240">
            <a:solidFill>
              <a:srgbClr val="0A4A3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111240" y="269748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6111240" y="3200400"/>
            <a:ext cx="685800" cy="502920"/>
          </a:xfrm>
          <a:prstGeom prst="rect">
            <a:avLst/>
          </a:prstGeom>
          <a:solidFill>
            <a:srgbClr val="F6E7CF"/>
          </a:solidFill>
          <a:ln w="15240">
            <a:solidFill>
              <a:srgbClr val="0A4A3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111240" y="320040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2200" dirty="0"/>
          </a:p>
        </p:txBody>
      </p:sp>
      <p:sp>
        <p:nvSpPr>
          <p:cNvPr id="37" name="Shape 35"/>
          <p:cNvSpPr/>
          <p:nvPr/>
        </p:nvSpPr>
        <p:spPr>
          <a:xfrm>
            <a:off x="6111240" y="3703320"/>
            <a:ext cx="685800" cy="502920"/>
          </a:xfrm>
          <a:prstGeom prst="rect">
            <a:avLst/>
          </a:prstGeom>
          <a:solidFill>
            <a:srgbClr val="D7E4E1"/>
          </a:solidFill>
          <a:ln w="15240">
            <a:solidFill>
              <a:srgbClr val="0A4A3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111240" y="370332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</a:t>
            </a:r>
            <a:endParaRPr lang="en-US" sz="2200" dirty="0"/>
          </a:p>
        </p:txBody>
      </p:sp>
      <p:sp>
        <p:nvSpPr>
          <p:cNvPr id="39" name="Text 37"/>
          <p:cNvSpPr txBox="1"/>
          <p:nvPr/>
        </p:nvSpPr>
        <p:spPr>
          <a:xfrm>
            <a:off x="5562600" y="427939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vorher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6888480" y="3429000"/>
            <a:ext cx="411480" cy="0"/>
          </a:xfrm>
          <a:prstGeom prst="line">
            <a:avLst/>
          </a:prstGeom>
          <a:noFill/>
          <a:ln w="31750">
            <a:solidFill>
              <a:srgbClr val="B26A0F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7391400" y="3200400"/>
            <a:ext cx="685800" cy="502920"/>
          </a:xfrm>
          <a:prstGeom prst="rect">
            <a:avLst/>
          </a:prstGeom>
          <a:solidFill>
            <a:srgbClr val="F6E7CF"/>
          </a:solidFill>
          <a:ln w="15240">
            <a:solidFill>
              <a:srgbClr val="0A4A3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391400" y="320040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2200" dirty="0"/>
          </a:p>
        </p:txBody>
      </p:sp>
      <p:sp>
        <p:nvSpPr>
          <p:cNvPr id="43" name="Shape 41"/>
          <p:cNvSpPr/>
          <p:nvPr/>
        </p:nvSpPr>
        <p:spPr>
          <a:xfrm>
            <a:off x="7391400" y="3703320"/>
            <a:ext cx="685800" cy="502920"/>
          </a:xfrm>
          <a:prstGeom prst="rect">
            <a:avLst/>
          </a:prstGeom>
          <a:solidFill>
            <a:srgbClr val="D7E4E1"/>
          </a:solidFill>
          <a:ln w="15240">
            <a:solidFill>
              <a:srgbClr val="0A4A3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391400" y="370332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</a:t>
            </a:r>
            <a:endParaRPr lang="en-US" sz="2200" dirty="0"/>
          </a:p>
        </p:txBody>
      </p:sp>
      <p:sp>
        <p:nvSpPr>
          <p:cNvPr id="45" name="Text 43"/>
          <p:cNvSpPr txBox="1"/>
          <p:nvPr/>
        </p:nvSpPr>
        <p:spPr>
          <a:xfrm>
            <a:off x="6842760" y="427939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nachher</a:t>
            </a:r>
            <a:endParaRPr lang="en-US" sz="1500" dirty="0"/>
          </a:p>
        </p:txBody>
      </p:sp>
      <p:sp>
        <p:nvSpPr>
          <p:cNvPr id="46" name="Text 44"/>
          <p:cNvSpPr txBox="1"/>
          <p:nvPr/>
        </p:nvSpPr>
        <p:spPr>
          <a:xfrm>
            <a:off x="5882640" y="4892040"/>
            <a:ext cx="243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A weniger.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Kellerautomat für aⁿbⁿ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{a, b}  ·  Γ = {#, A}  ·  Startzustand S0  ·  Endzustand S2</a:t>
            </a:r>
            <a:endParaRPr lang="en-US" sz="1900" dirty="0"/>
          </a:p>
        </p:txBody>
      </p:sp>
      <p:pic>
        <p:nvPicPr>
          <p:cNvPr id="4" name="Image 0" descr="/home/claude/unit/build/img/video/anbn_pd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915015"/>
            <a:ext cx="7863840" cy="180521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4360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nicht eingezeichneten Übergänge führen in einen Fehlerzustand.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</a:t>
            </a:r>
            <a:r>
              <a:rPr lang="en-US" sz="19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ein A ablegen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</a:t>
            </a:r>
            <a:r>
              <a:rPr lang="en-US" sz="19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ein A entfernen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 noch # ⇒ S2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im AutomatenLab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108960" cy="420624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0E6455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45920"/>
            <a:ext cx="2468880" cy="24688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85800" y="425196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</a:t>
            </a:r>
            <a:endParaRPr lang="en-US" sz="15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Keller-Labor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023360" y="1325880"/>
            <a:ext cx="43891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 machen gleich: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aabb Schritt für Schritt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Keller beobachten: A rauf, A runter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passiert bei aab?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715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A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automatenlab.frankjuchim.de/#/keller?automat=anbn&amp;modus=sim&amp;wort=aabb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Abi-Tabelle: aabb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786384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2331720"/>
                <a:gridCol w="2011680"/>
                <a:gridCol w="2194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Zustand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Belegung Kellerspeicher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oberstes Kellersymbol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verarbeitetes Eingabezeichen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C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8ECDB"/>
          </a:solidFill>
          <a:ln w="12700">
            <a:solidFill>
              <a:srgbClr val="B26A0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REGELN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S0 | # | – | –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Oberstes Zeichen </a:t>
            </a:r>
            <a:r>
              <a:rPr lang="en-US" sz="18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ε-Übergang = eigene Zeile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Abi-Tabelle: aabb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786384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2331720"/>
                <a:gridCol w="2011680"/>
                <a:gridCol w="2194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Zustand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Belegung Kellerspeicher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oberstes Kellersymbol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verarbeitetes Eingabezeichen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C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2578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akzeptiert: </a:t>
            </a:r>
            <a:r>
              <a:rPr lang="en-US" sz="20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</a:t>
            </a: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Eingabe vollständig gelesen und Endzustand S2 erreicht.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8ECDB"/>
          </a:solidFill>
          <a:ln w="12700">
            <a:solidFill>
              <a:srgbClr val="B26A0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REGELN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S0 | # | – | –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Oberstes Zeichen </a:t>
            </a:r>
            <a:r>
              <a:rPr lang="en-US" sz="18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ε-Übergang = eigene Zeile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Pausiere jetzt!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868680" cy="86868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44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45920" y="132588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Wird </a:t>
            </a:r>
            <a:r>
              <a:rPr lang="en-US" sz="25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aab</a:t>
            </a:r>
            <a:r>
              <a:rPr lang="en-US" sz="25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akzeptiert? Erstelle die Tabelle.</a:t>
            </a:r>
            <a:endParaRPr lang="en-US" sz="2500" dirty="0"/>
          </a:p>
        </p:txBody>
      </p:sp>
      <p:pic>
        <p:nvPicPr>
          <p:cNvPr id="6" name="Image 1" descr="/home/claude/unit/build/img/video/anbn_pd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72115"/>
            <a:ext cx="7863840" cy="180521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40080" y="4572000"/>
            <a:ext cx="77724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Spalten: Zustand | Belegung Kellerspeicher | oberstes Kellersymbol | verarbeitetes Eingabezeichen</a:t>
            </a:r>
            <a:endParaRPr lang="en-US" sz="2300" dirty="0"/>
          </a:p>
        </p:txBody>
      </p:sp>
      <p:sp>
        <p:nvSpPr>
          <p:cNvPr id="8" name="Shape 4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8ECDB"/>
          </a:solidFill>
          <a:ln w="12700">
            <a:solidFill>
              <a:srgbClr val="B26A0F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GEHT’S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anhalten,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 Papier lösen,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dann weiter: Die Auflösung kommt sofort.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Auflösung: aab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786384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2331720"/>
                <a:gridCol w="2011680"/>
                <a:gridCol w="2194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Zustand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Belegung Kellerspeicher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oberstes Kellersymbol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verarbeitetes Eingabezeichen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0233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akzeptiert: </a:t>
            </a:r>
            <a:r>
              <a:rPr lang="en-US" sz="20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nein</a:t>
            </a: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die Eingabe ist gelesen, aber S1 ist kein Endzustand und für (A, ε) gibt es keinen Übergang.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8ECDB"/>
          </a:solidFill>
          <a:ln w="12700">
            <a:solidFill>
              <a:srgbClr val="B26A0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ACHTUNG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Akzeptanz über </a:t>
            </a:r>
            <a:r>
              <a:rPr lang="en-US" sz="18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Endzustand</a:t>
            </a: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nach vollständiger Eingabe.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Nicht: „Keller leer“.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 nimmst du mit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77724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Übergang: 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(oberstes Kellerzeichen, Eingabe) : Ablage</a:t>
            </a: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00" dirty="0"/>
          </a:p>
          <a:p>
            <a:pPr marL="279400" indent="-2794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Ablage von rechts: das 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</a:t>
            </a: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Zeichen liegt oben.</a:t>
            </a:r>
            <a:endParaRPr lang="en-US" sz="2200" dirty="0"/>
          </a:p>
          <a:p>
            <a:pPr marL="279400" indent="-2794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Tabelle: Zustand | Belegung | oberstes Kellersymbol | Eingabezeichen.</a:t>
            </a:r>
            <a:endParaRPr lang="en-US" sz="2200" dirty="0"/>
          </a:p>
          <a:p>
            <a:pPr marL="279400" indent="-279400">
              <a:spcAft>
                <a:spcPts val="800"/>
              </a:spcAft>
              <a:buSzPct val="100000"/>
              <a:buChar char="▪"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Akzeptiert</a:t>
            </a: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Eingabe ganz gelesen 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</a:t>
            </a: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Endzustand.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4160520"/>
            <a:ext cx="3749040" cy="2194560"/>
          </a:xfrm>
          <a:prstGeom prst="roundRect">
            <a:avLst>
              <a:gd name="adj" fmla="val 5000"/>
            </a:avLst>
          </a:prstGeom>
          <a:solidFill>
            <a:srgbClr val="0A4A3F"/>
          </a:solidFill>
          <a:ln w="12700">
            <a:solidFill>
              <a:srgbClr val="3E8E7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434340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Nächstes</a:t>
            </a:r>
            <a:endParaRPr lang="en-US" sz="1500" dirty="0"/>
          </a:p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 6: Grammatiken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663440" y="4160520"/>
            <a:ext cx="3749040" cy="2194560"/>
          </a:xfrm>
          <a:prstGeom prst="roundRect">
            <a:avLst>
              <a:gd name="adj" fmla="val 5000"/>
            </a:avLst>
          </a:prstGeom>
          <a:solidFill>
            <a:srgbClr val="0A4A3F"/>
          </a:solidFill>
          <a:ln w="12700">
            <a:solidFill>
              <a:srgbClr val="3E8E7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434340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Zum Nachlesen</a:t>
            </a:r>
            <a:endParaRPr lang="en-US" sz="1500" dirty="0"/>
          </a:p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Merkblatt M07 – Kellerautomaten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778240" y="502920"/>
            <a:ext cx="3200400" cy="379476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778240" y="640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WEITER ÜBEN</a:t>
            </a:r>
            <a:endParaRPr lang="en-US" sz="14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1005840"/>
            <a:ext cx="2103120" cy="210312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8915400" y="32004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Keller-Labor</a:t>
            </a:r>
            <a:endParaRPr lang="en-US" sz="18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Tabellen-Trainer: Klammern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tomaten LK">
  <a:themeElements>
    <a:clrScheme name="Automaten LK">
      <a:dk1>
        <a:srgbClr val="1F2A2E"/>
      </a:dk1>
      <a:lt1>
        <a:srgbClr val="FFFFFF"/>
      </a:lt1>
      <a:dk2>
        <a:srgbClr val="0E6455"/>
      </a:dk2>
      <a:lt2>
        <a:srgbClr val="E4F0EE"/>
      </a:lt2>
      <a:accent1>
        <a:srgbClr val="0E6455"/>
      </a:accent1>
      <a:accent2>
        <a:srgbClr val="B26A0F"/>
      </a:accent2>
      <a:accent3>
        <a:srgbClr val="3E8E7E"/>
      </a:accent3>
      <a:accent4>
        <a:srgbClr val="D9A45B"/>
      </a:accent4>
      <a:accent5>
        <a:srgbClr val="5B6770"/>
      </a:accent5>
      <a:accent6>
        <a:srgbClr val="A83232"/>
      </a:accent6>
      <a:hlink>
        <a:srgbClr val="0E6455"/>
      </a:hlink>
      <a:folHlink>
        <a:srgbClr val="0A4A3F"/>
      </a:folHlink>
    </a:clrScheme>
    <a:fontScheme name="Automaten L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Video 5 – Kellerautomaten: Notation und Abi-Tabelle</dc:title>
  <dc:subject>PptxGenJS Presentation</dc:subject>
  <dc:creator>Frank Juchim</dc:creator>
  <cp:lastModifiedBy>Frank Juchim</cp:lastModifiedBy>
  <cp:revision>1</cp:revision>
  <dcterms:created xsi:type="dcterms:W3CDTF">2026-10-03T23:56:25Z</dcterms:created>
  <dcterms:modified xsi:type="dcterms:W3CDTF">2026-10-03T23:56:25Z</dcterms:modified>
</cp:coreProperties>
</file>