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6dc24e7-53d3-44c6-5e5d-4e3fa7c06e17}">
          <p14:sldIdLst>
            <p14:sldId id="256"/>
          </p14:sldIdLst>
        </p14:section>
        <p14:section name="Einstieg" id="{e31d31a3-91de-c550-a2d5-7f9a432aac21}">
          <p14:sldIdLst>
            <p14:sldId id="257"/>
            <p14:sldId id="258"/>
            <p14:sldId id="259"/>
            <p14:sldId id="260"/>
          </p14:sldIdLst>
        </p14:section>
        <p14:section name="Erarbeitung" id="{32862719-7034-89a8-d359-ffc27456714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763dcc6b-9cbd-0ea0-3476-26ac5427395d}">
          <p14:sldIdLst>
            <p14:sldId id="269"/>
            <p14:sldId id="270"/>
            <p14:sldId id="271"/>
          </p14:sldIdLst>
        </p14:section>
        <p14:section name="Sicherung" id="{d7da596c-f557-53f0-648b-7bc78276074d}">
          <p14:sldIdLst>
            <p14:sldId id="272"/>
            <p14:sldId id="273"/>
            <p14:sldId id="274"/>
          </p14:sldIdLst>
        </p14:section>
        <p14:section name="Abschluss" id="{11aff8c4-d738-9be8-a546-ebf23e910697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Anknüpfung: Level 7 (Grenzen endlicher Automaten), Level 9/10 (Kellerautomaten), Level 11/12 (Grammatiken).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Beispiele: Rentner, Reliefpfeiler, Lagerregal. Über {0, 1} bis Länge 4: ε, 0, 1, 00, 11, 000, 010, 101, 111, 0000, 0110, 1001, 1111.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 sammeln: von außen nach innen bauen – links und rechts dasselbe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Mitte: ε (gerade Länge) oder ein Zeichen (ungerade Länge). Ohne ε fehlen 0110 usw.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 mit Level 12: Dort durfte rechts höchstens ein Terminal und dahinter ein Nichtterminal 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Muster lassen sich kombinieren: z. B. Tanz-Roboter = Wiederholung + Verschachtelung.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 Klammergruppe (S), danach der Rest S. Öffnende und schließende Klammer entstehen immer gemeinsam – deshalb passen 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Rallye-Aufgaben 7 und 8. Die Struktur des Baumes legt die Rechenreihenfolge 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Eine Grammatik ist mehrdeutig, wenn es ein Wort mit zwei verschiedenen Ableitungsbäumen gibt. Für a = 2: Baum 1 ergibt 6, Baum 2 ergibt 8. Rallye-Aufgabe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Satz: Kontextfreie Sprachen = Sprachen, die ein NKA erkennt. (Beweis nicht im KC.) Analog: reguläre Sprachen = Sprachen, die ein DEA erkennt.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Gleiches Schema wie in Level 7 (M05). Bei verschachtelten Klammern: Präfixe „(“ⁱ, Fortsetzung „)“ⁱ.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zur Begründung in Aufgabe 2d (Schubfachprinzip).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11 ist anspruchsvoll: S → aSbS | bSaS |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Niemand zu Hause: Baum 1 – nichts passiert; Baum 2 – Heizung aus. Auflösung: Endmarke „ende“ oder Grammatik mit vollständigen/unvollständigen Verzweigungen (Lösung in der Handreichung).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13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Klammern, Spiegel, Programme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beschreibt man Sprachen mit Verschachtelung und Symmetrie?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Spiegelkabinett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Palindrom-Wettbewerb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42189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82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744468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16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47388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Stoppuhr, Tafel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in 3 Minuten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längste deutsche Palindrom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(vorwärts wie rückwärts gleich).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Palindrome über {0, 1}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 zur Länge 4.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erzeugen genau diese Wörter – und keine anderen?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Regeln erzeugen genau alle Palindrome über {0, 1}?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Erinnerung: Kein DEA erkennt die Palindrome (Level 7) – ein Kellerautomat schon (er legt die erste Hälfte in den Keller und vergleicht rückwärts).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außen nach innen: Palindrome</a:t>
            </a:r>
            <a:endParaRPr lang="en-US" sz="3200" dirty="0"/>
          </a:p>
        </p:txBody>
      </p:sp>
      <p:pic>
        <p:nvPicPr>
          <p:cNvPr id="3" name="Image 0" descr="/home/claude/unit/build/img/ds13/baum_10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699" y="1463040"/>
            <a:ext cx="4648298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0S0 | 1S1 | 0 | 1 | ε   –   Ableitung: S ⇒ 1S1 ⇒ 10S01 ⇒ 10101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Grammatiken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 – was heißt das?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Regel hat die Form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w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links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Nichtterminal, rechts eine beliebige Folge (auch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„kontextfrei“: A darf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 von seiner Umgebung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ersetzt werden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„Grammatik“ ohne Zusatz = kontextfreie Grammatik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Grammatiken sind ein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Spezialfall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möglich: Nichtterminal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Mitte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 → aSb) – erzeugt Paare von außen nach innen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Muster-Baukasten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Regel(n)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erzeugt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Paare von außen nach innen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 | 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aⁿbⁿ (n ≥ 1): ab, aabb, 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Spiegel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0S0 | 1S1 | 0 | 1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Palindrome über {0, 1}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Verschachteln und Aneinanderreihen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(S)S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korrekt geklammerte Ausdrücke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Wiederholung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xA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beliebig viele 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Hintereinander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 ein A-Teil, dann ein B-Teil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Klammerausdrücke als Baum</a:t>
            </a:r>
            <a:endParaRPr lang="en-US" sz="3200" dirty="0"/>
          </a:p>
        </p:txBody>
      </p:sp>
      <p:pic>
        <p:nvPicPr>
          <p:cNvPr id="3" name="Image 0" descr="/home/claude/unit/build/img/ds13/baum_klamm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60" y="1463040"/>
            <a:ext cx="10186175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(S)S | ε   –   S ⇒ (S)S ⇒ ((S)S)S ⇒ (()S)S ⇒ (())S ⇒ (())(S)S ⇒ (())()S ⇒ (())()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Terme mit „Punkt vor Strich“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mit Vorrang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→ E+T | 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→ T*F | F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→ (E) | 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Summe, T: Produkt, F: Faktor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Mal-Zeichen liegt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tiefer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Baum → wird zuerst berechnet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Baum zu a+a*a</a:t>
            </a:r>
            <a:endParaRPr lang="en-US" sz="2200" dirty="0"/>
          </a:p>
        </p:txBody>
      </p:sp>
      <p:pic>
        <p:nvPicPr>
          <p:cNvPr id="6" name="Image 0" descr="/home/claude/unit/build/img/ds13/baum_t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629" y="2057400"/>
            <a:ext cx="4908244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Mehrdeutig: Terme ohne Vorrang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 E → E+E | E*E | (E) | a      Wort:  a+a*a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1: a+(a*a)</a:t>
            </a:r>
            <a:endParaRPr lang="en-US" sz="1900" dirty="0"/>
          </a:p>
        </p:txBody>
      </p:sp>
      <p:pic>
        <p:nvPicPr>
          <p:cNvPr id="6" name="Image 0" descr="/home/claude/unit/build/img/ds13/term_mehrdeutig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39872"/>
            <a:ext cx="5440680" cy="360705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2: (a+a)*a</a:t>
            </a:r>
            <a:endParaRPr lang="en-US" sz="1900" dirty="0"/>
          </a:p>
        </p:txBody>
      </p:sp>
      <p:pic>
        <p:nvPicPr>
          <p:cNvPr id="8" name="Image 1" descr="/home/claude/unit/build/img/ds13/term_mehrdeuti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39872"/>
            <a:ext cx="5440680" cy="36070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 und Kellerautomat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für aⁿbⁿ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aSb | ab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aⁿbⁿ von außen nach innen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(rechts): jedes a legt A ab, jedes b nimmt ein A weg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kontextfreien Grammatik gibt es einen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(NKA) für dieselbe Sprache – und umgekehrt.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NKA aus Level 9</a:t>
            </a:r>
            <a:endParaRPr lang="en-US" sz="2200" dirty="0"/>
          </a:p>
        </p:txBody>
      </p:sp>
      <p:pic>
        <p:nvPicPr>
          <p:cNvPr id="6" name="Image 0" descr="/home/claude/unit/build/img/ds13/anbn_n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2057400"/>
            <a:ext cx="5318608" cy="15053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Begründen: Es gibt keine reguläre Grammatik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gibt eine reguläre Grammatik – also auch einen DEA mit k Zuständen.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Präfixe wählen: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aⁱ für i = 1, …, k + 1 (k + 1 Stück)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Schubfachprinzip: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Zwei Präfixe aⁱ, aʲ (i ≠ j) enden im selben Zustand.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Fortsetzung: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bⁱ: aⁱbⁱ gehört zur Sprache, aʲbⁱ nicht – der DEA behandelt beide gleich.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Widerspruch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keine reguläre Grammatik (die Sprache ist nicht regulär).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13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AB13, Merkblatt M10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Spiegel und Klammern.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Der Tanz-Roboter – verschachtelte Wiederholungen.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3 und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Hostnamen; Wenn – dann – sonst.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Kommentare im Kommentar.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Rallye-Baum-Modus (12, 13) und Grammatik-Tester (1, 2, 6, 10, 11).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Challenges: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(aⁿbⁿ),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(Palindrome),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(Klammern),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(aⁿb²ⁿ),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(gleich viele a und b). Die App zeigt dir ein Gegenbeispiel, wenn deine Grammatik zu viel oder zu wenig erzeugt.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https://automatenlab.frankjuchim.de/#/grammatik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welchem wenn gehört das sonst?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welchem wenn gehört das sonst?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h dann wenn k dann an sonst aus      (h: jemand zu Hause, k: kalt)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1: sonst zum inneren wenn</a:t>
            </a:r>
            <a:endParaRPr lang="en-US" sz="1900" dirty="0"/>
          </a:p>
        </p:txBody>
      </p:sp>
      <p:pic>
        <p:nvPicPr>
          <p:cNvPr id="6" name="Image 0" descr="/home/claude/unit/build/img/ds13/wenn_baum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0411"/>
            <a:ext cx="5440680" cy="358597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2: sonst zum äußeren wenn</a:t>
            </a:r>
            <a:endParaRPr lang="en-US" sz="1900" dirty="0"/>
          </a:p>
        </p:txBody>
      </p:sp>
      <p:pic>
        <p:nvPicPr>
          <p:cNvPr id="8" name="Image 1" descr="/home/claude/unit/build/img/ds13/wenn_baum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48209"/>
            <a:ext cx="5440680" cy="35903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Kontextfreie Grammatiken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98545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67052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w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genau einem Nichtterminal links; Muster: Paare (aSb), Spiegel, Verschachtelung ((S)S), Wiederholung, Verkettung.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mit zwei verschiedenen Ableitungsbäumen – Auflösung durch Endmarken oder geschickte Nichtterminale.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beschreiben dieselben Sprachen.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reguläre Grammatik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Schubfachprinzip wie bei DEA.</a:t>
            </a:r>
            <a:endParaRPr lang="en-US" sz="2200" dirty="0"/>
          </a:p>
        </p:txBody>
      </p:sp>
      <p:pic>
        <p:nvPicPr>
          <p:cNvPr id="6" name="Image 1" descr="/home/claude/unit/build/img/ds13/baum_01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536719"/>
            <a:ext cx="2743200" cy="24703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 entwerfen (Muster-Baukasten)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Ableitungsbäume und Mehrdeutigkeit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 ↔ Kellerautomat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„Keine reguläre Grammatik“ begründen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AB13 Aufgabe 4 bzw. 5 fertigstellen, Rallye 12 und 13. Sortiere aⁿbⁿ, „endet auf ab“, Palindrome, aⁿbⁿcⁿ nach der Maschine, die man mindestens braucht.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Klammern, Spiegel, Programme</dc:title>
  <dc:subject>PptxGenJS Presentation</dc:subject>
  <dc:creator>Frank Juchim</dc:creator>
  <cp:lastModifiedBy>Frank Juchim</cp:lastModifiedBy>
  <cp:revision>1</cp:revision>
  <dcterms:created xsi:type="dcterms:W3CDTF">2026-10-03T21:40:48Z</dcterms:created>
  <dcterms:modified xsi:type="dcterms:W3CDTF">2026-10-03T21:40:48Z</dcterms:modified>
</cp:coreProperties>
</file>