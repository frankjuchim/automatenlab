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f165814f-4b6d-45a6-76f8-602a3ba1d8ab}">
          <p14:sldIdLst>
            <p14:sldId id="256"/>
          </p14:sldIdLst>
        </p14:section>
        <p14:section name="Einstieg" id="{b3a70837-7180-faf0-dcb3-7a21e6f17394}">
          <p14:sldIdLst>
            <p14:sldId id="257"/>
            <p14:sldId id="258"/>
            <p14:sldId id="259"/>
            <p14:sldId id="260"/>
            <p14:sldId id="261"/>
          </p14:sldIdLst>
        </p14:section>
        <p14:section name="Erarbeitung" id="{765cc8e3-c28a-e61c-f94d-a1c42d83fdf7}">
          <p14:sldIdLst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Übung" id="{c9c1edb4-d4ff-4c9b-da3b-652633ff6b57}">
          <p14:sldIdLst>
            <p14:sldId id="269"/>
            <p14:sldId id="270"/>
            <p14:sldId id="271"/>
            <p14:sldId id="272"/>
          </p14:sldIdLst>
        </p14:section>
        <p14:section name="Sicherung" id="{1ae439a8-eba9-2ac6-4272-4b7dbcff2a3b}">
          <p14:sldIdLst>
            <p14:sldId id="273"/>
            <p14:sldId id="274"/>
          </p14:sldIdLst>
        </p14:section>
        <p14:section name="Abschluss" id="{6a75b827-79c6-6e94-47d8-f3bfe256b0be}">
          <p14:sldIdLst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 2. Heute drehen wir die Perspektive um: Nicht wir bauen den Automaten, sondern wir bekommen einen und müssen herausfinden, was er tut – genau so beginnen die meisten Abi-Aufgaben.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Kurze Ideensammlung: Wörter ausprobieren, Wege zu den Endzuständen verfolgen, überlegen, was die Zustände „wissen“. Dann Wettbewerb starten.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Punkte: 2 Sprache in Worten, 1 Mengenschreibweise, 1 Bedeutung aller Zustände, +1 Bonus für die erste vollständig richtige Gruppe pro Fall. Punktestand an der Tafel.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Zum Mitprojizieren während der Ermittlung. Fall 4: Hinweis zum Fehlerzustand betonen.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Häufige Fehlvermutungen: Fall 3 „Palindrome“ – Gegenbeispiel abaa (kein Palindrom, wird aber akzeptiert). Fall 4 „höchstens ein a“ – Gegenbeispiel aba (wird akzeptiert). Bei Fall 1 und 4 ist ε in L, bei Fall 2 und 3 nicht.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 Fall 1 „Der Pendler“. Betonen: δ ist eine Funktion – für jedes Paar (Zustand, Zeichen) genau ein Ergebnis. Das ist „deterministisch“.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Lesen: Zeile = aktueller Zustand, Spalte = gelesenes Zeichen, Zelle = Folgezustand. → Startzustand, * Endzustand. Gemeinsam die Tabelle für Fall 2 an der Tafel aufstellen lassen.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Mengenschreibweise üben: L(A) = {w ∈ {a, b}* | w endet auf b}. Frage: Ist ε ∈ L für Fall 2? (Nein, S0 ist kein Endzustand.)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Antwort: Das Wort begann mit a, das zuletzt gelesene Zeichen war b. Herausarbeiten: Ein Zustand fasst ALLE Wörter zusammen, die dorthin führen – die Bedeutung muss für alle diese Wörter stimmen.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Gemeinsam: Bedeutung von S1 formulieren. Schlechte Antwort: „In S1 wurde eine 1 gelesen.“ Gute Antwort: „Das erste Bit des Startzeichens (1) wurde korrekt gelesen, es fehlen noch 1 und 0.“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Diese Satzbausteine stehen auch auf M01 (Abschnitt 5). Abi 2025 eA B b und Abi 2021 Nach D a verlangen genau 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Zwischensicherung nach ca. 20 Minuten: Aufgabe 2b mit Satzbausteinen. Profis vergleichen Aufgabe 4d untereinander.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Fälle 1, 3, 6, 8 entsprechen den Fallkarten aus dem Einstieg.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Für SuS, die mit dem AB fertig sind; Bestwerte notieren.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">
    <p:bg>
      <p:bgPr>
        <a:solidFill>
          <a:srgbClr val="0E64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877824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SCHNITT">
    <p:bg>
      <p:bgPr>
        <a:solidFill>
          <a:srgbClr val="0A4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 · Welt A · Endliche Automaten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UFTRAG">
    <p:bg>
      <p:bgPr>
        <a:solidFill>
          <a:srgbClr val="F1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 · Welt A · Endliche Automaten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34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Informatik LK  ·  Level 2  ·  Welt A: Endliche Automaten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2011680"/>
            <a:ext cx="8778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macht dieser Automat?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79476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D7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Automaten analysieren – formale Definition, Sprache, Bedeutung von Zuständen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4709160"/>
            <a:ext cx="8961120" cy="1143000"/>
          </a:xfrm>
          <a:prstGeom prst="roundRect">
            <a:avLst>
              <a:gd name="adj" fmla="val 9600"/>
            </a:avLst>
          </a:prstGeom>
          <a:solidFill>
            <a:srgbClr val="0A4A3F"/>
          </a:solidFill>
          <a:ln w="12700">
            <a:solidFill>
              <a:srgbClr val="0A4A3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4828032"/>
            <a:ext cx="8595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Kernfrage</a:t>
            </a:r>
            <a:endParaRPr lang="en-US" sz="1400" dirty="0"/>
          </a:p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Wie finde ich heraus, welche Sprache ein Automat erkennt – und was seine Zustände „bedeuten“?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58400" y="1280160"/>
            <a:ext cx="1005840" cy="100584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D7EA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0" y="12801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0881360" y="2743200"/>
            <a:ext cx="1005840" cy="100584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D7EA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881360" y="2743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058400" y="4206240"/>
            <a:ext cx="1005840" cy="100584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F3D9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149840" y="4297680"/>
            <a:ext cx="822960" cy="822960"/>
          </a:xfrm>
          <a:prstGeom prst="ellipse">
            <a:avLst/>
          </a:prstGeom>
          <a:solidFill>
            <a:srgbClr val="0E6455"/>
          </a:solidFill>
          <a:ln w="19050">
            <a:solidFill>
              <a:srgbClr val="F3D9B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0" y="42062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0835640" y="2194560"/>
            <a:ext cx="411480" cy="566928"/>
          </a:xfrm>
          <a:prstGeom prst="line">
            <a:avLst/>
          </a:prstGeom>
          <a:noFill/>
          <a:ln w="25400">
            <a:solidFill>
              <a:srgbClr val="D7EAE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 flipH="1">
            <a:off x="10835640" y="3657600"/>
            <a:ext cx="411480" cy="566928"/>
          </a:xfrm>
          <a:prstGeom prst="line">
            <a:avLst/>
          </a:prstGeom>
          <a:noFill/>
          <a:ln w="25400">
            <a:solidFill>
              <a:srgbClr val="D7EAE6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Einstieg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Sprach-Detektiv</a:t>
            </a:r>
            <a:endParaRPr lang="en-US" sz="4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822960" cy="822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600200"/>
            <a:ext cx="1109441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 Automat ohne Beschreibung: Wie findet ihr heraus, welche Wörter er akzeptiert?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41148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Ihr seid Detektive – die Wörter sind eure Zeugen.</a:t>
            </a:r>
            <a:endParaRPr lang="en-US" sz="22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Wettbewerb: Vier ungelöste Fälle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316736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43560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51560" y="1325880"/>
            <a:ext cx="722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093976" y="1325880"/>
            <a:ext cx="2052828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424" y="1435608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596896" y="1325880"/>
            <a:ext cx="14584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Gruppen (3–4)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4375404" y="1325880"/>
            <a:ext cx="173736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2" y="1435608"/>
            <a:ext cx="274320" cy="2743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878324" y="132588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Fallkarten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2148840"/>
            <a:ext cx="1109441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 Gruppe erhält einen Umschlag mit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Fallkarten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Testet verdächtige Wörter: ε, a, b, aa, ab, ba, aba, abba …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Notiert die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Sprache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Worten und als L = {w ∈ {a, b}* | …}.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Notiert für jeden Zustand, was der Automat dort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weiß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gelöst? Zettel abgeben – die schnellste korrekte Gruppe erhält einen Bonuspunkt.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vier Fälle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325880"/>
            <a:ext cx="5440680" cy="2468880"/>
          </a:xfrm>
          <a:prstGeom prst="roundRect">
            <a:avLst>
              <a:gd name="adj" fmla="val 2963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46304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Fall 1: Der Pendler</a:t>
            </a:r>
            <a:endParaRPr lang="en-US" sz="1900" dirty="0"/>
          </a:p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= {a, b}</a:t>
            </a:r>
            <a:endParaRPr lang="en-US" sz="1900" dirty="0"/>
          </a:p>
        </p:txBody>
      </p:sp>
      <p:pic>
        <p:nvPicPr>
          <p:cNvPr id="6" name="Image 0" descr="/home/claude/unit/build/img/ds02/m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97480" y="1884544"/>
            <a:ext cx="3154680" cy="1351551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172200" y="1325880"/>
            <a:ext cx="5440680" cy="2468880"/>
          </a:xfrm>
          <a:prstGeom prst="roundRect">
            <a:avLst>
              <a:gd name="adj" fmla="val 2963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355080" y="146304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Fall 2: Der Schlusspunkt</a:t>
            </a:r>
            <a:endParaRPr lang="en-US" sz="1900" dirty="0"/>
          </a:p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= {a, b}</a:t>
            </a:r>
            <a:endParaRPr lang="en-US" sz="1900" dirty="0"/>
          </a:p>
        </p:txBody>
      </p:sp>
      <p:pic>
        <p:nvPicPr>
          <p:cNvPr id="9" name="Image 1" descr="/home/claude/unit/build/img/ds02/m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884544"/>
            <a:ext cx="3154680" cy="1351551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548640" y="3931920"/>
            <a:ext cx="5440680" cy="2468880"/>
          </a:xfrm>
          <a:prstGeom prst="roundRect">
            <a:avLst>
              <a:gd name="adj" fmla="val 2963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731520" y="406908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Fall 3: Spiegelbild?</a:t>
            </a:r>
            <a:endParaRPr lang="en-US" sz="1900" dirty="0"/>
          </a:p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= {a, b}</a:t>
            </a:r>
            <a:endParaRPr lang="en-US" sz="1900" dirty="0"/>
          </a:p>
        </p:txBody>
      </p:sp>
      <p:pic>
        <p:nvPicPr>
          <p:cNvPr id="12" name="Image 2" descr="/home/claude/unit/build/img/ds02/m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480" y="4135891"/>
            <a:ext cx="3154680" cy="2060937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6172200" y="3931920"/>
            <a:ext cx="5440680" cy="2468880"/>
          </a:xfrm>
          <a:prstGeom prst="roundRect">
            <a:avLst>
              <a:gd name="adj" fmla="val 2963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14" name="Text 8"/>
          <p:cNvSpPr txBox="1"/>
          <p:nvPr/>
        </p:nvSpPr>
        <p:spPr>
          <a:xfrm>
            <a:off x="6355080" y="406908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Fall 4: Abstand halten</a:t>
            </a:r>
            <a:endParaRPr lang="en-US" sz="1900" dirty="0"/>
          </a:p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Fehlende Übergänge → Fehlerzustand</a:t>
            </a:r>
            <a:endParaRPr lang="en-US" sz="1900" dirty="0"/>
          </a:p>
        </p:txBody>
      </p:sp>
      <p:pic>
        <p:nvPicPr>
          <p:cNvPr id="15" name="Image 3" descr="/home/claude/unit/build/img/ds02/m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512341"/>
            <a:ext cx="3154680" cy="130803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Auflösung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57200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Sprache 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Bedeutung der Zustände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Der Pendler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alle Wörter mit einer geraden Anzahl a (auch 0 a)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S0: bisher gerade Anzahl a gelesen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S1: bisher ungerade Anzahl a gelesen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Der Schlusspunkt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alle Wörter, die auf b enden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S0: zuletzt kein b gelesen (oder noch nichts)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S1: zuletzt b gelesen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Spiegelbild?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alle nichtleeren Wörter, die mit demselben Zeichen beginnen und enden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S0: noch nichts gelesen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S1: begann mit a, zuletzt 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S2: begann mit a, zuletzt b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S3: begann mit b, zuletzt b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S4: begann mit b, zuletzt 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Abstand halten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alle Wörter, in denen nie zwei a direkt hintereinander stehen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S0: zuletzt kein a gelesen (oder noch nichts)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S1: zuletzt ein a gelesen – ein weiteres a führt in den Fehlerzustand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Erarbeitung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Sprache der Analyse</a:t>
            </a:r>
            <a:endParaRPr lang="en-US" sz="4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Formale Definition eines DEA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633953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(Q, Σ, δ, S0, F)</a:t>
            </a:r>
            <a:endParaRPr lang="en-US" sz="24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{S0, S1}: endliche Menge der Zustände</a:t>
            </a:r>
            <a:endParaRPr lang="en-US" sz="24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{a, b}: Eingabealphabet</a:t>
            </a:r>
            <a:endParaRPr lang="en-US" sz="24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Q × Σ → Q, z. B. δ(S0, a) = S1</a:t>
            </a:r>
            <a:endParaRPr lang="en-US" sz="24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Startzustand</a:t>
            </a:r>
            <a:endParaRPr lang="en-US" sz="24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{S0}: Menge der Endzustände</a:t>
            </a:r>
            <a:endParaRPr lang="en-US" sz="2400" dirty="0"/>
          </a:p>
        </p:txBody>
      </p:sp>
      <p:pic>
        <p:nvPicPr>
          <p:cNvPr id="4" name="Image 0" descr="/home/claude/unit/build/img/ds02/m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3935" y="2854550"/>
            <a:ext cx="4389120" cy="1880419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 ↔ Übergangstabelle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  <a:gridCol w="2011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* S0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</a:tbl>
          </a:graphicData>
        </a:graphic>
      </p:graphicFrame>
      <p:pic>
        <p:nvPicPr>
          <p:cNvPr id="5" name="Image 0" descr="/home/claude/unit/build/img/ds02/m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5295" y="1645920"/>
            <a:ext cx="4937760" cy="2115472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548640" y="329184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Zeile = aktueller Zustand · Spalte = gelesenes Zeichen · Zelle = Folgezustand</a:t>
            </a:r>
            <a:endParaRPr lang="en-US" sz="1800" dirty="0"/>
          </a:p>
        </p:txBody>
      </p:sp>
      <p:sp>
        <p:nvSpPr>
          <p:cNvPr id="7" name="Text 2"/>
          <p:cNvSpPr txBox="1"/>
          <p:nvPr/>
        </p:nvSpPr>
        <p:spPr>
          <a:xfrm>
            <a:off x="548640" y="420624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Startzustand    * Endzustand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Wörter und Sprachen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567864" cy="3913632"/>
          </a:xfrm>
          <a:prstGeom prst="roundRect">
            <a:avLst>
              <a:gd name="adj" fmla="val 356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737360"/>
            <a:ext cx="731520" cy="731520"/>
          </a:xfrm>
          <a:prstGeom prst="ellipse">
            <a:avLst/>
          </a:prstGeom>
          <a:solidFill>
            <a:srgbClr val="0E6455"/>
          </a:solidFill>
          <a:ln w="12700">
            <a:solidFill>
              <a:srgbClr val="0E645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745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65176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Wort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383280"/>
            <a:ext cx="201922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endliche Folge von Zeichen aus Σ, z. B. abba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3390824" y="1463040"/>
            <a:ext cx="2567864" cy="3913632"/>
          </a:xfrm>
          <a:prstGeom prst="roundRect">
            <a:avLst>
              <a:gd name="adj" fmla="val 356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65144" y="1737360"/>
            <a:ext cx="731520" cy="73152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2304" y="187452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65144" y="265176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ε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3665144" y="3383280"/>
            <a:ext cx="201922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leere Wort – akzeptiert genau dann, wenn S0 Endzustand ist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6233008" y="1463040"/>
            <a:ext cx="2567864" cy="3913632"/>
          </a:xfrm>
          <a:prstGeom prst="roundRect">
            <a:avLst>
              <a:gd name="adj" fmla="val 356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507328" y="1737360"/>
            <a:ext cx="731520" cy="731520"/>
          </a:xfrm>
          <a:prstGeom prst="ellipse">
            <a:avLst/>
          </a:prstGeom>
          <a:solidFill>
            <a:srgbClr val="0E6455"/>
          </a:solidFill>
          <a:ln w="12700">
            <a:solidFill>
              <a:srgbClr val="0E6455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488" y="187452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507328" y="265176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Σ*</a:t>
            </a:r>
            <a:endParaRPr lang="en-US" sz="2100" dirty="0"/>
          </a:p>
        </p:txBody>
      </p:sp>
      <p:sp>
        <p:nvSpPr>
          <p:cNvPr id="17" name="Text 12"/>
          <p:cNvSpPr txBox="1"/>
          <p:nvPr/>
        </p:nvSpPr>
        <p:spPr>
          <a:xfrm>
            <a:off x="6507328" y="3383280"/>
            <a:ext cx="201922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 aller Wörter über Σ, einschließlich ε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9075191" y="1463040"/>
            <a:ext cx="2567864" cy="3913632"/>
          </a:xfrm>
          <a:prstGeom prst="roundRect">
            <a:avLst>
              <a:gd name="adj" fmla="val 356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9349511" y="1737360"/>
            <a:ext cx="731520" cy="73152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6671" y="187452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349511" y="265176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L(A)</a:t>
            </a:r>
            <a:endParaRPr lang="en-US" sz="2100" dirty="0"/>
          </a:p>
        </p:txBody>
      </p:sp>
      <p:sp>
        <p:nvSpPr>
          <p:cNvPr id="22" name="Text 16"/>
          <p:cNvSpPr txBox="1"/>
          <p:nvPr/>
        </p:nvSpPr>
        <p:spPr>
          <a:xfrm>
            <a:off x="9349511" y="3383280"/>
            <a:ext cx="201922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Sprache von A: alle Wörter, die A akzeptiert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822960" cy="822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600200"/>
            <a:ext cx="110944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„weiß“ der Automat, wenn er sich in S2 befindet?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30632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3 „Spiegelbild?“ – Zustand = Gedächtnis über das </a:t>
            </a:r>
            <a:r>
              <a:rPr lang="en-US" sz="22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gesamte</a:t>
            </a:r>
            <a:r>
              <a:rPr lang="en-US" sz="2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bisher gelesene Wort</a:t>
            </a:r>
            <a:endParaRPr lang="en-US" sz="2200" dirty="0"/>
          </a:p>
        </p:txBody>
      </p:sp>
      <p:pic>
        <p:nvPicPr>
          <p:cNvPr id="5" name="Image 1" descr="/home/claude/unit/build/img/ds02/m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6370" y="3337560"/>
            <a:ext cx="4478956" cy="2926080"/>
          </a:xfrm>
          <a:prstGeom prst="rect">
            <a:avLst/>
          </a:prstGeom>
        </p:spPr>
      </p:pic>
      <p:sp>
        <p:nvSpPr>
          <p:cNvPr id="7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Barcode-Startzeichen 110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= {0, 1}</a:t>
            </a:r>
            <a:endParaRPr lang="en-US" sz="1800" dirty="0"/>
          </a:p>
        </p:txBody>
      </p:sp>
      <p:pic>
        <p:nvPicPr>
          <p:cNvPr id="4" name="Image 0" descr="/home/claude/unit/build/img/ds02/bar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324983"/>
            <a:ext cx="11094415" cy="261951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nicht eingezeichneten Übergänge führen in einen Fehlerzustand.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Abi-Check: Bedeutung von Zuständen erläutern</a:t>
            </a:r>
            <a:endParaRPr lang="en-US" sz="3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7223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Baustein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Beispiel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 Automat befindet sich genau dann in Si, wenn …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 die bisherige Quersumme ungerade ist.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Si wurde bisher … gelesen / ist bekannt, dass …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 das Startzeichen 110 vollständig gelesen wurde.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ist (k)ein Endzustand, weil …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 eine Bestellnummer mit ungerader Quersumme ungültig ist.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Aus Si führt x nach Sj, weil …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 eine gerade Ziffer die Parität nicht ändert.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Übung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Arbeitsblatt Level 2</a:t>
            </a:r>
            <a:endParaRPr lang="en-US" sz="4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Auftrag: AB02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316736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43560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51560" y="1325880"/>
            <a:ext cx="722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min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093976" y="1325880"/>
            <a:ext cx="2368296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424" y="1435608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596896" y="132588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Einzel → Partner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4690872" y="1325880"/>
            <a:ext cx="2683764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435608"/>
            <a:ext cx="274320" cy="2743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193792" y="1325880"/>
            <a:ext cx="20894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AB02, Merkblatt M01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2148840"/>
            <a:ext cx="79854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Basis: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Aufgaben 1 und 2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Standard: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Aufgabe 3 (Quersumme gerade?)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Profi: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Aufgabe 4 (Prüfnummer mit Trennzeichen)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Fertig?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Sprach-Detektiv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Fälle 2, 4, 7, 9, 12</a:t>
            </a:r>
            <a:endParaRPr lang="en-US" sz="2200" dirty="0"/>
          </a:p>
        </p:txBody>
      </p:sp>
      <p:sp>
        <p:nvSpPr>
          <p:cNvPr id="13" name="Shape 8"/>
          <p:cNvSpPr/>
          <p:nvPr/>
        </p:nvSpPr>
        <p:spPr>
          <a:xfrm>
            <a:off x="8808415" y="2148840"/>
            <a:ext cx="2834640" cy="356616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9050">
            <a:solidFill>
              <a:srgbClr val="0E6455"/>
            </a:solidFill>
            <a:prstDash val="dash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1335" y="2377440"/>
            <a:ext cx="1828800" cy="18288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945575" y="438912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AutomatenLab</a:t>
            </a:r>
            <a:endParaRPr lang="en-US" sz="15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A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Sprach-Detektiv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Sprach-Detektiv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840480" cy="42062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0E6455"/>
            </a:solidFill>
            <a:prstDash val="dash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828800"/>
            <a:ext cx="2743200" cy="2743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800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846320" y="1737360"/>
            <a:ext cx="6796735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AutomatenLab</a:t>
            </a:r>
            <a:endParaRPr lang="en-US" sz="1800" dirty="0"/>
          </a:p>
          <a:p>
            <a:pPr indent="0" marL="0">
              <a:buNone/>
            </a:pPr>
            <a:r>
              <a:rPr lang="en-US" sz="34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Sprach-Detektiv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Welche Sprache erkennt der Automat? Teste Wörter, wähle eine von vier Beschreibungen. Falsch geraten? Die App zeigt dir ein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Gegenbeispiel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4846320" y="5303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https://automatenlab.frankjuchim.de/#/detektiv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Akzeptor-Arena · Stufe 2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840480" cy="42062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0E6455"/>
            </a:solidFill>
            <a:prstDash val="dash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828800"/>
            <a:ext cx="2743200" cy="2743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800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846320" y="1737360"/>
            <a:ext cx="6796735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AutomatenLab</a:t>
            </a:r>
            <a:endParaRPr lang="en-US" sz="1800" dirty="0"/>
          </a:p>
          <a:p>
            <a:pPr indent="0" marL="0">
              <a:buNone/>
            </a:pPr>
            <a:r>
              <a:rPr lang="en-US" sz="34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Akzeptor-Arena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Längere Wörter, Graphen mit Rückkanten. Mit </a:t>
            </a:r>
            <a:r>
              <a:rPr lang="en-US" sz="2200" dirty="0">
                <a:solidFill>
                  <a:srgbClr val="0A4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#/arena?automat=quersumme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trainierst du gezielt den Quersummen-Prüfer aus Aufgabe 3.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4846320" y="5303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https://automatenlab.frankjuchim.de/#/arena?stufe=2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Sicherung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wir heute gelernt haben</a:t>
            </a:r>
            <a:endParaRPr lang="en-US" sz="4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Merke: Automaten analysieren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6705295" cy="4709160"/>
          </a:xfrm>
          <a:prstGeom prst="roundRect">
            <a:avLst>
              <a:gd name="adj" fmla="val 1942"/>
            </a:avLst>
          </a:prstGeom>
          <a:solidFill>
            <a:srgbClr val="F8ECDB"/>
          </a:solidFill>
          <a:ln w="19050">
            <a:solidFill>
              <a:srgbClr val="B26A0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459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1645920"/>
            <a:ext cx="5425135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DEA ist ein 5-Tupel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(Q, Σ, δ, S0, F)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mit δ: Q × Σ → Q.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L(A)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ist die Menge aller Wörter aus Σ*, die A akzeptiert. ε ∈ L(A) ⇔ S0 ∈ F.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Sprache finden: kurze Wörter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systematisch testen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Wege zu Endzuständen verfolgen, mit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Gegenbeispielen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absichern.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Bedeutung eines Zustands: Was gilt für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jedes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Wort, das in diesen Zustand führt? – im Sachzusammenhang formulieren.</a:t>
            </a:r>
            <a:endParaRPr lang="en-US" sz="2200" dirty="0"/>
          </a:p>
        </p:txBody>
      </p:sp>
      <p:pic>
        <p:nvPicPr>
          <p:cNvPr id="6" name="Image 1" descr="/home/claude/unit/build/img/ds02/quersum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695" y="2954535"/>
            <a:ext cx="4023360" cy="163473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315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Zum Mitnehmen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10515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Formale Definition A = (Q, Σ, δ, S0, F) und Übergangstabelle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Wort, ε, Σ*, Sprache L(A)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Sprache eines Automaten untersuchen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Bedeutung von Zuständen im Sachzusammenhang erläutern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4846320"/>
            <a:ext cx="10911535" cy="1280160"/>
          </a:xfrm>
          <a:prstGeom prst="roundRect">
            <a:avLst>
              <a:gd name="adj" fmla="val 8571"/>
            </a:avLst>
          </a:prstGeom>
          <a:solidFill>
            <a:srgbClr val="0A4A3F"/>
          </a:solidFill>
          <a:ln w="12700">
            <a:solidFill>
              <a:srgbClr val="0A4A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4956048"/>
            <a:ext cx="10362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Hausaufgabe</a:t>
            </a:r>
            <a:endParaRPr lang="en-US" sz="1500" dirty="0"/>
          </a:p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Boss-Training „Was macht er?“ (AB02, letzte Seite): zwei Automaten im Abi-Format analysieren.</a:t>
            </a:r>
            <a:endParaRPr lang="en-US" sz="15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640080" y="2011680"/>
            <a:ext cx="8778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tomaten LK">
  <a:themeElements>
    <a:clrScheme name="Automaten LK">
      <a:dk1>
        <a:srgbClr val="1F2A2E"/>
      </a:dk1>
      <a:lt1>
        <a:srgbClr val="FFFFFF"/>
      </a:lt1>
      <a:dk2>
        <a:srgbClr val="0E6455"/>
      </a:dk2>
      <a:lt2>
        <a:srgbClr val="E4F0EE"/>
      </a:lt2>
      <a:accent1>
        <a:srgbClr val="0E6455"/>
      </a:accent1>
      <a:accent2>
        <a:srgbClr val="B26A0F"/>
      </a:accent2>
      <a:accent3>
        <a:srgbClr val="3E8E7E"/>
      </a:accent3>
      <a:accent4>
        <a:srgbClr val="D9A45B"/>
      </a:accent4>
      <a:accent5>
        <a:srgbClr val="5B6770"/>
      </a:accent5>
      <a:accent6>
        <a:srgbClr val="A83232"/>
      </a:accent6>
      <a:hlink>
        <a:srgbClr val="0E6455"/>
      </a:hlink>
      <a:folHlink>
        <a:srgbClr val="0A4A3F"/>
      </a:folHlink>
    </a:clrScheme>
    <a:fontScheme name="Automaten L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Max-Planck-Gymnasium Delmenhorst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Was macht dieser Automat?</dc:title>
  <dc:subject>PptxGenJS Presentation</dc:subject>
  <dc:creator>Frank Juchim</dc:creator>
  <cp:lastModifiedBy>Frank Juchim</cp:lastModifiedBy>
  <cp:revision>1</cp:revision>
  <dcterms:created xsi:type="dcterms:W3CDTF">2026-10-03T21:39:36Z</dcterms:created>
  <dcterms:modified xsi:type="dcterms:W3CDTF">2026-10-03T21:39:36Z</dcterms:modified>
</cp:coreProperties>
</file>