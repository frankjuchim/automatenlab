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a21ca17-b453-afe3-0113-d267ef939bd6}">
          <p14:sldIdLst>
            <p14:sldId id="256"/>
          </p14:sldIdLst>
        </p14:section>
        <p14:section name="Einstieg" id="{182c7844-e8bb-43fe-d38f-e90d44fce159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2d94a5de-4288-f56b-43e3-9e588e0a7460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b8ad5ba5-9ff5-d723-79a3-4a81da1bfc9f}">
          <p14:sldIdLst>
            <p14:sldId id="269"/>
            <p14:sldId id="270"/>
            <p14:sldId id="271"/>
          </p14:sldIdLst>
        </p14:section>
        <p14:section name="Sicherung" id="{f7fc0f54-5f85-2690-f5e3-cfb8f8fe6091}">
          <p14:sldIdLst>
            <p14:sldId id="272"/>
            <p14:sldId id="273"/>
          </p14:sldIdLst>
        </p14:section>
        <p14:section name="Abschluss" id="{f0c384ff-4c33-c42f-3e8e-33e000609d47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in Welt C. Bisher: Automaten prüfen Wörter. Jetzt: Grammatiken erzeugen Wörter.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Überblick. Level 14 ist Vertiefung (4-Wochen-Variante); Boss-Level C ist ein freiwilliges Abi-Training.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Strichliste an der Tafel: 2×2-Feld Syntax ja/nein × Semantik ja/nein. Erwartbar: viele Genus-Fehler, einige Unsinnssätze.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Zwei Bedeutungen von „richtig“ trennen. Der erste Satz ist grammatisch korrekt, aber unsinnig; der zweite ist verständlich, aber grammatisch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AB-Aufgabe 1a jetzt gemeinsam bearbeiten. Grammatiken beschreiben die Syntax – nicht die Bedeutung.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den Umschlägen wird die Grammatik: Jeder Umschlag ist ein Nichtterminal, jede Karte ein Terminalsymbol. Notation wie im Abitur (Ergänzende Hinweise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jedem Schritt wird genau EIN Nichtterminal ersetzt – wir ersetzen immer das linkeste (Linksableitung, wie in der App). Fertig, wenn nur noch Terminale dastehen.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Baum zeigt die Struktur, unabhängig von der Reihenfolge der Ersetzungen. In Level 13 brauchen wir Bäume, um Mehrdeutigkeit zu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Jedes Wort hat drei Silben und endet auf lu. Frage: Wie viele Wörter gibt es? (9) Gehört lalule dazu? (Nein – die dritte Silbe ist immer lu.)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im Merkblatt M08 markieren. Abi-Notation: Startsymbol muss angegeben werden, ε ist als rechte Seite zulässig.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der Übungsphase aufdecken (AB 1c). Im Abitur: „Vergleichen Sie anhand zweier Aspekte …“ (Abi 2023 Nachschreibtermin D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15 Minuten: Reparaturvorschläge für G1 vergleichen (mit/ohne Artikel-Regeln).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App erzwingt Linksableitungen und zeigt den Ableitungsbaum mit. Aufgabe 3 (Glal II) enthält eine Sackgasse.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Welt C · Formale Sprachen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11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Sprache – natürlich oder formal?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Grammatiken, Ableitungen und Ableitungsbäume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kann man mit endlich vielen Regeln unendlich viele Wörter oder Sätze beschreiben?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C: Formale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– natürlich oder formal? Grammatiken und Ableitungen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trifft Automat: reguläre Grammatiken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13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Klammern, Spiegel, Programme: kontextfreie Grammatiken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14 (Vertiefung)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 der Sprachen; Boss-Level C als Extra-Training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Satz-Generator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Spiel: Der Satz-Generator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à 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65092" y="1325880"/>
            <a:ext cx="320954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8012" y="13258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Umschläge mit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Gruppe hat vier Umschläge: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Zieht blind je eine Karte und legt sie in dieser Reihenfolge. Der Punkt kommt ans Ende.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euren Satz laut vor.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 stimmt ab: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grammatisch korrekt?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sinnvoll?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führen eine Strichliste – 3 bis 4 Runden.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Ziege liest Zeitung.“ – Ist dieser Satz richtig?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was ist mit „Der Katze trinkt.“?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oder Semantik?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= 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Wörter/Zeichen dürfen in welcher Reihenfolge stehen?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Katze trinkt.“ – Syntaxfehler (Genus)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Programmiersprachen: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Syntaxfehler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 = Bedeutung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ein (korrekt gebildeter) Satz?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„Die Ziege liest Zeitung.“ – syntaktisch korrekt, semantisch unsinnig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Programmiersprachen: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 / 0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korrekt geschrieben, aber sinnlos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Grammatiken – Bauanleitungen für Sprachen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Satzbauplan als Grammatik G1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949440" cy="3145536"/>
          </a:xfrm>
          <a:prstGeom prst="roundRect">
            <a:avLst>
              <a:gd name="adj" fmla="val 2326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5836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Subjekt Prädikat Objekt Punkt | Subjekt Prädikat Punkt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 → Artikel Nomen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→ Der | Die | Das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 → Hund | Igel | Katze | Ziege | Pferd | Schaf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Prädikat → frisst | knabbert | trinkt | liest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 → Wasser | Möhren | Äpfel | Zeitung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→ 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463040"/>
            <a:ext cx="37792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Nichtterminale N: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Start, Subjekt, Prädikat, Objekt, Punkt, Artikel, Nomen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 T: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Der, Die, Das, Hund, …, Zeitung, .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links ein Nichtterminal, rechts der Ersatz; Alternativen mit |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Ableitung: „Das Schaf frisst Möhren.“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Satzform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angewandte Regel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→ Subjekt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Subjekt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Subjekt → Artikel Nomen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Artikel Nomen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Artikel → Das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Nomen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Nomen → Schaf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Prädikat → frisst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Objekt → Möhren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Möhren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 → 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Möhren 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Ableitungsbaum</a:t>
            </a:r>
            <a:endParaRPr lang="en-US" sz="3200" dirty="0"/>
          </a:p>
        </p:txBody>
      </p:sp>
      <p:pic>
        <p:nvPicPr>
          <p:cNvPr id="3" name="Image 0" descr="/home/claude/unit/build/img/ds11/baum_sch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056" y="1463040"/>
            <a:ext cx="7977582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Wurzel = Startsymbol, innere Knoten = Nichtterminale, Blätter (von links nach rechts) = der Satz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formales Beispiel: die Glal-Sprache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400800" cy="3913632"/>
          </a:xfrm>
          <a:prstGeom prst="roundRect">
            <a:avLst>
              <a:gd name="adj" fmla="val 1869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0350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{la, le, lu}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| luA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| leB | luB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⇒ leA ⇒ lelaB ⇒ lelalu</a:t>
            </a:r>
            <a:endParaRPr lang="en-US" sz="2000" dirty="0"/>
          </a:p>
        </p:txBody>
      </p:sp>
      <p:pic>
        <p:nvPicPr>
          <p:cNvPr id="6" name="Image 0" descr="/home/claude/unit/build/img/ds11/baum_gl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208" y="1595495"/>
            <a:ext cx="3291840" cy="439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endliche Menge von Zeichen – bei Grammatiken die Terminalsymbole 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endliche Folge von Zeichen des Alphabets (auch das leere Wort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Menge von Wörtern;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L(G)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alle Wörter, die G erzeugt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(N, T, S, P): Nichtterminale, Terminale, Startsymbol, Produktionsregeln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⇒ … ⇒ w: schrittweises Ersetzen von Nichtterminalen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Ableitungsbaum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grafische Darstellung einer Ableitung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Formale und natürliche Sprachen im Vergleich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formale Sprache (z. B. Python)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natürliche Sprache (z. B. Deutsch)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 festgelegt, keine Ausnahmen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gewachsen, viele Ausnahmen, Sprachwandel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Eindeutigkeit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eindeutig interpretierbar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 mehrdeutig: „Ich sah den Mann mit dem Fernglas.“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exakt definiert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abhängig von Kontext, Betonung, Ironie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Wortschatz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festes, endliches Alphabet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 – neue Wörter entstehen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11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AB11, Merkblatt M08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Mini-Deutsch ableiten und Baum zeichnen.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Repariere G1 – nur noch korrekte Sätze!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Die Glal-Sprache.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Grammatik-Detektiv.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Ableitungs-Rallye: Aufgaben 1, 3 und 4.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für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linkeste Nichtterminal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 Regel – Schritt für Schritt bis zum Zielwort. Sackgassen erkennen, Punkte sammeln! Heute: Aufgaben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https://automatenlab.frankjuchim.de/#/rallye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Grammatiken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3512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70710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(N, T, S, P) erzeugt eine Sprache: Nichtterminale, Terminale, Startsymbol, Produktionsregeln.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gehört zu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L(G)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sich vom Startsymbol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lässt und nur aus Terminalen besteht.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rekursiven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Regeln (S → aSa) erzeugen endlich viele Regeln unendlich viele Wörter.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Grammatiken legen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fest, nicht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claude/unit/build/img/ds11/baum_gl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615" y="2183542"/>
            <a:ext cx="2377440" cy="31767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und Semantik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N, T, Startsymbol, Produktionsregeln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mit ⇒ und Ableitungsbaum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und natürliche Sprachen vergleichen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AB11 Aufgabe 5, Ableitungs-Rallye Aufgaben 1–4. Finde einen mehrdeutigen deutschen Satz und erläutere seine zwei Bedeutungen.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Sprache – natürlich oder formal?</dc:title>
  <dc:subject>PptxGenJS Presentation</dc:subject>
  <dc:creator>Frank Juchim</dc:creator>
  <cp:lastModifiedBy>Frank Juchim</cp:lastModifiedBy>
  <cp:revision>1</cp:revision>
  <dcterms:created xsi:type="dcterms:W3CDTF">2026-10-03T21:40:32Z</dcterms:created>
  <dcterms:modified xsi:type="dcterms:W3CDTF">2026-10-03T21:40:32Z</dcterms:modified>
</cp:coreProperties>
</file>