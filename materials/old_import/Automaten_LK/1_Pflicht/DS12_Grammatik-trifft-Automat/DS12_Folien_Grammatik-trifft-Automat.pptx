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6ab170a3-edb3-b899-a08f-535a64a61083}">
          <p14:sldIdLst>
            <p14:sldId id="256"/>
          </p14:sldIdLst>
        </p14:section>
        <p14:section name="Einstieg" id="{83e58ed4-bb09-1c77-e0dc-c3b077f8dead}">
          <p14:sldIdLst>
            <p14:sldId id="257"/>
            <p14:sldId id="258"/>
            <p14:sldId id="259"/>
            <p14:sldId id="260"/>
          </p14:sldIdLst>
        </p14:section>
        <p14:section name="Erarbeitung" id="{6d744256-49d0-2ee3-1aa7-0e605713510a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Übung" id="{78495dc9-3fb6-3b52-8426-3a74af8a0e91}">
          <p14:sldIdLst>
            <p14:sldId id="270"/>
            <p14:sldId id="271"/>
            <p14:sldId id="272"/>
          </p14:sldIdLst>
        </p14:section>
        <p14:section name="Sicherung" id="{056f7272-9d7c-02e7-c05d-37603bfeae49}">
          <p14:sldIdLst>
            <p14:sldId id="273"/>
            <p14:sldId id="274"/>
          </p14:sldIdLst>
        </p14:section>
        <p14:section name="Abschluss" id="{3b4592a8-ac90-3c4e-c9c1-7a821a6676ef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Anknüpfung an Level 11 (Grammatiken) und Welt A (DEA).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Wörter in dieser Reihenfolge: ab, aab, abab, ba, aba, abb, b, aabbab.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nach dem Duell zeigen. Frage: Warum waren sich beide Teams immer einig?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Nichtterminal am Ende der Satzform ist immer der aktuelle Zustand. Das ist der Kern des Übersetzungsrezepts.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Ergänzende Hinweise 2025: Reguläre Grammatiken werden rechtsregulär angegeben. Kurzer Check per Handzeichen zu den Beispielen.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Rezept in beide Richtungen lesen. Die letzte Zeile braucht man nur für den Rückweg Grammatik → Automat.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AB-Aufgabe 1a gemeinsam starten: S0 → vS1 | dS1 | mS3, S1 → zS2 … Lösung: S0 → vS1 | dS1 | mS3; S1 → zS2; S2 → zS2 | #S4; S3 → #S4; S4 → vS1 | dS1 | mS3 | 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Bedeutung der Nichtterminale: noch freie Schläge im Takt (S: 4, C: 3, B: 2, A: 1, T: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Kurzinput (ca. 10 Minuten), weil Level 8 im Pflichtweg übersprungen wird. Für die Übersetzung Grammatik → Automat reicht dieses Wissen.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 akzeptiert, wenn es mindestens einen Weg in einen Endzustand gibt (ausführlich: Bonus-Level 8, M06).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Teilmengen: S0 = {S}, S1 = {C}, S2 = {B}, S3 = {A}, S4 = {T}, S5 = {S, Z}. Warum darf man S0 nicht einfach zum Endzustand machen? (Dann würde das leere Wort akzeptiert.)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Merksatz: Eine Sprache ist regulär, wenn es IRGENDEINE reguläre Grammatik (bzw. einen DEA) für sie gibt. Vgl. Abi 2025 Nachschreibtermin B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freie Modus zeigt „rechtsregulär ja/nein“ und baut aus der Grammatik einen NEA/DEA.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5 entspricht der Abi-Aufgabe 2024 B d (System-Codes).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12 · Welt C · Formale Sprachen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12 · Welt C · Formale Sprachen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12  ·  Welt C: Formale Sprachen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 trifft Automat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 Grammatiken und endliche Automaten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hängen reguläre Grammatiken und endliche Automaten zusammen?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Übersetzer-Duell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Übersetzer-Duell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2631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gegen Team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85716" y="1325880"/>
            <a:ext cx="27889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64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88636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Duell-Karten A und B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bekommt einen Automaten,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eine Grammatik.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nenne ein Wort. Team A lässt den Automaten laufen, Team B leitet ab.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notieren verdeckt: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gehört dazu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gehört nicht dazu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Aufdecken: Punkt für jedes richtige Urteil, Bonus für das schnellere Team.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Karten – eine Sprache?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Automat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2000" dirty="0"/>
          </a:p>
        </p:txBody>
      </p:sp>
      <p:pic>
        <p:nvPicPr>
          <p:cNvPr id="5" name="Image 0" descr="/home/claude/unit/build/img/ds12/du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5318608" cy="16192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Grammatik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324448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 → aS1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→ aS1 | bS2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→ aS1 | bS2 | ε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 S0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 = Lauf durch den Automaten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Ableitung (Grammatik)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Zustandsfolge (Automat)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abS2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–b→ 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abaS1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–a→ 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ababS2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–b→ 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abab  (Regel S2 → ε)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ist Endzustand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Zustand = Nichtterminal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Rechtsreguläre Grammatiken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Regeln haben die Form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ε</a:t>
            </a:r>
            <a:endParaRPr lang="en-US" sz="24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ein Terminalsymbol, B: ein Nichtterminal – rechts genau ein Terminal, ggf. gefolgt von genau einem Nichtterminal (oder ε)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Rechtsregulär: S → aS | bA,  A → b | ε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rechtsregulär: S → aSb (Nichtterminal in der Mitte), S → Sa (links), A → +xA (zwei Terminale)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Abitur gilt: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reguläre Grammatik = rechtsreguläre Grammatik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Übersetzungsrezept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Endlicher Automat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Rechtsreguläre Grammatik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Si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Nichtterminal Si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Startsymbol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Übergang Si –a→ Sj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 Si → aSj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ist Endzustand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 Si → 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entfällt (keine Regel)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neuer Endzustand Z mit A –a→ 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 A → 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der MähBot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{v, d, m, z, #}   –   v, d mit Zahl (z …), m ohne Zahl, jeder Befehl endet mit #</a:t>
            </a:r>
            <a:endParaRPr lang="en-US" sz="1800" dirty="0"/>
          </a:p>
        </p:txBody>
      </p:sp>
      <p:pic>
        <p:nvPicPr>
          <p:cNvPr id="4" name="Image 0" descr="/home/claude/unit/build/img/ds12/maeh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917" y="1783080"/>
            <a:ext cx="7099862" cy="3886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Rückweg: von der Grammatik zum Automaten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120640" cy="3913632"/>
          </a:xfrm>
          <a:prstGeom prst="roundRect">
            <a:avLst>
              <a:gd name="adj" fmla="val 1869"/>
            </a:avLst>
          </a:prstGeom>
          <a:solidFill>
            <a:srgbClr val="F1F7F6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47548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{S, C, B, A, T}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{v, h, g, t}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Startsymbol: 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Produktionsregeln: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vC | hB | gT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vB | hA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vA | hT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vT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t | tS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463040"/>
            <a:ext cx="56080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1 Schlag, h = 2, g = 4, t = Taktstrich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Nichtterminal =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S, C, B, A, T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Übergang A –a→ B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Übergang in einen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neuen Endzustand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tS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zweiter t-Übergang aus T → nichtdeterministisch!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Kurz erklärt: der nichtdeterministische Automat (NEA)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darf aus einem Zustand mit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demselben Zeichen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Folgezuständen gehen (oder zu keinem).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Wort wird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einen Weg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gibt, der nach dem letzten Zeichen in einem Endzustand endet.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Simulieren: Man merkt sich die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 aller aktiven Zustände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Teilmengenkonstruktion: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Jede erreichbare Zustandsmenge wird ein Zustand eines DEA – NEA und DEA erkennen dieselben Sprachen.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Ausführlich: Bonus-Level 8 und Merkblatt M06.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NEA zur Takt-Grammatik</a:t>
            </a:r>
            <a:endParaRPr lang="en-US" sz="3200" dirty="0"/>
          </a:p>
        </p:txBody>
      </p:sp>
      <p:pic>
        <p:nvPicPr>
          <p:cNvPr id="3" name="Image 0" descr="/home/claude/unit/build/img/ds12/takt_n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72267"/>
            <a:ext cx="11094415" cy="24621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T führen zwei Übergänge mit t – nach S und nach 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Teilmengenkonstruktion: der DEA</a:t>
            </a:r>
            <a:endParaRPr lang="en-US" sz="3200" dirty="0"/>
          </a:p>
        </p:txBody>
      </p:sp>
      <p:pic>
        <p:nvPicPr>
          <p:cNvPr id="3" name="Image 0" descr="/home/claude/unit/build/img/ds12/takt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22930"/>
            <a:ext cx="11094415" cy="29607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= {S, Z}: Endzustand, verhält sich wie S0.  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 nicht regulär – Sprache trotzdem?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Term-Grammatik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xA | yA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+xA | +yA | -xA | -yA | ε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rechtsregulär: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Terminale in A → +xA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Gleiche Sprache, regulär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xA | yA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+B | -B | ε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→ xA | yA</a:t>
            </a:r>
            <a:endParaRPr lang="en-US" sz="2000" dirty="0"/>
          </a:p>
        </p:txBody>
      </p:sp>
      <p:pic>
        <p:nvPicPr>
          <p:cNvPr id="7" name="Image 0" descr="/home/claude/unit/build/img/ds12/terme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4160520"/>
            <a:ext cx="5318608" cy="8283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12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AB12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AB12, Merkblatt M09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MähBot – DEA → Grammatik.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Takt für Takt – Grammatik → NEA → DEA.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Gäste-WLAN-Codes entwickeln.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Grammatik nicht regulär, Sprache aber schon?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Kontrolliere deine Grammatiken im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(freier Modus).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Entwirf Grammatiken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Sofort-Feedback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Die App vergleicht deine Sprache mit der Zielsprache und zeigt ein Gegenbeispiel. Rechtsreguläre Challenges: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3, 4, 8, 9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dazu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(System-Codes, Abi 2024).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https://automatenlab.frankjuchim.de/#/grammatik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Reguläre Grammatik und 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0529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42513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nur Regeln A → aB, A → a, A → ε.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→ Grammatik: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Zustand = Nichtterminal, Si –a→ Sj wird Si → aSj, Endzustand Si wird Si → ε.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→ Automat: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→ a führt in einen neuen Endzustand; ggf. NEA → DEA per Teilmengenkonstruktion.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Sprache ist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regulär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irgendeine reguläre Grammatik bzw. einen DEA für sie gibt.</a:t>
            </a:r>
            <a:endParaRPr lang="en-US" sz="2200" dirty="0"/>
          </a:p>
        </p:txBody>
      </p:sp>
      <p:pic>
        <p:nvPicPr>
          <p:cNvPr id="6" name="Image 1" descr="/home/claude/unit/build/img/ds12/du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3159462"/>
            <a:ext cx="4023360" cy="1224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Rechtsreguläre Form erkennen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Übersetzungsrezept in beide Richtungen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→ DEA bei Grammatik-Übersetzungen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„Grammatik nicht regulär“ ≠ „Sprache nicht regulär“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AB12 Aufgabe 4, Grammatik-Challenges 5 und 8. Überlege: Warum hilft das Rezept bei {aⁿbⁿ | n ≥ 1} nicht?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Grammatik trifft Automat</dc:title>
  <dc:subject>PptxGenJS Presentation</dc:subject>
  <dc:creator>Frank Juchim</dc:creator>
  <cp:lastModifiedBy>Frank Juchim</cp:lastModifiedBy>
  <cp:revision>1</cp:revision>
  <dcterms:created xsi:type="dcterms:W3CDTF">2026-10-03T21:40:40Z</dcterms:created>
  <dcterms:modified xsi:type="dcterms:W3CDTF">2026-10-03T21:40:40Z</dcterms:modified>
</cp:coreProperties>
</file>