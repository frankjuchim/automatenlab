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f253b313-0391-286e-b872-245916d994ac}">
          <p14:sldIdLst>
            <p14:sldId id="256"/>
          </p14:sldIdLst>
        </p14:section>
        <p14:section name="Einstieg" id="{33df637c-1161-86cc-13f3-320816020ddb}">
          <p14:sldIdLst>
            <p14:sldId id="257"/>
            <p14:sldId id="258"/>
            <p14:sldId id="259"/>
            <p14:sldId id="260"/>
            <p14:sldId id="261"/>
          </p14:sldIdLst>
        </p14:section>
        <p14:section name="Erarbeitung" id="{352616fa-a0f8-848f-70fd-78ed776266e5}">
          <p14:sldIdLst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Übung" id="{a46fd949-ee4e-e55b-ce84-b4707500c627}">
          <p14:sldIdLst>
            <p14:sldId id="268"/>
            <p14:sldId id="269"/>
            <p14:sldId id="270"/>
          </p14:sldIdLst>
        </p14:section>
        <p14:section name="Sicherung" id="{21427107-e0c9-fa42-5487-bd99acb5d730}">
          <p14:sldIdLst>
            <p14:sldId id="271"/>
            <p14:sldId id="272"/>
          </p14:sldIdLst>
        </p14:section>
        <p14:section name="Abschluss" id="{d95d8165-b56b-b9f8-e1cb-fad7fc0fbddf}">
          <p14:sldIdLst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in Welt B „Grenzen &amp; Keller“. Bisher: Für jedes Problem haben wir einen DEA gebaut. Heute: Gibt es Probleme, an denen jeder DEA scheitert?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Rollenspiel „Finger-Türsteher“: Fingerzahl = Personen im Club. Bei unmöglicher Bewegung ruft die Türsteherin „Alarm!“. Klasse liest Wortkarten Zeichen für Zeichen.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Bedeutung der Zustände formulieren lassen. Frage: Wie viele Zustände bei 50 Plätzen? (52 inkl. Fehlerzustand)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EEEEAAAA: Der vierte Gast ist einer zu viel – Fehlerzustand, obwohl der Club am Ende wieder leer wäre.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Vermutungen sammeln und an der Tafel festhalten („unendlich viele“). Noch nicht auflösen – erst nach dem App-Spiel.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Partnerarbeit, ca. 15 Minuten. Leitfrage auf die Tafel: Welche Wörter funktionieren IMMER, egal wie viele Zustände der Automat hat?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aabb: S0 –a→ S1 –a→ S2 –b→ S3 –b→ S4. aaabb: S0 –a→ S1 –a→ S2 –a→ S2 –b→ S3 –b→ S4 – akzeptiert, obwohl nicht in 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aaa und aaaaa landen im selben Zustand. Ab jetzt kann der Automat die beiden Präfixe nie mehr unterscheiden – egal was folgt.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Gemeinsam an der Tafel formulieren; Musterformulierung steht im Merkblatt M05. Betonen: Das Argument funktioniert für JEDES k – deshalb hilft auch ein Zustand mehr nicht (Bonusfrage in der App).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Merksatz: Ein DEA kann nur endlich viele verschiedene „Erinnerungen“ haben. Sobald eine Größe beliebig groß werden kann UND für die Entscheidung exakt gebraucht wird, scheitert 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Zwischensicherung nach ca. 15 Minuten: Fallen L1 (endlich), L4 (modulo), L6 (Tiefe ≤ 3), L8 (ab = ba ist regulär!).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Auflösung der Fallen nach der Zwischensicherung zeigen. L8 ist die Profi-Falle: Ausprobieren mit abab (ab 2×, ba 1×) und aba (je 1×).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">
    <p:bg>
      <p:bgPr>
        <a:solidFill>
          <a:srgbClr val="0E64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877824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SCHNITT">
    <p:bg>
      <p:bgPr>
        <a:solidFill>
          <a:srgbClr val="0A4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7 · Welt B · Grenzen &amp; Keller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UFTRAG">
    <p:bg>
      <p:bgPr>
        <a:solidFill>
          <a:srgbClr val="F1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7 · Welt B · Grenzen &amp; Keller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34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Informatik LK  ·  Level 7  ·  Welt B: Grenzen &amp; Keller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2011680"/>
            <a:ext cx="8778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Automat stößt an Grenzen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79476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D7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Grenzen endlicher Automaten und das Schubfachprinzip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4709160"/>
            <a:ext cx="8961120" cy="1143000"/>
          </a:xfrm>
          <a:prstGeom prst="roundRect">
            <a:avLst>
              <a:gd name="adj" fmla="val 9600"/>
            </a:avLst>
          </a:prstGeom>
          <a:solidFill>
            <a:srgbClr val="0A4A3F"/>
          </a:solidFill>
          <a:ln w="12700">
            <a:solidFill>
              <a:srgbClr val="0A4A3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4828032"/>
            <a:ext cx="8595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Kernfrage</a:t>
            </a:r>
            <a:endParaRPr lang="en-US" sz="1400" dirty="0"/>
          </a:p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Gibt es Probleme, die kein endlicher Automat lösen kann – und wie kann man das begründen?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58400" y="1280160"/>
            <a:ext cx="1005840" cy="100584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D7EA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0" y="12801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0881360" y="2743200"/>
            <a:ext cx="1005840" cy="100584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D7EA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881360" y="2743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058400" y="4206240"/>
            <a:ext cx="1005840" cy="100584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F3D9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149840" y="4297680"/>
            <a:ext cx="822960" cy="822960"/>
          </a:xfrm>
          <a:prstGeom prst="ellipse">
            <a:avLst/>
          </a:prstGeom>
          <a:solidFill>
            <a:srgbClr val="0E6455"/>
          </a:solidFill>
          <a:ln w="19050">
            <a:solidFill>
              <a:srgbClr val="F3D9B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0" y="42062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0835640" y="2194560"/>
            <a:ext cx="411480" cy="566928"/>
          </a:xfrm>
          <a:prstGeom prst="line">
            <a:avLst/>
          </a:prstGeom>
          <a:noFill/>
          <a:ln w="25400">
            <a:solidFill>
              <a:srgbClr val="D7EAE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 flipH="1">
            <a:off x="10835640" y="3657600"/>
            <a:ext cx="411480" cy="566928"/>
          </a:xfrm>
          <a:prstGeom prst="line">
            <a:avLst/>
          </a:prstGeom>
          <a:noFill/>
          <a:ln w="25400">
            <a:solidFill>
              <a:srgbClr val="D7EAE6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Einstieg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Türsteher</a:t>
            </a:r>
            <a:endParaRPr lang="en-US" sz="4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822960" cy="822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600200"/>
            <a:ext cx="1109441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 Club fasst 3 Personen. Der Türsteher darf sich die Personenzahl nur mit den Fingern einer Hand merken. Ist der Club am Ende leer?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41148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= jemand kommt herein, A = jemand geht hinaus. Karten: </a:t>
            </a:r>
            <a:r>
              <a:rPr lang="en-US" sz="22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EEAA</a:t>
            </a:r>
            <a:r>
              <a:rPr lang="en-US" sz="2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2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EEEAAA</a:t>
            </a:r>
            <a:r>
              <a:rPr lang="en-US" sz="2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2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EEEEAAAA</a:t>
            </a:r>
            <a:r>
              <a:rPr lang="en-US" sz="2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2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AEEA</a:t>
            </a:r>
            <a:r>
              <a:rPr lang="en-US" sz="2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2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EEA</a:t>
            </a:r>
            <a:endParaRPr lang="en-US" sz="22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Türsteher als DEA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= {E, A}   ·   Si: „Es sind gerade i Personen im Club.“</a:t>
            </a:r>
            <a:endParaRPr lang="en-US" sz="1800" dirty="0"/>
          </a:p>
        </p:txBody>
      </p:sp>
      <p:pic>
        <p:nvPicPr>
          <p:cNvPr id="4" name="Image 0" descr="/home/claude/unit/build/img/ds07/tuer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150040"/>
            <a:ext cx="11094415" cy="1426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nicht eingezeichneten Übergänge führen in einen Fehlerzustand (Alarm).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Verarbeitungen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7315200"/>
                <a:gridCol w="1920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Eingabe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Zustandsfolge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Ergebnis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EEAA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 –E→ S1 –E→ S2 –A→ S1 –A→ S0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akzeptiert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EEEAAA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 –E→ S1 –E→ S2 –E→ S3 –A→ S2 –A→ S1 –A→ S0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akzeptiert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EEEEAAAA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 –E→ S1 –E→ S2 –E→ S3 –E→ Fehlerzustand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abgelehnt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AEEA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 –A→ Fehlerzustand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abgelehnt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822960" cy="822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600200"/>
            <a:ext cx="1109441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 wenn der Club keine Kapazitätsgrenze mehr hat?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41148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viele Finger – also Zustände – bräuchte der Türsteher dann?</a:t>
            </a:r>
            <a:endParaRPr lang="en-US" sz="22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Erarbeitung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Überliste den Automaten</a:t>
            </a:r>
            <a:endParaRPr lang="en-US" sz="4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Überliste den Automaten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840480" cy="42062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0E6455"/>
            </a:solidFill>
            <a:prstDash val="dash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828800"/>
            <a:ext cx="2743200" cy="2743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800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846320" y="1737360"/>
            <a:ext cx="6796735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AutomatenLab</a:t>
            </a:r>
            <a:endParaRPr lang="en-US" sz="1800" dirty="0"/>
          </a:p>
          <a:p>
            <a:pPr indent="0" marL="0">
              <a:buNone/>
            </a:pPr>
            <a:r>
              <a:rPr lang="en-US" sz="34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Überliste den Automaten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Automat mit k Zuständen behauptet,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= {aⁿbⁿ | n ≥ 1}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zu erkennen. Finde ein Wort, bei dem er sich irrt! Stufen 1–3, Ergebnisse in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AB07, Aufgabe 2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eintragen.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4846320" y="5303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https://automatenlab.frankjuchim.de/#/ueberliste?stufe=1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Wie hast du gewonnen?</a:t>
            </a:r>
            <a:endParaRPr lang="en-US" sz="3200" dirty="0"/>
          </a:p>
        </p:txBody>
      </p:sp>
      <p:pic>
        <p:nvPicPr>
          <p:cNvPr id="3" name="Image 0" descr="/home/claude/unit/build/img/ds07/zaehler_h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444879"/>
            <a:ext cx="11094415" cy="251688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Stufe 1: Nach aa und nach aaa ist der Automat im selben Zustand S2 – mit bb dahinter akzeptiert er beide.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 Schubfachprinzip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531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64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Idee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5318608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+ 1 Gegenstände in k Schubfächer ⇒ mindestens ein Fach enthält </a:t>
            </a:r>
            <a:r>
              <a:rPr lang="en-US" sz="20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zwei</a:t>
            </a: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Gegenstände</a:t>
            </a:r>
            <a:endParaRPr lang="en-US" sz="20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Gegenstände = Präfixe a, aa, aaa, …</a:t>
            </a:r>
            <a:endParaRPr lang="en-US" sz="20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Schubfächer = Zustände des DEA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324448" y="1463040"/>
            <a:ext cx="531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B26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Beispiel: k = 4</a:t>
            </a:r>
            <a:endParaRPr lang="en-US" sz="2200" dirty="0"/>
          </a:p>
        </p:txBody>
      </p:sp>
      <p:pic>
        <p:nvPicPr>
          <p:cNvPr id="6" name="Image 0" descr="/home/claude/unit/build/img/ds07/schubfa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6346" y="2057400"/>
            <a:ext cx="4974811" cy="41605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Kein DEA für aⁿbⁿ – in 5 Schritten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6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Annahme:</a:t>
            </a:r>
            <a:r>
              <a:rPr lang="en-US" sz="2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Ein DEA mit k Zuständen erkennt L.</a:t>
            </a:r>
            <a:endParaRPr lang="en-US" sz="26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6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Präfixe:</a:t>
            </a:r>
            <a:r>
              <a:rPr lang="en-US" sz="2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a, a², …, aᵏ⁺¹ (k + 1 Wörter)</a:t>
            </a:r>
            <a:endParaRPr lang="en-US" sz="26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6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Schubfach:</a:t>
            </a:r>
            <a:r>
              <a:rPr lang="en-US" sz="2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Zwei davon, aⁱ und aʲ (i &lt; j), enden im selben Zustand.</a:t>
            </a:r>
            <a:endParaRPr lang="en-US" sz="26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6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Fortsetzung:</a:t>
            </a:r>
            <a:r>
              <a:rPr lang="en-US" sz="2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 beide bⁱ anhängen ⇒ wieder derselbe Zustand.</a:t>
            </a:r>
            <a:endParaRPr lang="en-US" sz="26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6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Widerspruch:</a:t>
            </a:r>
            <a:r>
              <a:rPr lang="en-US" sz="2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aⁱbⁱ ∈ L, aʲbⁱ ∉ L – der Zustand müsste End- und Nicht-Endzustand sein. Also gibt es </a:t>
            </a:r>
            <a:r>
              <a:rPr lang="en-US" sz="26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keinen</a:t>
            </a:r>
            <a:r>
              <a:rPr lang="en-US" sz="2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DEA für L.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Beschränkt vs. unbeschränkt zählen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531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64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 möglich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5318608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mit höchstens 3 Personen</a:t>
            </a:r>
            <a:endParaRPr lang="en-US" sz="20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Klammertiefe höchstens 3</a:t>
            </a:r>
            <a:endParaRPr lang="en-US" sz="20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Anzahl a modulo 3</a:t>
            </a:r>
            <a:endParaRPr lang="en-US" sz="20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endliche Sprachen, z. B. aⁿbⁿ mit n ≤ 3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324448" y="1463040"/>
            <a:ext cx="531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B26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Kein DEA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324448" y="2057400"/>
            <a:ext cx="5318608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ohne Kapazitätsgrenze</a:t>
            </a:r>
            <a:endParaRPr lang="en-US" sz="20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Klammern beliebiger Tiefe</a:t>
            </a:r>
            <a:endParaRPr lang="en-US" sz="20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gleich viele a wie b</a:t>
            </a:r>
            <a:endParaRPr lang="en-US" sz="20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aⁿbⁿ für alle n ≥ 1, Palindrome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Übung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Arbeitsblatt Level 7</a:t>
            </a:r>
            <a:endParaRPr lang="en-US" sz="4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Auftrag: AB07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316736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43560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51560" y="1325880"/>
            <a:ext cx="722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093976" y="1325880"/>
            <a:ext cx="2368296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424" y="1435608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596896" y="132588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Einzel → Partner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4690872" y="1325880"/>
            <a:ext cx="2683764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435608"/>
            <a:ext cx="274320" cy="2743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193792" y="1325880"/>
            <a:ext cx="20894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AB07, Merkblatt M05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2148840"/>
            <a:ext cx="79854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 3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Entscheidungstabelle – Vorsicht, Fallen!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 4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Begründen wie im Abitur (Klammern, Prüfnummern, Codes).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Profis: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 4d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und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 5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(Mealy-Grenze).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Fertig? App-Stufen 4–5 und Bonus „Warum hilft k + 1 nicht?“</a:t>
            </a:r>
            <a:endParaRPr lang="en-US" sz="2200" dirty="0"/>
          </a:p>
        </p:txBody>
      </p:sp>
      <p:sp>
        <p:nvSpPr>
          <p:cNvPr id="13" name="Shape 8"/>
          <p:cNvSpPr/>
          <p:nvPr/>
        </p:nvSpPr>
        <p:spPr>
          <a:xfrm>
            <a:off x="8808415" y="2148840"/>
            <a:ext cx="2834640" cy="356616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9050">
            <a:solidFill>
              <a:srgbClr val="0E6455"/>
            </a:solidFill>
            <a:prstDash val="dash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1335" y="2377440"/>
            <a:ext cx="1828800" cy="18288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945575" y="438912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AutomatenLab</a:t>
            </a:r>
            <a:endParaRPr lang="en-US" sz="15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A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Überliste den Automaten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Vier Fallen in der Entscheidungstabelle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567864" cy="4297680"/>
          </a:xfrm>
          <a:prstGeom prst="roundRect">
            <a:avLst>
              <a:gd name="adj" fmla="val 356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737360"/>
            <a:ext cx="731520" cy="731520"/>
          </a:xfrm>
          <a:prstGeom prst="ellipse">
            <a:avLst/>
          </a:prstGeom>
          <a:solidFill>
            <a:srgbClr val="0E6455"/>
          </a:solidFill>
          <a:ln w="12700">
            <a:solidFill>
              <a:srgbClr val="0E645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745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65176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Endlich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383280"/>
            <a:ext cx="201922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aⁿbⁿ mit n ≤ 3: nur drei Wörter – jede endliche Sprache hat einen DEA.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3390824" y="1463040"/>
            <a:ext cx="2567864" cy="4297680"/>
          </a:xfrm>
          <a:prstGeom prst="roundRect">
            <a:avLst>
              <a:gd name="adj" fmla="val 356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65144" y="1737360"/>
            <a:ext cx="731520" cy="73152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2304" y="187452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65144" y="265176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Modulo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3665144" y="3383280"/>
            <a:ext cx="201922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(Anzahl a − Anzahl b) durch 3 teilbar: nur den Rest 0, 1, 2 merken.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6233008" y="1463040"/>
            <a:ext cx="2567864" cy="4297680"/>
          </a:xfrm>
          <a:prstGeom prst="roundRect">
            <a:avLst>
              <a:gd name="adj" fmla="val 356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507328" y="1737360"/>
            <a:ext cx="731520" cy="731520"/>
          </a:xfrm>
          <a:prstGeom prst="ellipse">
            <a:avLst/>
          </a:prstGeom>
          <a:solidFill>
            <a:srgbClr val="0E6455"/>
          </a:solidFill>
          <a:ln w="12700">
            <a:solidFill>
              <a:srgbClr val="0E6455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488" y="187452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507328" y="265176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Obergrenze</a:t>
            </a:r>
            <a:endParaRPr lang="en-US" sz="2100" dirty="0"/>
          </a:p>
        </p:txBody>
      </p:sp>
      <p:sp>
        <p:nvSpPr>
          <p:cNvPr id="17" name="Text 12"/>
          <p:cNvSpPr txBox="1"/>
          <p:nvPr/>
        </p:nvSpPr>
        <p:spPr>
          <a:xfrm>
            <a:off x="6507328" y="3383280"/>
            <a:ext cx="201922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Klammertiefe ≤ 3: wie der Türsteher mit 3 Plätzen.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9075191" y="1463040"/>
            <a:ext cx="2567864" cy="4297680"/>
          </a:xfrm>
          <a:prstGeom prst="roundRect">
            <a:avLst>
              <a:gd name="adj" fmla="val 356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9349511" y="1737360"/>
            <a:ext cx="731520" cy="73152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6671" y="187452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349511" y="265176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Täuschung</a:t>
            </a:r>
            <a:endParaRPr lang="en-US" sz="2100" dirty="0"/>
          </a:p>
        </p:txBody>
      </p:sp>
      <p:sp>
        <p:nvSpPr>
          <p:cNvPr id="22" name="Text 16"/>
          <p:cNvSpPr txBox="1"/>
          <p:nvPr/>
        </p:nvSpPr>
        <p:spPr>
          <a:xfrm>
            <a:off x="9349511" y="3383280"/>
            <a:ext cx="201922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„ab“ so oft wie „ba“: gleich genau dann, wenn erstes = letztes Zeichen.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Sicherung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wir heute gelernt haben</a:t>
            </a:r>
            <a:endParaRPr lang="en-US" sz="4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Merke: Grenzen endlicher Automaten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7436815" cy="4709160"/>
          </a:xfrm>
          <a:prstGeom prst="roundRect">
            <a:avLst>
              <a:gd name="adj" fmla="val 1942"/>
            </a:avLst>
          </a:prstGeom>
          <a:solidFill>
            <a:srgbClr val="F8ECDB"/>
          </a:solidFill>
          <a:ln w="19050">
            <a:solidFill>
              <a:srgbClr val="B26A0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459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1645920"/>
            <a:ext cx="6156655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DEA hat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endlich viele Zustände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er kann nur endlich viele verschiedene Situationen unterscheiden.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Beschränktes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Zählen (bis zu einer festen Grenze, modulo k) geht –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unbeschränktes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Zählen und Vergleichen nicht.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Begründung mit dem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Schubfach-Argument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k + 1 Präfixe → zwei im selben Zustand → gleiche Fortsetzung → Widerspruch.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Auch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Mealy-Automaten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haben diese Grenze: Die Zustandszahl wächst mit dem Preis.</a:t>
            </a:r>
            <a:endParaRPr lang="en-US" sz="2200" dirty="0"/>
          </a:p>
        </p:txBody>
      </p:sp>
      <p:pic>
        <p:nvPicPr>
          <p:cNvPr id="6" name="Image 1" descr="/home/claude/unit/build/img/ds07/schubfa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1215" y="2395389"/>
            <a:ext cx="3291840" cy="275302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315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Zum Mitnehmen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10515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Türsteher: beschränkt vs. unbeschränkt zählen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Schubfach-Argument in 5 Schritten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Fallen erkennen: endlich, modulo, Obergrenze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Ausblick Level 9: Ein Notizblock ohne Grenze – der Kellerautomat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4846320"/>
            <a:ext cx="10911535" cy="1280160"/>
          </a:xfrm>
          <a:prstGeom prst="roundRect">
            <a:avLst>
              <a:gd name="adj" fmla="val 8571"/>
            </a:avLst>
          </a:prstGeom>
          <a:solidFill>
            <a:srgbClr val="0A4A3F"/>
          </a:solidFill>
          <a:ln w="12700">
            <a:solidFill>
              <a:srgbClr val="0A4A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4956048"/>
            <a:ext cx="10362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Hausaufgabe</a:t>
            </a:r>
            <a:endParaRPr lang="en-US" sz="1500" dirty="0"/>
          </a:p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AB07, Aufgabe 3 vervollständigen; für eine nicht reguläre Sprache das Schubfach-Argument in 5 Schritten ausformulieren (M05 als Vorlage).</a:t>
            </a:r>
            <a:endParaRPr lang="en-US" sz="15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640080" y="2011680"/>
            <a:ext cx="8778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tomaten LK">
  <a:themeElements>
    <a:clrScheme name="Automaten LK">
      <a:dk1>
        <a:srgbClr val="1F2A2E"/>
      </a:dk1>
      <a:lt1>
        <a:srgbClr val="FFFFFF"/>
      </a:lt1>
      <a:dk2>
        <a:srgbClr val="0E6455"/>
      </a:dk2>
      <a:lt2>
        <a:srgbClr val="E4F0EE"/>
      </a:lt2>
      <a:accent1>
        <a:srgbClr val="0E6455"/>
      </a:accent1>
      <a:accent2>
        <a:srgbClr val="B26A0F"/>
      </a:accent2>
      <a:accent3>
        <a:srgbClr val="3E8E7E"/>
      </a:accent3>
      <a:accent4>
        <a:srgbClr val="D9A45B"/>
      </a:accent4>
      <a:accent5>
        <a:srgbClr val="5B6770"/>
      </a:accent5>
      <a:accent6>
        <a:srgbClr val="A83232"/>
      </a:accent6>
      <a:hlink>
        <a:srgbClr val="0E6455"/>
      </a:hlink>
      <a:folHlink>
        <a:srgbClr val="0A4A3F"/>
      </a:folHlink>
    </a:clrScheme>
    <a:fontScheme name="Automaten L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Max-Planck-Gymnasium Delmenhorst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Der Automat stößt an Grenzen</dc:title>
  <dc:subject>PptxGenJS Presentation</dc:subject>
  <dc:creator>Frank Juchim</dc:creator>
  <cp:lastModifiedBy>Frank Juchim</cp:lastModifiedBy>
  <cp:revision>1</cp:revision>
  <dcterms:created xsi:type="dcterms:W3CDTF">2026-10-03T21:40:04Z</dcterms:created>
  <dcterms:modified xsi:type="dcterms:W3CDTF">2026-10-03T21:40:04Z</dcterms:modified>
</cp:coreProperties>
</file>