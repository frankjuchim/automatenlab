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ee7599ec-48b9-a7df-7574-d5d5f358133e}">
          <p14:sldIdLst>
            <p14:sldId id="256"/>
          </p14:sldIdLst>
        </p14:section>
        <p14:section name="Einstieg" id="{64a8f146-bcb8-0a85-da82-f233d40ca6fa}">
          <p14:sldIdLst>
            <p14:sldId id="257"/>
            <p14:sldId id="258"/>
            <p14:sldId id="259"/>
          </p14:sldIdLst>
        </p14:section>
        <p14:section name="Erarbeitung" id="{dace8015-a5c4-084d-ed67-9e5aeadab2b9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Übung" id="{e9d6b231-1faa-730a-0901-61f05fe41920}">
          <p14:sldIdLst>
            <p14:sldId id="268"/>
            <p14:sldId id="269"/>
            <p14:sldId id="270"/>
          </p14:sldIdLst>
        </p14:section>
        <p14:section name="Sicherung" id="{e5ce7be3-0703-3dcc-ada4-a10bc4d1a4c2}">
          <p14:sldIdLst>
            <p14:sldId id="271"/>
            <p14:sldId id="272"/>
          </p14:sldIdLst>
        </p14:section>
        <p14:section name="Abschluss" id="{15f53b61-9999-2b3c-3859-77dc812bfb4e}">
          <p14:sldIdLst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8 ist eine Brücke: Nichtdeterminismus brauchen wir für den Kellerautomaten (Level 9/10) und für Grammatiken (Level 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Frage: Funktioniert der rechte Entwurf? Was ist in S0 bei L „falsch“? → Es gibt zwei Pfeile mit 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Vorschläge sammeln. Überleitung zum Spiel „Parallelwelten“.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Rollen: Vorleser, Spielzieher, Protokollant, Prüfer. Wortkarten: LLOL, LOOL, XLOLO, LOLOL, OLLO.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Nach dem letzten L liegt eine Münze auf S3 ⇒ akzeptiert. Die Mengen sind die Zustände, in denen der NEA „gleichzeitig“ 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Keine Münze auf S3 ⇒ abgelehnt. Beim zweiten O scheidet die Münze aus S2 aus; S0 bleibt immer belegt.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Formal: δ: Q × (Σ ∪ {ε}) → Teilmengen von Q. Ein DEA ist ein Spezialfall eines NEA.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+101: {S0, S1} –+→ {S1} –1→ {S2} –0→ {S2} –1→ {S2} ⇒ akzeptiert. 10: {S0, S1} –1→ {S2} –0→ {S2} ⇒ akzeptiert. Häufiger Fehler aus alten Materialien: „ε ist Teil des Eingabealphabets“ – falsch.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Teilmengenkonstruktion als eA-Vertiefung. Preis: Ein NEA mit n Zuständen kann einen DEA mit bis zu 2^n Zuständen ergeben (drittletztes Zeichen 1: 4 → 8).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Tabelle gemeinsam: {S0}: a → {S0,S1}, b → {S0}; {S0,S1}: a → {S0,S1}, b → {S0,S2}; {S0,S2}: a → {S0,S1}, b → {S0}. Endzustand: {S0,S2}.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Kern für alle: Aufgabe 2. Kontrolle der Entwürfe mit der App (Aufgabe 4 = GRATIS).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Weitere Deep-Links: ?aufgabe=5 (Vorzeichen, ε), ?aufgabe=2&amp;modus=teilmengen (Teilmengenkonstruktion).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0E64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">
    <p:bg>
      <p:bgPr>
        <a:solidFill>
          <a:srgbClr val="0A4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8 · Welt B · Grenzen &amp; Keller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UFTRAG">
    <p:bg>
      <p:bgPr>
        <a:solidFill>
          <a:srgbClr val="F1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8 · Welt B · Grenzen &amp; Keller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Informatik LK  ·  Level 8  ·  Welt B: Grenzen &amp; Keller</a:t>
            </a:r>
            <a:endParaRPr lang="en-US" sz="16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Raten erlaubt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8778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D7E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Nichtdeterministische endliche Automaten (NEA) als Brücke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40080" y="4709160"/>
            <a:ext cx="8961120" cy="1143000"/>
          </a:xfrm>
          <a:prstGeom prst="roundRect">
            <a:avLst>
              <a:gd name="adj" fmla="val 9600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4828032"/>
            <a:ext cx="8595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Kernfrage</a:t>
            </a:r>
            <a:endParaRPr lang="en-US" sz="1400" dirty="0"/>
          </a:p>
          <a:p>
            <a:pPr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ändert sich, wenn ein Automat mehrere Möglichkeiten hat?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0058400" y="128016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058400" y="12801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0881360" y="274320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D7EA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88136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058400" y="4206240"/>
            <a:ext cx="1005840" cy="1005840"/>
          </a:xfrm>
          <a:prstGeom prst="ellipse">
            <a:avLst/>
          </a:prstGeom>
          <a:solidFill>
            <a:srgbClr val="0E6455"/>
          </a:solidFill>
          <a:ln w="31750">
            <a:solidFill>
              <a:srgbClr val="F3D9B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149840" y="4297680"/>
            <a:ext cx="822960" cy="822960"/>
          </a:xfrm>
          <a:prstGeom prst="ellipse">
            <a:avLst/>
          </a:prstGeom>
          <a:solidFill>
            <a:srgbClr val="0E6455"/>
          </a:solidFill>
          <a:ln w="19050">
            <a:solidFill>
              <a:srgbClr val="F3D9B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058400" y="42062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10835640" y="219456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flipH="1">
            <a:off x="10835640" y="3657600"/>
            <a:ext cx="411480" cy="566928"/>
          </a:xfrm>
          <a:prstGeom prst="line">
            <a:avLst/>
          </a:prstGeom>
          <a:noFill/>
          <a:ln w="25400">
            <a:solidFill>
              <a:srgbClr val="D7EAE6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Einstieg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LOL – geht das einfacher?</a:t>
            </a:r>
            <a:endParaRPr lang="en-US" sz="4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Zwei Automaten, eine Sprache: „enthält LOL“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64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DEA aus Level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genau ein Folgezustand je Zeichen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Rücksprünge gut überlegen</a:t>
            </a:r>
            <a:endParaRPr lang="en-US" sz="2000" dirty="0"/>
          </a:p>
        </p:txBody>
      </p:sp>
      <p:pic>
        <p:nvPicPr>
          <p:cNvPr id="5" name="Image 0" descr="/home/claude/unit/build/img/ds08/lol_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160520"/>
            <a:ext cx="5318608" cy="1683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324448" y="1463040"/>
            <a:ext cx="531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26A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Neuer Entwurf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324448" y="2057400"/>
            <a:ext cx="531860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 die Kette L – O – L</a:t>
            </a:r>
            <a:endParaRPr lang="en-US" sz="20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Schleifen in S0 und S3</a:t>
            </a:r>
            <a:endParaRPr lang="en-US" sz="2000" dirty="0"/>
          </a:p>
        </p:txBody>
      </p:sp>
      <p:pic>
        <p:nvPicPr>
          <p:cNvPr id="8" name="Image 1" descr="/home/claude/unit/build/img/ds08/lol_n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448" y="4160520"/>
            <a:ext cx="5318608" cy="125578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600200"/>
            <a:ext cx="1109441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S0 gibt es für L zwei Pfeile. Was soll der Automat tun?</a:t>
            </a:r>
            <a:endParaRPr lang="en-US" sz="3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Idee: Er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rät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ob hier LOL beginnt – oder verfolgt </a:t>
            </a:r>
            <a:r>
              <a:rPr lang="en-US" sz="2200" b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</a:t>
            </a:r>
            <a:r>
              <a:rPr lang="en-US" sz="22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Möglichkeiten gleichzeitig.</a:t>
            </a:r>
            <a:endParaRPr lang="en-US" sz="22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Erarbeitung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Parallelwelten</a:t>
            </a:r>
            <a:endParaRPr lang="en-US" sz="4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Spiel: Parallelwelten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052828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4584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Vierergruppen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375404" y="1325880"/>
            <a:ext cx="373532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78324" y="1325880"/>
            <a:ext cx="31409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Spielplan, Münzen, Wortkarten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1109441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Münze startet auf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S0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 jedem Zeichen zieht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Münze entlang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aller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passenden Pfeile – bei zwei Pfeilen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verdoppelt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sie sich.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passender Pfeil? Die Münze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scheidet aus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Ende: Liegt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Münze auf S3? Dann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Protokolliert nach jedem Zeichen die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der belegten Zustände.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Protokoll: LLOL – akzeptiert</a:t>
            </a:r>
            <a:endParaRPr lang="en-US" sz="3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737360"/>
                <a:gridCol w="1737360"/>
                <a:gridCol w="173736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gelesen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aktive Zustände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S1}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S1}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S2}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S1, S3}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home/claude/unit/build/img/ds08/lol_n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048" y="2926080"/>
            <a:ext cx="8229600" cy="19431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Protokoll: LOOL – abgelehnt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404872"/>
                <a:gridCol w="1737360"/>
                <a:gridCol w="1737360"/>
                <a:gridCol w="173736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gelesen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4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aktive Zustände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7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S1}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S2}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dirty="0">
                          <a:solidFill>
                            <a:srgbClr val="1F2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{S0, S1}</a:t>
                      </a:r>
                      <a:endParaRPr lang="en-US" sz="2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/home/claude/unit/build/img/ds08/lol_n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1048" y="2926080"/>
            <a:ext cx="8229600" cy="19431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Nichtdeterministischer endlicher Automat (NEA)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79089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Wie ein DEA: Σ, Zustände, Startzustand, Endzustände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Aber: Zu einem Zustand und einem Zeichen gibt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beliebig viele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Folgezustände (auch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Zusätzlich erlaubt: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ε-Übergänge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(ohne Lesen eines Zeichens)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Akzeptanz: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gibt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Weg, der nach dem letzten Zeichen in einem Endzustand endet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 aktiver Zustände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nach jedem Zeichen</a:t>
            </a:r>
            <a:endParaRPr lang="en-US" sz="2200" dirty="0"/>
          </a:p>
        </p:txBody>
      </p:sp>
      <p:pic>
        <p:nvPicPr>
          <p:cNvPr id="4" name="Image 0" descr="/home/claude/unit/build/img/ds08/lol_n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5295" y="3211830"/>
            <a:ext cx="4937760" cy="11658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ε-Übergang: optionales Vorzeichen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= {+, -, 0, 1}   ·   ε ist KEIN Eingabezeichen</a:t>
            </a:r>
            <a:endParaRPr lang="en-US" sz="1800" dirty="0"/>
          </a:p>
        </p:txBody>
      </p:sp>
      <p:pic>
        <p:nvPicPr>
          <p:cNvPr id="4" name="Image 0" descr="/home/claude/unit/build/img/ds08/vorzeich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334440"/>
            <a:ext cx="11094415" cy="3057799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Schon vor dem ersten Zeichen sind S0 und S1 aktiv: {S0, S1}.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NEA und DEA sind gleich mächtig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Beobachtung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gibt nur endlich viele Mengen aktiver Zustände.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3390824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65144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2304" y="187452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665144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Idee</a:t>
            </a:r>
            <a:endParaRPr lang="en-US" sz="2100" dirty="0"/>
          </a:p>
        </p:txBody>
      </p:sp>
      <p:sp>
        <p:nvSpPr>
          <p:cNvPr id="12" name="Text 8"/>
          <p:cNvSpPr txBox="1"/>
          <p:nvPr/>
        </p:nvSpPr>
        <p:spPr>
          <a:xfrm>
            <a:off x="3665144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Menge wird ein Zustand des DEA.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6233008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507328" y="1737360"/>
            <a:ext cx="731520" cy="731520"/>
          </a:xfrm>
          <a:prstGeom prst="ellipse">
            <a:avLst/>
          </a:prstGeom>
          <a:solidFill>
            <a:srgbClr val="0E6455"/>
          </a:solidFill>
          <a:ln w="12700">
            <a:solidFill>
              <a:srgbClr val="0E645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4488" y="187452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07328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Verfahren</a:t>
            </a:r>
            <a:endParaRPr lang="en-US" sz="2100" dirty="0"/>
          </a:p>
        </p:txBody>
      </p:sp>
      <p:sp>
        <p:nvSpPr>
          <p:cNvPr id="17" name="Text 12"/>
          <p:cNvSpPr txBox="1"/>
          <p:nvPr/>
        </p:nvSpPr>
        <p:spPr>
          <a:xfrm>
            <a:off x="6507328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Startmenge → Folgemengen für jedes Zeichen → bis nichts Neues entsteht.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9075191" y="1463040"/>
            <a:ext cx="2567864" cy="4297680"/>
          </a:xfrm>
          <a:prstGeom prst="roundRect">
            <a:avLst>
              <a:gd name="adj" fmla="val 3561"/>
            </a:avLst>
          </a:prstGeom>
          <a:solidFill>
            <a:srgbClr val="F1F7F6"/>
          </a:solidFill>
          <a:ln w="12700">
            <a:solidFill>
              <a:srgbClr val="E4F0EE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9349511" y="1737360"/>
            <a:ext cx="731520" cy="73152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6671" y="187452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349511" y="2651760"/>
            <a:ext cx="201922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Endzustände</a:t>
            </a:r>
            <a:endParaRPr lang="en-US" sz="2100" dirty="0"/>
          </a:p>
        </p:txBody>
      </p:sp>
      <p:sp>
        <p:nvSpPr>
          <p:cNvPr id="22" name="Text 16"/>
          <p:cNvSpPr txBox="1"/>
          <p:nvPr/>
        </p:nvSpPr>
        <p:spPr>
          <a:xfrm>
            <a:off x="9349511" y="3383280"/>
            <a:ext cx="201922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Mengen, die einen NEA-Endzustand enthalten.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Beispiel: „endet auf ab“</a:t>
            </a:r>
            <a:endParaRPr lang="en-US" sz="3200" dirty="0"/>
          </a:p>
        </p:txBody>
      </p:sp>
      <p:pic>
        <p:nvPicPr>
          <p:cNvPr id="3" name="Image 0" descr="/home/claude/unit/build/img/ds08/endet_ab_d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4093" y="1463040"/>
            <a:ext cx="10923509" cy="448056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 dem NEA S0 –a→ S1 –b→ S2 (mit Schleife a, b in S0) entsteht dieser DEA mit 3 Zuständen.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Arbeitsblatt Level 8</a:t>
            </a:r>
            <a:endParaRPr 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Auftrag: AB08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31673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435608"/>
            <a:ext cx="274320" cy="2743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51560" y="1325880"/>
            <a:ext cx="7223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093976" y="1325880"/>
            <a:ext cx="2368296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424" y="1435608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96896" y="1325880"/>
            <a:ext cx="17739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Einzel → Partner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690872" y="1325880"/>
            <a:ext cx="2683764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12700">
            <a:solidFill>
              <a:srgbClr val="C9D3D6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43560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5193792" y="1325880"/>
            <a:ext cx="208940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AB08, Merkblatt M06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548640" y="2148840"/>
            <a:ext cx="79854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1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Parallelwelten (Mengen aktiver Zustände).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2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Spamfilter „GRATIS“ entwerfen.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3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ε-Übergänge – Vorzeichen und ODER-Baustein.</a:t>
            </a:r>
            <a:endParaRPr lang="en-US" sz="22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Profis: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Aufgabe 4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Teilmengenkonstruktion (App-Modus „Teilmengen“).</a:t>
            </a:r>
            <a:endParaRPr lang="en-US" sz="2200" dirty="0"/>
          </a:p>
        </p:txBody>
      </p:sp>
      <p:sp>
        <p:nvSpPr>
          <p:cNvPr id="13" name="Shape 8"/>
          <p:cNvSpPr/>
          <p:nvPr/>
        </p:nvSpPr>
        <p:spPr>
          <a:xfrm>
            <a:off x="8808415" y="2148840"/>
            <a:ext cx="2834640" cy="356616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1335" y="2377440"/>
            <a:ext cx="1828800" cy="18288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8945575" y="4389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5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A4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Parallelwelten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Parallelwelten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840480" cy="420624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9050">
            <a:solidFill>
              <a:srgbClr val="0E6455"/>
            </a:solidFill>
            <a:prstDash val="dash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828800"/>
            <a:ext cx="2743200" cy="27432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4800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846320" y="1737360"/>
            <a:ext cx="679673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B26A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AutomatenLab</a:t>
            </a:r>
            <a:endParaRPr lang="en-US" sz="1800" dirty="0"/>
          </a:p>
          <a:p>
            <a:pPr indent="0" marL="0">
              <a:buNone/>
            </a:pPr>
            <a:r>
              <a:rPr lang="en-US" sz="3400" b="1" dirty="0">
                <a:solidFill>
                  <a:srgbClr val="0A4A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Parallelwelten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 deinen Spamfilter: Gib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GRAGRATIS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ein und beobachte die Spielfiguren. Im Modus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Rätsel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sagst du vorher, wo die Figuren stehen.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5303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https://automatenlab.frankjuchim.de/#/parallelwelten?aufgabe=4&amp;modus=sim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" y="2148840"/>
            <a:ext cx="1737360" cy="1737360"/>
          </a:xfrm>
          <a:prstGeom prst="ellipse">
            <a:avLst/>
          </a:prstGeom>
          <a:solidFill>
            <a:srgbClr val="B26A0F"/>
          </a:solidFill>
          <a:ln w="12700">
            <a:solidFill>
              <a:srgbClr val="B26A0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25603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017520" y="1783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Sicherung</a:t>
            </a:r>
            <a:endParaRPr lang="en-US" sz="20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3017520" y="23774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wir heute gelernt haben</a:t>
            </a:r>
            <a:endParaRPr lang="en-US" sz="4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Merke: Nichtdeterminismus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7253935" cy="4709160"/>
          </a:xfrm>
          <a:prstGeom prst="roundRect">
            <a:avLst>
              <a:gd name="adj" fmla="val 1942"/>
            </a:avLst>
          </a:prstGeom>
          <a:solidFill>
            <a:srgbClr val="F8ECDB"/>
          </a:solidFill>
          <a:ln w="19050">
            <a:solidFill>
              <a:srgbClr val="B26A0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502920" cy="5029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554480" y="1645920"/>
            <a:ext cx="5973775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darf für ein Zeichen mehrere (oder keine) Folgezustände haben und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ε-Übergänge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benutzen.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akzeptiert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wenn es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mindestens einen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Weg in einen Endzustand gibt.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 ist kein Eingabezeichen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– ε-Übergänge lesen nichts.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und DEA sind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 mächtig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(Teilmengenkonstruktion) – NEA sind oft kleiner und leichter zu entwerfen.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Ausblick: Der </a:t>
            </a:r>
            <a:r>
              <a:rPr lang="en-US" sz="2200" b="1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Kellerautomat</a:t>
            </a:r>
            <a:r>
              <a:rPr lang="en-US" sz="2200" dirty="0">
                <a:solidFill>
                  <a:srgbClr val="1F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(Level 9) ist nichtdeterministisch – gleiche Akzeptanzidee.</a:t>
            </a:r>
            <a:endParaRPr lang="en-US" sz="2200" dirty="0"/>
          </a:p>
        </p:txBody>
      </p:sp>
      <p:pic>
        <p:nvPicPr>
          <p:cNvPr id="6" name="Image 1" descr="/home/claude/unit/build/img/ds08/o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8335" y="2708086"/>
            <a:ext cx="3474720" cy="212762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5B677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Zum Mitnehmen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737360"/>
            <a:ext cx="10515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Mengen aktiver Zustände darstellen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Akzeptanz: mindestens ein Weg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ε-Übergänge, ε ∉ Σ</a:t>
            </a:r>
            <a:endParaRPr lang="en-US" sz="2200" dirty="0"/>
          </a:p>
          <a:p>
            <a:pPr marL="254000" indent="-254000">
              <a:spcAft>
                <a:spcPts val="800"/>
              </a:spcAft>
              <a:buSzPct val="100000"/>
              <a:buChar char="▪"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Gleichmächtigkeit NEA – DEA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4846320"/>
            <a:ext cx="10911535" cy="1280160"/>
          </a:xfrm>
          <a:prstGeom prst="roundRect">
            <a:avLst>
              <a:gd name="adj" fmla="val 8571"/>
            </a:avLst>
          </a:prstGeom>
          <a:solidFill>
            <a:srgbClr val="0A4A3F"/>
          </a:solidFill>
          <a:ln w="12700">
            <a:solidFill>
              <a:srgbClr val="0A4A3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4956048"/>
            <a:ext cx="10362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3D9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Hausaufgabe</a:t>
            </a:r>
            <a:endParaRPr lang="en-US" sz="1500" dirty="0"/>
          </a:p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 über {0, 1}: Bitfolgen, die mit 01 beginnen ODER auf 10 enden (ODER-Baustein mit ε). Verarbeitung von 0110 und 1010 als Mengenfolge darstellen.</a:t>
            </a:r>
            <a:endParaRPr lang="en-US" sz="1500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640080" y="2011680"/>
            <a:ext cx="8778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maten LK">
  <a:themeElements>
    <a:clrScheme name="Automaten LK">
      <a:dk1>
        <a:srgbClr val="1F2A2E"/>
      </a:dk1>
      <a:lt1>
        <a:srgbClr val="FFFFFF"/>
      </a:lt1>
      <a:dk2>
        <a:srgbClr val="0E6455"/>
      </a:dk2>
      <a:lt2>
        <a:srgbClr val="E4F0EE"/>
      </a:lt2>
      <a:accent1>
        <a:srgbClr val="0E6455"/>
      </a:accent1>
      <a:accent2>
        <a:srgbClr val="B26A0F"/>
      </a:accent2>
      <a:accent3>
        <a:srgbClr val="3E8E7E"/>
      </a:accent3>
      <a:accent4>
        <a:srgbClr val="D9A45B"/>
      </a:accent4>
      <a:accent5>
        <a:srgbClr val="5B6770"/>
      </a:accent5>
      <a:accent6>
        <a:srgbClr val="A83232"/>
      </a:accent6>
      <a:hlink>
        <a:srgbClr val="0E6455"/>
      </a:hlink>
      <a:folHlink>
        <a:srgbClr val="0A4A3F"/>
      </a:folHlink>
    </a:clrScheme>
    <a:fontScheme name="Automaten L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Max-Planck-Gymnasium Delmenhorst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Raten erlaubt</dc:title>
  <dc:subject>PptxGenJS Presentation</dc:subject>
  <dc:creator>Frank Juchim</dc:creator>
  <cp:lastModifiedBy>Frank Juchim</cp:lastModifiedBy>
  <cp:revision>1</cp:revision>
  <dcterms:created xsi:type="dcterms:W3CDTF">2026-10-03T21:40:14Z</dcterms:created>
  <dcterms:modified xsi:type="dcterms:W3CDTF">2026-10-03T21:40:14Z</dcterms:modified>
</cp:coreProperties>
</file>