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3d332692-c35e-22f2-895d-708ab8b9a830}">
          <p14:sldIdLst>
            <p14:sldId id="256"/>
          </p14:sldIdLst>
        </p14:section>
        <p14:section name="Einstieg" id="{45791f3d-cb5c-ad32-3bd1-b4eb4739627a}">
          <p14:sldIdLst>
            <p14:sldId id="257"/>
            <p14:sldId id="258"/>
          </p14:sldIdLst>
        </p14:section>
        <p14:section name="Erarbeitung" id="{2491db75-bd38-812d-4513-7686d27364a6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8"/>
            <p14:sldId id="269"/>
            <p14:sldId id="270"/>
            <p14:sldId id="271"/>
          </p14:sldIdLst>
        </p14:section>
        <p14:section name="Übung" id="{13ff2fc9-3e7b-24ad-ecea-7084de3e5661}">
          <p14:sldIdLst>
            <p14:sldId id="267"/>
            <p14:sldId id="272"/>
          </p14:sldIdLst>
        </p14:section>
        <p14:section name="Erarbeitung" id="{6e6fa81a-f586-2223-a56d-d2cee40ea9e7}">
          <p14:sldIdLst/>
        </p14:section>
        <p14:section name="Übung" id="{0ce65c5d-1e31-3737-f7c6-d6987404e3d7}">
          <p14:sldIdLst/>
        </p14:section>
        <p14:section name="Abschluss" id="{40ea6e5a-f7ac-91bb-7e46-f1750796a893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Letztes Level: Aufgabenbörse (20 min), Turingmaschine (45 min), Abschluss (25 min). Aufgaben der Teams und Papierstreifen bereitlegen.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Lehrkraft sammelt zwei gelungene Aufgabenformulierungen für das Plenum. Zeit streng begrenzen.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Vermutungen sammeln. Viele SuS schlagen vor, zwei A pro a abzulegen – dann weiß der Automat beim ersten b nicht, wann die c beginnen.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Überleitung: Statt eines Stapels bekommt die Maschine ein Band, auf dem sie lesen UND schreiben darf.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Vergleich: DEA liest nur (einmal, von links nach rechts); NKA hat zusätzlich einen Stapel; TM darf auf die Eingabe schreiben und sich frei bewegen.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das Merkblatt M11 markieren lassen. Blank gehört zum Bandalphabet Γ, nicht zu 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Gemeinsam Schritt für Schritt auf 1011 ausführen (nächste Folie). Dann 111: Übertrag läuft bis vor die Zahl – das Blank wird zur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Kopfposition in eckigen Klammern. Schritt 4: Blank gelesen → Richtungswechsel nach links (S1). Schritte 6–7: Übertrag. Schritt 8: 0 wird zur 1, Halt in S2.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Schnelle Tandems: Aufgabe 4 mit dem Turing-Labor (programm=anbncn). Challenge 1 der App: fehlende Regel ergänzen.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 Turing-Labor vorführen (aabbcc, dann aabbc → hält in S2, kein Endzustand).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AB16, Aufgabe 5: Maschine K (2 Einsen) vs. Maschine B (4 Einsen). Im Turing-Labor: programm=biber-2 und biber-3.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Bezug zu DS14: Die Landkarte der Sprachen bekommt ihre äußerste Stufe.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Erzählen, nicht beweisen. AB16, Aufgabe 7: Erläutern und Beurteilen („schnellerer Rechner“ hilft nicht – Unentscheidbarkeit ist keine Frage der Rechenzeit).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Deep-Links: ?programm=binaer-plus-1 | anbncn | biber-2 | biber-3, ?challenge=1 |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Quiz-Ergebnisse anonym; häufige Fehlerfragen kurz besprechen. Lernlandkarte liefert die Agenda für die Wiederholungsstunde.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16 · Welt D · Sprachdesign &amp; Ausblick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16 · Welt D · Sprachdesign &amp; Ausblick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LK  ·  Level 16  ·  Welt D: Sprachdesign &amp; Ausblick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Ausblick: Die Turingmaschine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Aufgabenbörse · Band, Kopf und Übergänge · Church-Turing-These und Halteproblem · Abschluss der Einheit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kann eine Maschine, die auf ihr Band schreiben darf – und gibt es Grenzen, die keine Maschine überwindet?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Aufgabenbörse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Aufgabenbörse: Löst die Aufgabe eines anderen Teams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12115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6172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534156" y="1325880"/>
            <a:ext cx="352501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604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037076" y="1325880"/>
            <a:ext cx="29306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aus Level 15, AB16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Team erhält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Kurzversion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Aufgabe eines anderen Teams.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Löst sie wie im Abitur: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beachten, Notation einhalten, eigenes Blatt.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15 Minuten: Erwartungshorizont vom Autorenteam holen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Rückmeldung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das Autorenteam (AB16, Aufgabe 1a): Was war klar? Was fehlte?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der Keller an seine Grenze kommt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Kann ein Kellerautomat die Sprache aⁿbⁿcⁿ erkennen?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aⁿbⁿ war kein Problem: Für jedes a ein A auf den Keller, für jedes b eines herunter. Und jetzt kommen noch genauso viele c …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Keller wird beim Vergleichen verbraucht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den b ist der Keller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die Information „wie viele a?“ ist weg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A pro a? Beim ersten b weiß der Automat nicht,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die b aufhören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Anschaulich: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Keller kann nur einmal abgezählt werden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(strenger Beweis: Universität)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fehlt, ist eine Maschine, die ihre Eingabe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verändern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darf und beliebig oft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hin- und herläuft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Alan Turing, 1936: die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Turingmaschine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Turingmaschine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Aufbau: Band, Schreib-Lese-Kopf, Zustand</a:t>
            </a:r>
            <a:endParaRPr lang="en-US" sz="3200" dirty="0"/>
          </a:p>
        </p:txBody>
      </p:sp>
      <p:pic>
        <p:nvPicPr>
          <p:cNvPr id="3" name="Image 0" descr="/home/claude/unit/build/img/ds16/band_aufb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5240" y="1463040"/>
            <a:ext cx="9721215" cy="3840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Band ist beidseitig unbegrenzt, leere Felder enthalten das Blank □. Der Kopf liest ein Feld, schreibt und bewegt sich um ein Feld.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 Übergang hat drei Teile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(Zustand, gelesenes Zeichen) → (Folgezustand, geschriebenes Zeichen, Bewegung)</a:t>
            </a:r>
            <a:endParaRPr lang="en-US" sz="23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Bewegung: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(links),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(rechts),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(bleibt stehen)</a:t>
            </a:r>
            <a:endParaRPr lang="en-US" sz="23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Kantenbeschriftung im Graphen: „gelesen / geschrieben, Bewegung“, z. B.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0, L</a:t>
            </a:r>
            <a:endParaRPr lang="en-US" sz="23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passender Übergang → die Maschine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hält</a:t>
            </a:r>
            <a:endParaRPr lang="en-US" sz="23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Hält sie in einem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ist die Eingabe akzeptiert; der Bandinhalt ist die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</a:t>
            </a:r>
            <a:endParaRPr lang="en-US" sz="23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Zustand S0, Kopf auf dem ersten Zeichen der Eingabe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Beispiel: Binärzahl + 1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{0, 1} · S0: ans Ende laufen · S1: Übertrag nach links tragen · S2: fertig</a:t>
            </a:r>
            <a:endParaRPr lang="en-US" sz="1800" dirty="0"/>
          </a:p>
        </p:txBody>
      </p:sp>
      <p:pic>
        <p:nvPicPr>
          <p:cNvPr id="4" name="Image 0" descr="/home/claude/unit/build/img/ds16/tm_bin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31632"/>
            <a:ext cx="11094415" cy="28634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 1011 (= 11) → Ausgabe 1100 (= 12). Was passiert bei 111?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Konfigurationsfolge für 1011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576072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Schritt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 (Kopfposition in eckigen Klammern)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Übergang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[1] 0 1 1 □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1 [0] 1 1 □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1, 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1 0 [1] 1 □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0, 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1 0 1 [1] □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1, 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1 0 1 1 [□]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1, 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1 0 1 [1] □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/ □, 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1 0 [1] 0 □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0, 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1 [0] 0 0 □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0, 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□ 1 [1] 0 0 □ □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1, 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Unplugged: Du bist der Schreib-Lese-Kopf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Tandem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639312" y="132588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142232" y="13258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Papierstreifen-Band, Zustands- und Regelkarten, AB16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Kopf: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liest das Feld unter der Münze vor, radiert, schreibt, schiebt die Münze.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Steuerung: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sucht die Regel auf der Regelkarte, sagt sie an, wechselt die Zustandskarte.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jedem Schritt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Rollentausch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Schritte zählen.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„Binärzahl + 1“ für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ausführen (AB16, Aufgabe 3a), Ergebnis dezimal prüfen.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Dann: eigene Maschine „jedes a wird zu b“ entwerfen und testen (3b).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Turing-Labor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aⁿbⁿcⁿ: Markieren, zurücklaufen, wiederholen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Runde: ein a → X, ein b → Y, ein c → Z, zurück zum letzten X. Sind alle a verbraucht (S0 liest Y), prüft S4, ob nur noch Y und Z folgen.</a:t>
            </a:r>
            <a:endParaRPr lang="en-US" sz="1800" dirty="0"/>
          </a:p>
        </p:txBody>
      </p:sp>
      <p:pic>
        <p:nvPicPr>
          <p:cNvPr id="4" name="Image 0" descr="/home/claude/unit/build/img/ds16/tm_anbn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109" y="1783080"/>
            <a:ext cx="8827477" cy="3886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Band ist das Gedächtnis: Markierungen bleiben erhalten und können beliebig oft gelesen werden.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Rätsel: Der fleißige Biber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Frage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Maschine mit n Zuständen schreibt auf leerem Band die meisten Einsen – und hält trotzdem?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38218" y="146304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2538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698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Bekannt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383280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BB(1) = 1, BB(2) = 4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BB(3) = 6, BB(4) = 13</a:t>
            </a:r>
            <a:endParaRPr lang="en-US" sz="18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BB(5) = 4098 (bewiesen 2024)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127797" y="1463040"/>
            <a:ext cx="3515258" cy="4480560"/>
          </a:xfrm>
          <a:prstGeom prst="roundRect">
            <a:avLst>
              <a:gd name="adj" fmla="val 260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02117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277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517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Unbekannt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383280"/>
            <a:ext cx="296661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BB(6) ≥ 10↑↑15 – eine Zahl, die man nicht mehr ausschreiben kann. Die Biber-Funktion wächst schneller als jede berechenbare Funktion.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Church-Turing-These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Alles, was ein Algorithmus berechnen kann, kann eine Turingmaschine berechnen.</a:t>
            </a:r>
            <a:endParaRPr lang="en-US" sz="23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Computer, jede Programmiersprache ist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genauso mächtig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wie dieses einfache Modell – nicht mächtiger</a:t>
            </a:r>
            <a:endParaRPr lang="en-US" sz="23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kein Satz: nicht beweisbar, aber seit 1936 in jedem Fall bestätigt</a:t>
            </a:r>
            <a:endParaRPr lang="en-US" sz="23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Deshalb ist die Turingmaschine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Modell, um über Berechenbarkeit zu sprechen</a:t>
            </a:r>
            <a:endParaRPr lang="en-US" sz="2300" dirty="0"/>
          </a:p>
          <a:p>
            <a:pPr lvl="1" marL="457200" indent="-2286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Chomsky-Hierarchie: Typ 3 DEA · Typ 2 NKA · Typ 0 Turingmaschine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Halteproblem – eine Geschichte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Firma verspricht das Programm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Für jedes Programm P sagt es korrekt „hält“ oder „läuft ewig“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Informatikerin baut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TROTZ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 fragt HALT „Halte ich selbst?“ – und tut das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Gegenteil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Sagt HALT „hält“ → TROTZ läuft ewig.  Sagt HALT „läuft ewig“ → TROTZ hält sofort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irrt sich in jedem Fall →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kann nicht existieren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Turing, 1936: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Algorithmus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entscheidet für alle Programme, ob sie halten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gibt Grenzen, die keine Maschine überwindet – egal wie schnell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Turing-Labor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Turing-Labor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Maschinen Schritt für Schritt ausführen: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Binärzahl + 1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aⁿbⁿcⁿ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Fleißiger Biber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Band beobachten, eigene Eingaben testen. Challenge: die fehlende Regel ergänzen.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https://automatenlab.frankjuchim.de/#/turing?programm=binaer-plus-1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Abschluss: Quiz, Lernlandkarte, Feedback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1947672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Einzelarbeit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270248" y="1325880"/>
            <a:ext cx="320954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773168" y="132588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Lernlandkarte, AB16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Level-Quiz Welt D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der App (8 min).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Lernlandkarte: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jedes Level markieren – sicher / unsicher / noch üben; für jedes „noch üben“ eine konkrete Übung notieren (7 min).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AB16: Was hat geholfen? Was anders? Welche Frage ist offen? (5 min)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Level-Quiz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Turingmaschine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15665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487649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+ Schreib-Lese-Kopf + endlich viele Zustände; Übergang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(Zustand, gelesen) → (Zustand, geschrieben, L/R/N)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darf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hin- und herlaufen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deshalb schafft sie aⁿbⁿcⁿ, woran der Keller scheitert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Church-Turing-These: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Jeder Algorithmus ist eine Turingmaschine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Halteproblem: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Kein Algorithmus entscheidet für alle Programme, ob sie halten</a:t>
            </a:r>
            <a:endParaRPr lang="en-US" sz="2200" dirty="0"/>
          </a:p>
        </p:txBody>
      </p:sp>
      <p:pic>
        <p:nvPicPr>
          <p:cNvPr id="6" name="Image 1" descr="/home/claude/unit/build/img/ds16/tm_binpl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055" y="3181894"/>
            <a:ext cx="4572000" cy="118001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ihr aus dem AutomatenLab mitnehmt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 A: Automaten analysieren, entwickeln, minimieren, übersetzen (Mealy)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 B: Grenzen begründen, Kellerautomaten dokumentieren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 C: Grammatiken entwerfen, regulär ↔ kontextfrei, Chomsky-Hierarchie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 D: eigene Sprachen entwerfen – und die Turingmaschine als Ausblick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Übungsklausur im Abi-Format (135 min, 45 BE) bearbeiten und mit dem Erwartungshorizont kontrollieren. Merkblatt M12 „Abi-Spickzettel“ nutzen.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Ausblick: Die Turingmaschine</dc:title>
  <dc:subject>PptxGenJS Presentation</dc:subject>
  <dc:creator>Frank Juchim</dc:creator>
  <cp:lastModifiedBy>Frank Juchim</cp:lastModifiedBy>
  <cp:revision>1</cp:revision>
  <dcterms:created xsi:type="dcterms:W3CDTF">2026-10-03T21:41:46Z</dcterms:created>
  <dcterms:modified xsi:type="dcterms:W3CDTF">2026-10-03T21:41:46Z</dcterms:modified>
</cp:coreProperties>
</file>