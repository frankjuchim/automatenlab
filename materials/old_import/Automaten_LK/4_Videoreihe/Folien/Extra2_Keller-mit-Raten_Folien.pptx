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[0:00–0:20] Einstieg
„abba liest sich vorwärts wie rückwärts. Ein Kellerautomat kann das prüfen – wenn er raten darf.“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[0:20–1:10] Mit Mittelzeichen
„Das c sagt dem Automaten: Ab hier rückwärts vergleichen.“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[1:10–2:10] Ohne Mitte: raten
„Die ε-Pfeile heißen: Ich rate, hier ist die Mitte.“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[2:10–3:10] Der richtige Lauf
„Geraten wird nach ab – danach passt alles.“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[3:10–4:15] Live: falsch und richtig raten
„Ein Fehlversuch heißt nicht ‚abgelehnt‘ – es reicht ein guter Lauf.“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[4:15–4:55] DKA oder NKA?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[4:55–5:25] Jetzt du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[5:25–5:50] Zusammenfassung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_TITEL">
    <p:bg>
      <p:bgPr>
        <a:solidFill>
          <a:srgbClr val="0E64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4572000"/>
            <a:ext cx="3200400" cy="2057400"/>
          </a:xfrm>
          <a:prstGeom prst="rect">
            <a:avLst/>
          </a:prstGeom>
          <a:solidFill>
            <a:srgbClr val="0B574A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45720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457200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58600" y="45720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978640" y="457200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66294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78240" y="630936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658600" y="66294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978640" y="630936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_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2  ·  Keller mit Raten  ·  automatenlab.frankjuchim.de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8778240" y="4572000"/>
            <a:ext cx="3200400" cy="2057400"/>
          </a:xfrm>
          <a:prstGeom prst="rect">
            <a:avLst/>
          </a:prstGeom>
          <a:solidFill>
            <a:srgbClr val="F1F7F6"/>
          </a:solidFill>
          <a:ln/>
        </p:spPr>
      </p:sp>
      <p:sp>
        <p:nvSpPr>
          <p:cNvPr id="5" name="Shape 2"/>
          <p:cNvSpPr/>
          <p:nvPr/>
        </p:nvSpPr>
        <p:spPr>
          <a:xfrm>
            <a:off x="8778240" y="45720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78240" y="457200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1658600" y="45720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1978640" y="457200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78240" y="66294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778240" y="630936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658600" y="66294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1978640" y="630936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_AKZENT">
    <p:bg>
      <p:bgPr>
        <a:solidFill>
          <a:srgbClr val="F1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2  ·  Keller mit Raten  ·  automatenlab.frankjuchim.de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8778240" y="4572000"/>
            <a:ext cx="3200400" cy="2057400"/>
          </a:xfrm>
          <a:prstGeom prst="rect">
            <a:avLst/>
          </a:prstGeom>
          <a:solidFill>
            <a:srgbClr val="E4EEEC"/>
          </a:solidFill>
          <a:ln/>
        </p:spPr>
      </p:sp>
      <p:sp>
        <p:nvSpPr>
          <p:cNvPr id="5" name="Shape 2"/>
          <p:cNvSpPr/>
          <p:nvPr/>
        </p:nvSpPr>
        <p:spPr>
          <a:xfrm>
            <a:off x="8778240" y="45720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78240" y="457200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1658600" y="45720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1978640" y="457200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78240" y="66294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778240" y="630936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658600" y="66294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1978640" y="630936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_DUNKEL">
    <p:bg>
      <p:bgPr>
        <a:solidFill>
          <a:srgbClr val="0A4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4572000"/>
            <a:ext cx="3200400" cy="2057400"/>
          </a:xfrm>
          <a:prstGeom prst="rect">
            <a:avLst/>
          </a:prstGeom>
          <a:solidFill>
            <a:srgbClr val="083D34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45720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457200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58600" y="45720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978640" y="457200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66294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78240" y="630936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658600" y="66294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978640" y="630936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914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2  ·  Maschinen, die Sprache verstehen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63040"/>
            <a:ext cx="7863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Kellerautomat mit Raten: Palindrome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640080" y="3977640"/>
            <a:ext cx="7772400" cy="1463040"/>
          </a:xfrm>
          <a:prstGeom prst="roundRect">
            <a:avLst>
              <a:gd name="adj" fmla="val 7500"/>
            </a:avLst>
          </a:prstGeom>
          <a:solidFill>
            <a:srgbClr val="0A4A3F"/>
          </a:solidFill>
          <a:ln w="12700">
            <a:solidFill>
              <a:srgbClr val="0A4A3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4114800"/>
            <a:ext cx="7315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Leitfrage</a:t>
            </a:r>
            <a:endParaRPr lang="en-US" sz="1500" dirty="0"/>
          </a:p>
          <a:p>
            <a:pPr indent="0" marL="0">
              <a:buNone/>
            </a:pPr>
            <a:r>
              <a:rPr lang="en-US" sz="23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Wie prüft ein Kellerautomat, ob ein Wort vorwärts und rückwärts gleich ist – ohne zu wissen, wo die Mitte ist?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035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FD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automatenlab.frankjuchim.de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0" y="914400"/>
            <a:ext cx="960120" cy="96012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D7EA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0" y="9144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S0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10561320" y="914400"/>
            <a:ext cx="960120" cy="96012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D7EA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561320" y="9144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9857232" y="2331720"/>
            <a:ext cx="960120" cy="96012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F3D9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948672" y="2423160"/>
            <a:ext cx="777240" cy="777240"/>
          </a:xfrm>
          <a:prstGeom prst="ellipse">
            <a:avLst/>
          </a:prstGeom>
          <a:solidFill>
            <a:srgbClr val="0E6455"/>
          </a:solidFill>
          <a:ln w="19050">
            <a:solidFill>
              <a:srgbClr val="F3D9B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857232" y="233172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S2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10122408" y="1389888"/>
            <a:ext cx="420624" cy="0"/>
          </a:xfrm>
          <a:prstGeom prst="line">
            <a:avLst/>
          </a:prstGeom>
          <a:noFill/>
          <a:ln w="25400">
            <a:solidFill>
              <a:srgbClr val="D7EAE6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 flipH="1">
            <a:off x="10652760" y="1874520"/>
            <a:ext cx="256032" cy="475488"/>
          </a:xfrm>
          <a:prstGeom prst="line">
            <a:avLst/>
          </a:prstGeom>
          <a:noFill/>
          <a:ln w="25400">
            <a:solidFill>
              <a:srgbClr val="D7EAE6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Mit Mittelzeichen: w c wᴿ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= {a, b, c} · Γ = {#, A, B} · z. B. abcba, aabcbaa</a:t>
            </a:r>
            <a:endParaRPr lang="en-US" sz="1900" dirty="0"/>
          </a:p>
        </p:txBody>
      </p:sp>
      <p:pic>
        <p:nvPicPr>
          <p:cNvPr id="4" name="Image 0" descr="/home/claude/unit/build/img/video/pal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427547"/>
            <a:ext cx="7863840" cy="278014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94360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nicht eingezeichneten Übergänge führen in einen Fehlerzustand.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IDEE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979408" y="1901952"/>
            <a:ext cx="27980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 c: jedes Zeichen ablegen (a → A, b → B)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 c: vergleichen und abbauen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 # übrig ⇒ S2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Ohne Mittelzeichen: raten!</a:t>
            </a:r>
            <a:endParaRPr lang="en-US" sz="3200" dirty="0"/>
          </a:p>
        </p:txBody>
      </p:sp>
      <p:pic>
        <p:nvPicPr>
          <p:cNvPr id="3" name="Image 0" descr="/home/claude/unit/build/img/video/pal_nk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81727"/>
            <a:ext cx="7863840" cy="278014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5532120"/>
            <a:ext cx="7863840" cy="822960"/>
          </a:xfrm>
          <a:prstGeom prst="roundRect">
            <a:avLst>
              <a:gd name="adj" fmla="val 11111"/>
            </a:avLst>
          </a:prstGeom>
          <a:solidFill>
            <a:srgbClr val="F8ECDB"/>
          </a:solidFill>
          <a:ln w="12700">
            <a:solidFill>
              <a:srgbClr val="B26A0F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562356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1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Nichtdeterministisch</a:t>
            </a:r>
            <a:r>
              <a:rPr lang="en-US" sz="21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(NKA): akzeptiert, wenn </a:t>
            </a:r>
            <a:r>
              <a:rPr lang="en-US" sz="21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mindestens ein</a:t>
            </a:r>
            <a:r>
              <a:rPr lang="en-US" sz="21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Lauf akzeptiert.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Ε-ÜBERGÄNGE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979408" y="1901952"/>
            <a:ext cx="27980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(#, ε) : #, (A, ε) : A, (B, ε) : B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„Ich rate: Hier ist die Mitte.“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Ein akzeptierender Lauf für abba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786384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2331720"/>
                <a:gridCol w="2011680"/>
                <a:gridCol w="2194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Zustand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Belegung Kellerspeicher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oberstes Kellersymbol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verarbeitetes Eingabezeichen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7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7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7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ε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7C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ε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1663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akzeptiert: </a:t>
            </a:r>
            <a:r>
              <a:rPr lang="en-US" sz="20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</a:t>
            </a: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geraten nach ab; Eingabe vollständig gelesen, Endzustand S2.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8ECDB"/>
          </a:solidFill>
          <a:ln w="12700">
            <a:solidFill>
              <a:srgbClr val="B26A0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WICHTIG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979408" y="1901952"/>
            <a:ext cx="27980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ε-Übergang = eigene Zeile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 Abi: einen </a:t>
            </a:r>
            <a:r>
              <a:rPr lang="en-US" sz="18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akzeptierenden</a:t>
            </a: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Lauf angeben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im AutomatenLab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108960" cy="420624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0E6455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45920"/>
            <a:ext cx="2468880" cy="24688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85800" y="425196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AutomatenLab</a:t>
            </a:r>
            <a:endParaRPr lang="en-US" sz="15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Keller-Labor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023360" y="1325880"/>
            <a:ext cx="43891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E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 machen gleich: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 früh raten: nach a → steckt fest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Richtig raten: nach ab → akzeptiert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guter Lauf genügt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715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A4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automatenlab.frankjuchim.de/#/keller?automat=palindrom&amp;modus=sim&amp;wort=abba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DKA oder NKA?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786384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DKA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in jeder Situation höchstens ein Übergang (w c w</a:t>
            </a:r>
            <a:r>
              <a:rPr lang="en-US" sz="2200" baseline="30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22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Wahlmöglichkeiten, z. B. ε-Übergänge zum Raten (w w</a:t>
            </a:r>
            <a:r>
              <a:rPr lang="en-US" sz="2200" baseline="30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22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Für w w</a:t>
            </a:r>
            <a:r>
              <a:rPr lang="en-US" sz="2200" baseline="30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gibt es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keinen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deterministischen Kellerautomaten (ohne Beweis)</a:t>
            </a:r>
            <a:endParaRPr lang="en-US" sz="22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Akzeptanz: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Endzustand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nach vollständiger Eingabe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Pausiere jetzt!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868680" cy="86868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544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45920" y="132588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Wird </a:t>
            </a:r>
            <a:r>
              <a:rPr lang="en-US" sz="25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abab</a:t>
            </a:r>
            <a:r>
              <a:rPr lang="en-US" sz="25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akzeptiert? Begründe.</a:t>
            </a:r>
            <a:endParaRPr lang="en-US" sz="2500" dirty="0"/>
          </a:p>
        </p:txBody>
      </p:sp>
      <p:pic>
        <p:nvPicPr>
          <p:cNvPr id="6" name="Image 1" descr="/home/claude/unit/build/img/video/pal_nk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6825" y="2560320"/>
            <a:ext cx="6207470" cy="21945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8ECDB"/>
          </a:solidFill>
          <a:ln w="12700">
            <a:solidFill>
              <a:srgbClr val="B26A0F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GEHT’S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8979408" y="1901952"/>
            <a:ext cx="27980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anhalten,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 Papier lösen,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dann weiter: Die Auflösung kommt sofort.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Auflösung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786384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3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Nein.</a:t>
            </a: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abab ist kein Palindrom.</a:t>
            </a:r>
            <a:endParaRPr lang="en-US" sz="23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Egal, wo der Automat die Mitte rät: Kein Lauf liest das Wort vollständig und endet in S2.</a:t>
            </a:r>
            <a:endParaRPr lang="en-US" sz="23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gibt also </a:t>
            </a:r>
            <a:r>
              <a:rPr lang="en-US" sz="23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keinen</a:t>
            </a: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akzeptierenden Lauf.</a:t>
            </a:r>
            <a:endParaRPr lang="en-US" sz="2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 nimmst du mit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77724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ε-Übergänge erlauben 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Raten</a:t>
            </a: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200" dirty="0"/>
          </a:p>
          <a:p>
            <a:pPr marL="279400" indent="-2794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 akzeptiert, wenn 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</a:t>
            </a: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Lauf passt.</a:t>
            </a:r>
            <a:endParaRPr lang="en-US" sz="2200" dirty="0"/>
          </a:p>
          <a:p>
            <a:pPr marL="279400" indent="-2794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Tabelle: einen akzeptierenden Lauf zeigen.</a:t>
            </a:r>
            <a:endParaRPr lang="en-US" sz="2200" dirty="0"/>
          </a:p>
          <a:p>
            <a:pPr marL="279400" indent="-2794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 können mehr als DKA.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4160520"/>
            <a:ext cx="3749040" cy="2194560"/>
          </a:xfrm>
          <a:prstGeom prst="roundRect">
            <a:avLst>
              <a:gd name="adj" fmla="val 5000"/>
            </a:avLst>
          </a:prstGeom>
          <a:solidFill>
            <a:srgbClr val="0A4A3F"/>
          </a:solidFill>
          <a:ln w="12700">
            <a:solidFill>
              <a:srgbClr val="3E8E7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434340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Nächstes</a:t>
            </a:r>
            <a:endParaRPr lang="en-US" sz="1500" dirty="0"/>
          </a:p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Video 6: Grammatiken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663440" y="4160520"/>
            <a:ext cx="3749040" cy="2194560"/>
          </a:xfrm>
          <a:prstGeom prst="roundRect">
            <a:avLst>
              <a:gd name="adj" fmla="val 5000"/>
            </a:avLst>
          </a:prstGeom>
          <a:solidFill>
            <a:srgbClr val="0A4A3F"/>
          </a:solidFill>
          <a:ln w="12700">
            <a:solidFill>
              <a:srgbClr val="3E8E7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434340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Zum Nachlesen</a:t>
            </a:r>
            <a:endParaRPr lang="en-US" sz="1500" dirty="0"/>
          </a:p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Merkblatt M07 – Kellerautomaten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778240" y="502920"/>
            <a:ext cx="3200400" cy="379476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778240" y="640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WEITER ÜBEN</a:t>
            </a:r>
            <a:endParaRPr lang="en-US" sz="14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1005840"/>
            <a:ext cx="2103120" cy="210312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8915400" y="320040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Keller-Labor</a:t>
            </a:r>
            <a:endParaRPr lang="en-US" sz="18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Tabellen-Trainer: w c wᴿ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utomaten LK">
  <a:themeElements>
    <a:clrScheme name="Automaten LK">
      <a:dk1>
        <a:srgbClr val="1F2A2E"/>
      </a:dk1>
      <a:lt1>
        <a:srgbClr val="FFFFFF"/>
      </a:lt1>
      <a:dk2>
        <a:srgbClr val="0E6455"/>
      </a:dk2>
      <a:lt2>
        <a:srgbClr val="E4F0EE"/>
      </a:lt2>
      <a:accent1>
        <a:srgbClr val="0E6455"/>
      </a:accent1>
      <a:accent2>
        <a:srgbClr val="B26A0F"/>
      </a:accent2>
      <a:accent3>
        <a:srgbClr val="3E8E7E"/>
      </a:accent3>
      <a:accent4>
        <a:srgbClr val="D9A45B"/>
      </a:accent4>
      <a:accent5>
        <a:srgbClr val="5B6770"/>
      </a:accent5>
      <a:accent6>
        <a:srgbClr val="A83232"/>
      </a:accent6>
      <a:hlink>
        <a:srgbClr val="0E6455"/>
      </a:hlink>
      <a:folHlink>
        <a:srgbClr val="0A4A3F"/>
      </a:folHlink>
    </a:clrScheme>
    <a:fontScheme name="Automaten L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Extra 2 – Kellerautomat mit Raten: Palindrome</dc:title>
  <dc:subject>PptxGenJS Presentation</dc:subject>
  <dc:creator>Frank Juchim</dc:creator>
  <cp:lastModifiedBy>Frank Juchim</cp:lastModifiedBy>
  <cp:revision>1</cp:revision>
  <dcterms:created xsi:type="dcterms:W3CDTF">2026-10-03T23:56:26Z</dcterms:created>
  <dcterms:modified xsi:type="dcterms:W3CDTF">2026-10-03T23:56:26Z</dcterms:modified>
</cp:coreProperties>
</file>