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Einstieg
„Zwei Werkzeuge, die nichts miteinander zu tun haben – scheinbar. Heute übersetzen wir eins ins andere.“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[0:20–1:00] Rechtsregulär – ja oder nein?
Jede Zeile kurz: „Wo steht das Nichtterminal?“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[1:00–2:00] Vom DEA zur Grammatik
Pfeil für Pfeil eine Regel ansagen; Endzustand bekommt 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[2:00–2:35] Ableitung = Lauf
„Das Nichtterminal am Ende ist genau der Zustand, in dem der Automat gerade ist.“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[2:35–3:20] Grammatik → Automat
„Aus S gehen zwei Pfeile mit a – das darf ein DEA nicht. Das ist ein NEA.“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[3:20–4:00] NEA in 40 Sekunden
„Stell dir Spielfiguren vor: Bei jeder Wahl teilt sich die Figur.“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[4:00–5:00] Live: Parallelwelten
Figuren zählen lassen; dann Modus Teilmengen: „Jede Figurenmenge wird ein Zustand.“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[5:00–5:30] Der fertige DEA
„Jede Menge, die Z enthält, ist ein Endzustand.“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[5:30–6:05] Jetzt du
„Rezept anwenden – vergiss die ε-Regel nicht.“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[6:05–6:30] Zusammenfassung
Ausblick: Was ist mit Sprachen wie aⁿbⁿ? → kontextfreie Grammatiken.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B57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7  ·  Reguläre Grammatik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F1F7F6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AKZENT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7  ·  Reguläre Grammatik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E4EEEC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DUNKEL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83D3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Erklärvideo 7  ·  Maschinen, die Sprache verstehen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Reguläre Grammatik und endlicher Automat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114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500" dirty="0"/>
          </a:p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übersetzt man einen Automaten in eine Grammatik – und zurück?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automatenlab.frankjuchim.de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56132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6132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857232" y="233172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2423160"/>
            <a:ext cx="777240" cy="77724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57232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122408" y="1389888"/>
            <a:ext cx="420624" cy="0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652760" y="1874520"/>
            <a:ext cx="256032" cy="47548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Rechtsregulär – ja oder nein?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regulär?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aS  |  bA  |  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 Terminal, ggf. + ein Nichtterminal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aSb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 rechts vom Nichtterminal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Nichtterminal 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+xA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zwei Terminale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BC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zwei Nichtterminale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ERLAUBT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aB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a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ε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Vom DEA zur Grammatik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{a, b} · Alle nicht eingezeichneten Übergänge führen in einen Fehlerzustand.</a:t>
            </a:r>
            <a:endParaRPr lang="en-US" sz="1900" dirty="0"/>
          </a:p>
        </p:txBody>
      </p:sp>
      <p:pic>
        <p:nvPicPr>
          <p:cNvPr id="4" name="Image 0" descr="/home/claude/unit/build/img/video/du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7132320" cy="2377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166360"/>
            <a:ext cx="7863840" cy="1188720"/>
          </a:xfrm>
          <a:prstGeom prst="roundRect">
            <a:avLst>
              <a:gd name="adj" fmla="val 7692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25780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→ aS1     S1 → aS1 | bS2     S2 → aS1 | bS2 | ε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{S0, S1, S2},  T = {a, b},  Startsymbol S0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REZEPT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→ Nichtterminal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–a→ Sj →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→ aSj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Endzustand →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→ ε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Fehlerzustand entfällt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 = Lauf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37719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aS1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abS2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abaS1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ababS2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abab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640580" y="132588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Lauf im DEA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640580" y="1874520"/>
            <a:ext cx="37719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–a→ S1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–b→ S2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–a→ S1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–b→ S2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Endzustand ✓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Nichtterminal am Ende der Satzform =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aktueller Zustand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Rückweg: von der Grammatik zum Automaten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aS | bS | aA      A → b</a:t>
            </a:r>
            <a:endParaRPr lang="en-US" sz="1900" dirty="0"/>
          </a:p>
        </p:txBody>
      </p:sp>
      <p:pic>
        <p:nvPicPr>
          <p:cNvPr id="4" name="Image 0" descr="/home/claude/unit/build/img/video/nea_endet_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9243"/>
            <a:ext cx="7863840" cy="237655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3212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6235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S zwei Pfeile mit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⇒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nichtdeterministisch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(NEA)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REZEPT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Nichtterminal → Zustand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aB: Pfeil A –a→ B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a: Pfeil in </a:t>
            </a:r>
            <a:r>
              <a:rPr lang="en-US" sz="17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neuen Endzustand</a:t>
            </a: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ε: A wird Endzustand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NEA: ein Automat, der raten darf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Mehrere Pfeile mit demselben Zeichen erlaubt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wenn es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 einen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Weg in einen Endzustand gibt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Vorstellung: Spielfiguren auf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möglichen Zuständen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aab: {S} –a→ {A, S} –a→ {A, S} –b→ {S, Z} ⇒ Z dabei ⇒ akzeptiert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ZU WISSEN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 und DEA sind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 mächtig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ist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Eingabezeichen.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im AutomatenLab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251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Parallelwelten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1325880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machen gleich: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Spielfiguren beim Lesen von aab beobachten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Teilmengenkonstruktion: aus Mengen werden Zustände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automatenlab.frankjuchim.de/#/parallelwelten?aufgabe=2&amp;modus=sim&amp;wort=aab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Teilmengenkonstruktion: der DEA</a:t>
            </a:r>
            <a:endParaRPr lang="en-US" sz="3200" dirty="0"/>
          </a:p>
        </p:txBody>
      </p:sp>
      <p:pic>
        <p:nvPicPr>
          <p:cNvPr id="3" name="Image 0" descr="/home/claude/unit/build/img/video/dea_endet_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19855"/>
            <a:ext cx="7863840" cy="32412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ZUSTÄNDE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= {S}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= {S, A}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= {S, Z} – enthält Z ⇒ Endzustand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Pausiere jetzt!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258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Übersetze den DEA in eine reguläre Grammatik.</a:t>
            </a:r>
            <a:endParaRPr lang="en-US" sz="2500" dirty="0"/>
          </a:p>
        </p:txBody>
      </p:sp>
      <p:pic>
        <p:nvPicPr>
          <p:cNvPr id="6" name="Image 1" descr="/home/claude/unit/build/img/video/b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535" y="2560320"/>
            <a:ext cx="6570049" cy="21945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493776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{a, b}; akzeptiert alle Wörter, die bb enthalten</a:t>
            </a:r>
            <a:endParaRPr lang="en-US" sz="2300" dirty="0"/>
          </a:p>
        </p:txBody>
      </p:sp>
      <p:sp>
        <p:nvSpPr>
          <p:cNvPr id="8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GEHT’S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anhalten,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Papier lösen,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weiter: Die Auflösung kommt sofort.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Auflösung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{S0, S1, S2},  T = {a, b},  Startsymbol S0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→ aS0 | bS1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→ aS0 | bS2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→ aS2 | bS2 | ε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nimmst du mit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772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Rechtsregulär: nur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aB | a | ε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 → Grammatik: Zustand = Nichtterminal, Pfeil = Regel, Endzustand = ε-Regel.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 → NEA → (Teilmengen) → DEA.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Ableitung entspricht einem Lauf.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Nächstes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8: Kontextfreie Grammatiken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Nachlesen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Merkblatt M09 – Reguläre Grammatik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50292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ÜBEN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1005840"/>
            <a:ext cx="2103120" cy="2103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91540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Grammatik-Tester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Grammatik-Tester: gerade Anzahl 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7 – Reguläre Grammatik und endlicher Automat</dc:title>
  <dc:subject>PptxGenJS Presentation</dc:subject>
  <dc:creator>Frank Juchim</dc:creator>
  <cp:lastModifiedBy>Frank Juchim</cp:lastModifiedBy>
  <cp:revision>1</cp:revision>
  <dcterms:created xsi:type="dcterms:W3CDTF">2026-10-03T23:56:25Z</dcterms:created>
  <dcterms:modified xsi:type="dcterms:W3CDTF">2026-10-03T23:56:25Z</dcterms:modified>
</cp:coreProperties>
</file>