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bee42d5d-0955-7cde-2297-86507171e417}">
          <p14:sldIdLst>
            <p14:sldId id="256"/>
          </p14:sldIdLst>
        </p14:section>
        <p14:section name="Einstieg" id="{4b2339b1-bc50-6d3c-9667-edf06dfbc1f7}">
          <p14:sldIdLst>
            <p14:sldId id="257"/>
            <p14:sldId id="258"/>
          </p14:sldIdLst>
        </p14:section>
        <p14:section name="Erarbeitung" id="{6dbb265e-d28a-c76c-cc96-0acf9390b095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Werkstatt" id="{7a6bfda7-1fd2-c81d-7a4f-c5dba577f5c7}">
          <p14:sldIdLst>
            <p14:sldId id="265"/>
            <p14:sldId id="266"/>
            <p14:sldId id="267"/>
            <p14:sldId id="268"/>
            <p14:sldId id="269"/>
          </p14:sldIdLst>
        </p14:section>
        <p14:section name="Sicherung" id="{3378d09e-3146-e93f-ad25-247335743c60}">
          <p14:sldIdLst>
            <p14:sldId id="270"/>
            <p14:sldId id="271"/>
            <p14:sldId id="272"/>
          </p14:sldIdLst>
        </p14:section>
        <p14:section name="Abschluss" id="{3d1a8aea-2a42-8a57-ee83-907094cdb7c1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Letzte Doppelstunde in Welt B. Ziel: Abi-Sicherheit bei Kellerautomaten. Am Ende: Boss-Level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Kurzes UG. Wiederholung: Keller als Stapel, oben = links, Ablage rechts zuerst (M07).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Bis c: ablegen (oben = zuletzt gelesen). Nach c: vergleichen und abbauen. Tabelle für abcba in AB10, Aufgabe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Automat darf in S0 jederzeit raten, dass die Mitte erreicht ist. Gleiche Kellerzeichen – deshalb mehrere Möglichkeiten.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[NUR LEHRKRAFT] Gemeinsam an der Tafel. Nur der Wechsel nach 2 Zeichen führt zum Ziel – und das reicht.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Wichtiger Unterschied zu Level 8: NEA und DEA sind gleich mächtig, bei Kellerautomaten nicht. Nur mitteilen, nicht beweisen.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Beweis (Pumping-Lemma) ist kein KC-Inhalt. Hierarchie andeuten: regulär ⊂ kontextfrei ⊂ 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Korrektorkarten liegen sortiert am Pult. Darauf achten, dass ehrlich bewertet wird: Teilpunkte nur bei Teilleistung laut Karte.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Angelehnt an Abi 2022 eA C c, Abi 2022 Nachschreibtermin C, Abi 2025 eA B g–h, Abi 2021 Nachschreibtermin E b. Originale als Vertiefung.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Beispiel Fall 1 (Lösung nur für die Lehrkraft): 30010.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Alternativ: #/keller?automat=palindrom&amp;modus=sim zur Visualisierung des Ratens.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Blitzlicht: Welcher Operator war am schwierigsten? Fehler aus den Korrekturen ergänzen.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10 · Welt B · Grenzen &amp; Keller · nur eA (Leistungskurs)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FTRAG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10 · Welt B · Grenzen &amp; Keller · nur eA (Leistungskurs)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eA (Leistungskurs)  ·  Level 10  ·  Welt B: Grenzen &amp; Keller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Keller-Profis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7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Nichtdeterminismus im Keller, Analyse im Sachzusammenhang – Abi-Werkstatt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4709160"/>
            <a:ext cx="8961120" cy="1143000"/>
          </a:xfrm>
          <a:prstGeom prst="roundRect">
            <a:avLst>
              <a:gd name="adj" fmla="val 96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828032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400" dirty="0"/>
          </a:p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Wann muss ein Kellerautomat „raten“ – und wie analysiere ich Kellerautomaten in Abi-Aufgaben?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0" y="128016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0881360" y="274320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881360" y="27432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058400" y="420624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4297680"/>
            <a:ext cx="822960" cy="82296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0" y="4206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835640" y="219456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835640" y="365760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Spiegelwörter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abcba  oder  abba – woran erkennt ein Kellerautomat, wo die Mitte ist?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abcba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verrät das c die Mitte. Bei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… muss er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raten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Erarbeitung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Raten im Keller</a:t>
            </a:r>
            <a:endParaRPr lang="en-US" sz="4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 c wᴿ – deterministisch (DKA)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{a, b, c}   ·   Γ = {#, A, B}</a:t>
            </a:r>
            <a:endParaRPr lang="en-US" sz="1800" dirty="0"/>
          </a:p>
        </p:txBody>
      </p:sp>
      <p:pic>
        <p:nvPicPr>
          <p:cNvPr id="4" name="Image 0" descr="/home/user/AutomatenLab/materials/build/img/ds10/palindrom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21288"/>
            <a:ext cx="11094415" cy="36841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nicht eingezeichneten Übergänge führen in einen Fehlerzustand.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 wᴿ – nichtdeterministisch (NKA)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Unterschied: ε-Übergänge von S0 nach S1 – „Hier ist die Mitte“</a:t>
            </a:r>
            <a:endParaRPr lang="en-US" sz="1800" dirty="0"/>
          </a:p>
        </p:txBody>
      </p:sp>
      <p:pic>
        <p:nvPicPr>
          <p:cNvPr id="4" name="Image 0" descr="/home/user/AutomatenLab/materials/build/img/ds10/palindr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24777"/>
            <a:ext cx="11094415" cy="367712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nicht eingezeichneten Übergänge führen in einen Fehlerzustand.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Rate-Tabelle für abba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194560"/>
                <a:gridCol w="63367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Wechsel nach S1 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Lauf akzeptiert?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nach 0 Zeichen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Zeichen a passt nicht zu # oben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nach 1 Zeichen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Zeichen b passt nicht zu A oben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nach 2 Zeichen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Keller wieder bei #, S2 erreicht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nach 3 Zeichen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Zeichen a passt nicht zu B oben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nach 4 Zeichen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Eingabe gelesen, aber A liegt oben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Akzeptanz beim NKA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981425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Akzeptiert, wenn es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Möglichkeit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gibt, nach vollständiger Eingabe in einem Endzustand zu sein.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Dokumentation im Abi: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akzeptierenden Lauf als Tabelle angeben.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Abgelehnt erst, wenn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Möglichkeiten scheitern.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w wᴿ gibt es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DKA – NKA können mehr als DKA (anders als bei NEA/DEA!).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Ausblick: aⁿbⁿcⁿ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 mit dem Keller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5318608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a ein A ablegen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b ein A entfernen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 die c? – Die Anzahl ist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verbraucht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324448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26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Ergebnis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324448" y="2057400"/>
            <a:ext cx="5318608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Kellerautomat erkennt aⁿbⁿcⁿ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Keller erlaubt nur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einen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Vergleich mit derselben Anzahl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16: Die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Turingmaschine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schafft 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Abi-Werkstatt: Prüfling &amp; Korrektor</a:t>
            </a:r>
            <a:endParaRPr lang="en-US" sz="4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läuft die Werkstatt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84251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12481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+ 20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619756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520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122676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Tandem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165092" y="1325880"/>
            <a:ext cx="384048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54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668012" y="13258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AB10 Teil B, Korrektorkarten, M07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110944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Runde 1: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bearbeitet Fall 1, B Fall 2 – allein, wie in der Prüfung (20 min).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Korrektur: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Hefte tauschen, Korrektorkarte holen, BE vergeben, Kommentar schreiben (10 min).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Korrektor erklärt seine Bewertung (5 min).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Runde 2 – Rollentausch (20 min):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bearbeitet Fall 3, B Fall 4 – drei Teilaufgaben nach Wahl, Rest zu Hause.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Vier Fälle – vier Abi-Klassiker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 1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Trainer-Keller: Eingabewort aus Zustandsfolge, Regel, DEA?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3390824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65144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304" y="18745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5144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 2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Landschaften mit Seen: Tabelle, Bedeutung des Kellers, Hügel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233008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07328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18745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7328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 3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Prüfnummern, Kriterium V: Keller begründen, ε-Abbau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9075191" y="1463040"/>
            <a:ext cx="2567864" cy="3913632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349511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671" y="18745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9511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 4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383280"/>
            <a:ext cx="20192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Kartoffel-Protokolle: Keller als Restbetrag, Preisänderung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Rückwärts: Eingabewort bestimmen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63395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Spalte für Spalte vergleichen: Was wurde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entfernt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was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abgelegt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passenden Übergang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im Graphen suchen – Zustand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Belegung müssen stimmen.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Belegung unverändert? Zeichen, das nur liest (z. B. 1, _) –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oder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ε-Übergang (Zustandswechsel!).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Schluss das Wort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vorwärts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durchspielen (Probe).</a:t>
            </a:r>
            <a:endParaRPr lang="en-US" sz="2400" dirty="0"/>
          </a:p>
        </p:txBody>
      </p:sp>
      <p:pic>
        <p:nvPicPr>
          <p:cNvPr id="4" name="Image 0" descr="/home/user/AutomatenLab/materials/build/img/ds10/spielf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3935" y="2882222"/>
            <a:ext cx="4389120" cy="182507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Keller-Labor: Rückwärts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840480" cy="42062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737360"/>
            <a:ext cx="679673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8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Keller-Labor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für schnelle Tandems: Aus der Folge von Zuständen und Kellerbelegungen das Eingabewort bestimmen. Über die Navigation unten den Automaten wechseln: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Prüfnummern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Palindrome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O/X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5303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https://automatenlab.frankjuchim.de/#/keller?automat=anbn&amp;modus=rueckwaerts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Typische Fehler &amp; Boss-Level B</a:t>
            </a:r>
            <a:endParaRPr lang="en-US" sz="4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Typische Fehler aus der Werkstatt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7864" cy="448056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 vage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83280"/>
            <a:ext cx="20192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„Speichert Zeichen“ reicht nicht: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bedeutet ein Kellerzeichen, wann wird es abgelegt?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3390824" y="1463040"/>
            <a:ext cx="2567864" cy="448056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65144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304" y="18745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5144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Falsch geraten = abgelehnt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383280"/>
            <a:ext cx="20192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Beim NKA genügt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akzeptierender Lauf.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233008" y="1463040"/>
            <a:ext cx="2567864" cy="448056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07328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18745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7328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 übersehen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383280"/>
            <a:ext cx="20192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Unveränderte Belegung kann ein ε-Übergang sein.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9075191" y="1463040"/>
            <a:ext cx="2567864" cy="448056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349511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671" y="18745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9511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Immer Keller?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383280"/>
            <a:ext cx="20192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Feste Grenze (Preis, Tiefe) ⇒ ein DEA genügt.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Merke: Kellerautomaten im Abitur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981425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Dokumentieren: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Tabelle Zeile für Zeile, bei NKA ein akzeptierender Lauf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Erläutern (Keller):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Bedeutung der Kellerzeichen + Ablegen/Entfernen + Abschlussprüfung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Bestimmen (Eingabewort):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rückwärts über Belegungsänderungen, Probe vorwärts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Begründen/Untersuchen: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unbeschränkt ⇒ Keller nötig; beschränkt ⇒ DEA genügt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Zum Mitnehmen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515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DKA vs. NKA: Mitte raten mit ε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Akzeptanz: es gibt eine Möglichkeit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Rückwärts-Aufgaben und Bedeutung des Kellers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Grenze aⁿbⁿcⁿ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84632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956048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Hausaufgabe</a:t>
            </a:r>
            <a:endParaRPr lang="en-US" sz="15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Werkstatt-Fälle fertigstellen (Korrektorkarten). Boss-Level B „Tags im Web-Editor“ (25 BE) bis nächste Woche.</a:t>
            </a:r>
            <a:endParaRPr lang="en-US" sz="15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Max-Planck-Gymnasium Delmenhorst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Keller-Profis</dc:title>
  <dc:subject>PptxGenJS Presentation</dc:subject>
  <dc:creator>Frank Juchim</dc:creator>
  <cp:lastModifiedBy>Frank Juchim</cp:lastModifiedBy>
  <cp:revision>1</cp:revision>
  <dcterms:created xsi:type="dcterms:W3CDTF">2026-10-14T07:05:26Z</dcterms:created>
  <dcterms:modified xsi:type="dcterms:W3CDTF">2026-10-14T07:05:26Z</dcterms:modified>
</cp:coreProperties>
</file>