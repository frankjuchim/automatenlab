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tart" id="{df66310a-482a-0f10-84cf-8b2068087075}">
          <p14:sldIdLst>
            <p14:sldId id="256"/>
          </p14:sldIdLst>
        </p14:section>
        <p14:section name="Einstieg" id="{b90735d0-6729-95ed-a71d-17fc7b182f1a}">
          <p14:sldIdLst>
            <p14:sldId id="257"/>
            <p14:sldId id="258"/>
          </p14:sldIdLst>
        </p14:section>
        <p14:section name="Erarbeitung" id="{58a1a400-b18a-4f69-6200-a9da066f64d8}">
          <p14:sldIdLst>
            <p14:sldId id="259"/>
            <p14:sldId id="260"/>
            <p14:sldId id="261"/>
            <p14:sldId id="262"/>
            <p14:sldId id="263"/>
            <p14:sldId id="264"/>
          </p14:sldIdLst>
        </p14:section>
        <p14:section name="Werkstatt" id="{70d08d14-1fe6-3c84-93a3-793e9316f281}">
          <p14:sldIdLst>
            <p14:sldId id="265"/>
            <p14:sldId id="266"/>
            <p14:sldId id="267"/>
            <p14:sldId id="268"/>
            <p14:sldId id="269"/>
          </p14:sldIdLst>
        </p14:section>
        <p14:section name="Sicherung" id="{22dd33ca-5a2c-0c25-7f4b-c29a2264bfb4}">
          <p14:sldIdLst>
            <p14:sldId id="270"/>
            <p14:sldId id="271"/>
            <p14:sldId id="272"/>
          </p14:sldIdLst>
        </p14:section>
        <p14:section name="Abschluss" id="{da3198d6-09e2-72b5-a5da-90fc2f011bb0}">
          <p14:sldIdLst>
            <p14:sldId id="27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Letzte Doppelstunde in Welt B. Ziel: Abi-Sicherheit bei Kellerautomaten. Am Ende: Boss-Level 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Kurzes UG. Wiederholung: Keller als Stapel, oben = links, Ablage rechts zuerst (M07).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Bis c: ablegen (oben = zuletzt gelesen). Nach c: vergleichen und abbauen. Tabelle für abcba in AB10, Aufgabe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Der Automat darf in S0 jederzeit raten, dass die Mitte erreicht ist. Gleiche Kellerzeichen – deshalb mehrere Möglichkeiten.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Gemeinsam an der Tafel. Nur der Wechsel nach 2 Zeichen führt zum Ziel – und das reicht.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Wichtiger Unterschied zu Level 8: NEA und DEA sind gleich mächtig, bei Kellerautomaten nicht. Nur mitteilen, nicht beweisen.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Beweis (Pumping-Lemma) ist kein KC-Inhalt. Hierarchie andeuten: regulär ⊂ kontextfrei ⊂ …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Korrektorkarten liegen sortiert am Pult. Darauf achten, dass ehrlich bewertet wird: Teilpunkte nur bei Teilleistung laut Karte.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Angelehnt an Abi 2022 eA C c, Abi 2022 Nachschreibtermin C, Abi 2025 eA B g–h, Abi 2021 Nachschreibtermin E b. Originale als Vertiefung.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Beispiel Fall 1 (Lösung nur für die Lehrkraft): 30010.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Alternativ: #/keller?automat=palindrom&amp;modus=sim zur Visualisierung des Ratens.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Blitzlicht: Welcher Operator war am schwierigsten? Fehler aus den Korrekturen ergänzen.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">
    <p:bg>
      <p:bgPr>
        <a:solidFill>
          <a:srgbClr val="0E645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2011680"/>
            <a:ext cx="877824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BSCHNITT">
    <p:bg>
      <p:bgPr>
        <a:solidFill>
          <a:srgbClr val="0A4A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3017520" y="2377440"/>
            <a:ext cx="841248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HA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 10 · Welt B · Grenzen &amp; Keller · nur eA (Leistungskurs)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UFTRAG">
    <p:bg>
      <p:bgPr>
        <a:solidFill>
          <a:srgbClr val="F1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 10 · Welt B · Grenzen &amp; Keller · nur eA (Leistungskurs)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2344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3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Informatik eA (Leistungskurs)  ·  Level 10  ·  Welt B: Grenzen &amp; Keller</a:t>
            </a:r>
            <a:endParaRPr lang="en-US" sz="16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40080" y="2011680"/>
            <a:ext cx="87782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Keller-Profis</a:t>
            </a:r>
            <a:endParaRPr lang="en-US" sz="4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79476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D7EA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Nichtdeterminismus im Keller, Analyse im Sachzusammenhang – Abi-Werkstatt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640080" y="4709160"/>
            <a:ext cx="8961120" cy="1143000"/>
          </a:xfrm>
          <a:prstGeom prst="roundRect">
            <a:avLst>
              <a:gd name="adj" fmla="val 9600"/>
            </a:avLst>
          </a:prstGeom>
          <a:solidFill>
            <a:srgbClr val="0A4A3F"/>
          </a:solidFill>
          <a:ln w="12700">
            <a:solidFill>
              <a:srgbClr val="0A4A3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680" y="4828032"/>
            <a:ext cx="8595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3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Kernfrage</a:t>
            </a:r>
            <a:endParaRPr lang="en-US" sz="1400" dirty="0"/>
          </a:p>
          <a:p>
            <a:pPr indent="0" marL="0">
              <a:buNone/>
            </a:pPr>
            <a:r>
              <a:rPr lang="en-US" sz="20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Wann muss ein Kellerautomat „raten“ – und wie analysiere ich Kellerautomaten in Abi-Aufgaben?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10058400" y="1280160"/>
            <a:ext cx="1005840" cy="1005840"/>
          </a:xfrm>
          <a:prstGeom prst="ellipse">
            <a:avLst/>
          </a:prstGeom>
          <a:solidFill>
            <a:srgbClr val="0E6455"/>
          </a:solidFill>
          <a:ln w="31750">
            <a:solidFill>
              <a:srgbClr val="D7EA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058400" y="128016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S0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10881360" y="2743200"/>
            <a:ext cx="1005840" cy="1005840"/>
          </a:xfrm>
          <a:prstGeom prst="ellipse">
            <a:avLst/>
          </a:prstGeom>
          <a:solidFill>
            <a:srgbClr val="0E6455"/>
          </a:solidFill>
          <a:ln w="31750">
            <a:solidFill>
              <a:srgbClr val="D7EAE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881360" y="274320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S1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10058400" y="4206240"/>
            <a:ext cx="1005840" cy="1005840"/>
          </a:xfrm>
          <a:prstGeom prst="ellipse">
            <a:avLst/>
          </a:prstGeom>
          <a:solidFill>
            <a:srgbClr val="0E6455"/>
          </a:solidFill>
          <a:ln w="31750">
            <a:solidFill>
              <a:srgbClr val="F3D9B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149840" y="4297680"/>
            <a:ext cx="822960" cy="822960"/>
          </a:xfrm>
          <a:prstGeom prst="ellipse">
            <a:avLst/>
          </a:prstGeom>
          <a:solidFill>
            <a:srgbClr val="0E6455"/>
          </a:solidFill>
          <a:ln w="19050">
            <a:solidFill>
              <a:srgbClr val="F3D9B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058400" y="420624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S2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10835640" y="2194560"/>
            <a:ext cx="411480" cy="566928"/>
          </a:xfrm>
          <a:prstGeom prst="line">
            <a:avLst/>
          </a:prstGeom>
          <a:noFill/>
          <a:ln w="25400">
            <a:solidFill>
              <a:srgbClr val="D7EAE6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 flipH="1">
            <a:off x="10835640" y="3657600"/>
            <a:ext cx="411480" cy="566928"/>
          </a:xfrm>
          <a:prstGeom prst="line">
            <a:avLst/>
          </a:prstGeom>
          <a:noFill/>
          <a:ln w="25400">
            <a:solidFill>
              <a:srgbClr val="D7EAE6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0120" y="2148840"/>
            <a:ext cx="1737360" cy="1737360"/>
          </a:xfrm>
          <a:prstGeom prst="ellipse">
            <a:avLst/>
          </a:prstGeom>
          <a:solidFill>
            <a:srgbClr val="B26A0F"/>
          </a:solidFill>
          <a:ln w="12700">
            <a:solidFill>
              <a:srgbClr val="B26A0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0" y="2560320"/>
            <a:ext cx="914400" cy="9144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3017520" y="17830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3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Einstieg</a:t>
            </a:r>
            <a:endParaRPr lang="en-US" sz="20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3017520" y="23774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Spiegelwörter</a:t>
            </a:r>
            <a:endParaRPr lang="en-US" sz="4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48640"/>
            <a:ext cx="822960" cy="8229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1600200"/>
            <a:ext cx="1109441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A4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abcba  oder  abba – woran erkennt ein Kellerautomat, wo die Mitte ist?</a:t>
            </a:r>
            <a:endParaRPr lang="en-US" sz="36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411480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 </a:t>
            </a:r>
            <a:r>
              <a:rPr lang="en-US" sz="2200" b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abcba</a:t>
            </a:r>
            <a:r>
              <a:rPr lang="en-US" sz="22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verrät das c die Mitte. Bei </a:t>
            </a:r>
            <a:r>
              <a:rPr lang="en-US" sz="2200" b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</a:t>
            </a:r>
            <a:r>
              <a:rPr lang="en-US" sz="22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… muss er </a:t>
            </a:r>
            <a:r>
              <a:rPr lang="en-US" sz="2200" b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raten</a:t>
            </a:r>
            <a:r>
              <a:rPr lang="en-US" sz="22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2200" dirty="0"/>
          </a:p>
        </p:txBody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0120" y="2148840"/>
            <a:ext cx="1737360" cy="1737360"/>
          </a:xfrm>
          <a:prstGeom prst="ellipse">
            <a:avLst/>
          </a:prstGeom>
          <a:solidFill>
            <a:srgbClr val="B26A0F"/>
          </a:solidFill>
          <a:ln w="12700">
            <a:solidFill>
              <a:srgbClr val="B26A0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0" y="2560320"/>
            <a:ext cx="914400" cy="9144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3017520" y="17830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3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Erarbeitung</a:t>
            </a:r>
            <a:endParaRPr lang="en-US" sz="20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3017520" y="23774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Raten im Keller</a:t>
            </a:r>
            <a:endParaRPr lang="en-US" sz="4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 c wᴿ – deterministisch (DKA)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8016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 = {a, b, c}   ·   Γ = {#, A, B}</a:t>
            </a:r>
            <a:endParaRPr lang="en-US" sz="1800" dirty="0"/>
          </a:p>
        </p:txBody>
      </p:sp>
      <p:pic>
        <p:nvPicPr>
          <p:cNvPr id="4" name="Image 0" descr="/home/user/AutomatenLab/materials/build/img/ds10/palindrom_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021288"/>
            <a:ext cx="11094415" cy="368410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59893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 nicht eingezeichneten Übergänge führen in einen Fehlerzustand.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 wᴿ – nichtdeterministisch (NKA)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8016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Unterschied: ε-Übergänge von S0 nach S1 – „Hier ist die Mitte“</a:t>
            </a:r>
            <a:endParaRPr lang="en-US" sz="1800" dirty="0"/>
          </a:p>
        </p:txBody>
      </p:sp>
      <p:pic>
        <p:nvPicPr>
          <p:cNvPr id="4" name="Image 0" descr="/home/user/AutomatenLab/materials/build/img/ds10/palindro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024777"/>
            <a:ext cx="11094415" cy="367712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59893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 nicht eingezeichneten Übergänge führen in einen Fehlerzustand.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Rate-Tabelle für abba</a:t>
            </a:r>
            <a:endParaRPr lang="en-US" sz="3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2194560"/>
                <a:gridCol w="633679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Wechsel nach S1 …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4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Lauf akzeptiert?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4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Grund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45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nach 0 Zeichen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nein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 Zeichen a passt nicht zu # oben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nach 1 Zeichen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nein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 Zeichen b passt nicht zu A oben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nach 2 Zeichen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Keller wieder bei #, S2 erreicht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nach 3 Zeichen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nein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 Zeichen a passt nicht zu B oben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nach 4 Zeichen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nein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Eingabe gelesen, aber A liegt oben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Akzeptanz beim NKA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09160"/>
          </a:xfrm>
          <a:prstGeom prst="roundRect">
            <a:avLst>
              <a:gd name="adj" fmla="val 1942"/>
            </a:avLst>
          </a:prstGeom>
          <a:solidFill>
            <a:srgbClr val="F8ECDB"/>
          </a:solidFill>
          <a:ln w="19050">
            <a:solidFill>
              <a:srgbClr val="B26A0F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645920"/>
            <a:ext cx="502920" cy="5029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554480" y="1645920"/>
            <a:ext cx="9814255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Akzeptiert, wenn es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eine Möglichkeit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gibt, nach vollständiger Eingabe in einem Endzustand zu sein.</a:t>
            </a:r>
            <a:endParaRPr lang="en-US" sz="22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Dokumentation im Abi: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einen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akzeptierenden Lauf als Tabelle angeben.</a:t>
            </a:r>
            <a:endParaRPr lang="en-US" sz="22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Abgelehnt erst, wenn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Möglichkeiten scheitern.</a:t>
            </a:r>
            <a:endParaRPr lang="en-US" sz="22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Für w wᴿ gibt es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keinen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DKA – NKA können mehr als DKA (anders als bei NEA/DEA!).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Ausblick: aⁿbⁿcⁿ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53186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E64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Idee mit dem Keller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057400"/>
            <a:ext cx="5318608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a ein A ablegen</a:t>
            </a:r>
            <a:endParaRPr lang="en-US" sz="20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b ein A entfernen</a:t>
            </a:r>
            <a:endParaRPr lang="en-US" sz="20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 die c? – Die Anzahl ist </a:t>
            </a:r>
            <a:r>
              <a:rPr lang="en-US" sz="20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verbraucht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6324448" y="1463040"/>
            <a:ext cx="53186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B26A0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Ergebnis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6324448" y="2057400"/>
            <a:ext cx="5318608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0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Kein</a:t>
            </a:r>
            <a:r>
              <a:rPr lang="en-US" sz="2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Kellerautomat erkennt aⁿbⁿcⁿ</a:t>
            </a:r>
            <a:endParaRPr lang="en-US" sz="20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 Keller erlaubt nur </a:t>
            </a:r>
            <a:r>
              <a:rPr lang="en-US" sz="20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einen</a:t>
            </a:r>
            <a:r>
              <a:rPr lang="en-US" sz="2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Vergleich mit derselben Anzahl</a:t>
            </a:r>
            <a:endParaRPr lang="en-US" sz="20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 16: Die </a:t>
            </a:r>
            <a:r>
              <a:rPr lang="en-US" sz="20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Turingmaschine</a:t>
            </a:r>
            <a:r>
              <a:rPr lang="en-US" sz="2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schafft es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0120" y="2148840"/>
            <a:ext cx="1737360" cy="1737360"/>
          </a:xfrm>
          <a:prstGeom prst="ellipse">
            <a:avLst/>
          </a:prstGeom>
          <a:solidFill>
            <a:srgbClr val="B26A0F"/>
          </a:solidFill>
          <a:ln w="12700">
            <a:solidFill>
              <a:srgbClr val="B26A0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0" y="2560320"/>
            <a:ext cx="914400" cy="9144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3017520" y="17830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3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Werkstatt</a:t>
            </a:r>
            <a:endParaRPr lang="en-US" sz="20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3017520" y="23774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Abi-Werkstatt: Prüfling &amp; Korrektor</a:t>
            </a:r>
            <a:endParaRPr lang="en-US" sz="4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 läuft die Werkstatt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1842516" cy="502920"/>
          </a:xfrm>
          <a:prstGeom prst="roundRect">
            <a:avLst>
              <a:gd name="adj" fmla="val 49091"/>
            </a:avLst>
          </a:prstGeom>
          <a:solidFill>
            <a:srgbClr val="FFFFFF"/>
          </a:solidFill>
          <a:ln w="12700">
            <a:solidFill>
              <a:srgbClr val="C9D3D6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435608"/>
            <a:ext cx="274320" cy="2743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051560" y="1325880"/>
            <a:ext cx="12481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 + 20 min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2619756" y="1325880"/>
            <a:ext cx="1316736" cy="502920"/>
          </a:xfrm>
          <a:prstGeom prst="roundRect">
            <a:avLst>
              <a:gd name="adj" fmla="val 49091"/>
            </a:avLst>
          </a:prstGeom>
          <a:solidFill>
            <a:srgbClr val="FFFFFF"/>
          </a:solidFill>
          <a:ln w="12700">
            <a:solidFill>
              <a:srgbClr val="C9D3D6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75204" y="1435608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3122676" y="1325880"/>
            <a:ext cx="7223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Tandem</a:t>
            </a:r>
            <a:endParaRPr lang="en-US" sz="1600" dirty="0"/>
          </a:p>
        </p:txBody>
      </p:sp>
      <p:sp>
        <p:nvSpPr>
          <p:cNvPr id="9" name="Shape 5"/>
          <p:cNvSpPr/>
          <p:nvPr/>
        </p:nvSpPr>
        <p:spPr>
          <a:xfrm>
            <a:off x="4165092" y="1325880"/>
            <a:ext cx="3840480" cy="502920"/>
          </a:xfrm>
          <a:prstGeom prst="roundRect">
            <a:avLst>
              <a:gd name="adj" fmla="val 49091"/>
            </a:avLst>
          </a:prstGeom>
          <a:solidFill>
            <a:srgbClr val="FFFFFF"/>
          </a:solidFill>
          <a:ln w="12700">
            <a:solidFill>
              <a:srgbClr val="C9D3D6"/>
            </a:solidFill>
            <a:prstDash val="solid"/>
          </a:ln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20540" y="1435608"/>
            <a:ext cx="274320" cy="27432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4668012" y="1325880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AB10 Teil B, Korrektorkarten, M07</a:t>
            </a:r>
            <a:endParaRPr lang="en-US" sz="1600" dirty="0"/>
          </a:p>
        </p:txBody>
      </p:sp>
      <p:sp>
        <p:nvSpPr>
          <p:cNvPr id="12" name="Text 7"/>
          <p:cNvSpPr txBox="1"/>
          <p:nvPr/>
        </p:nvSpPr>
        <p:spPr>
          <a:xfrm>
            <a:off x="548640" y="2148840"/>
            <a:ext cx="11094415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Runde 1: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bearbeitet Fall 1, B Fall 2 – allein, wie in der Prüfung (20 min).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Korrektur: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Hefte tauschen, Korrektorkarte holen, BE vergeben, Kommentar schreiben (10 min).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Feedback: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Korrektor erklärt seine Bewertung (5 min).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Runde 2 – Rollentausch (20 min):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bearbeitet Fall 3, B Fall 4 – drei Teilaufgaben nach Wahl, Rest zu Hause.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Vier Fälle – vier Abi-Klassiker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2567864" cy="3913632"/>
          </a:xfrm>
          <a:prstGeom prst="roundRect">
            <a:avLst>
              <a:gd name="adj" fmla="val 3561"/>
            </a:avLst>
          </a:prstGeom>
          <a:solidFill>
            <a:srgbClr val="F1F7F6"/>
          </a:solidFill>
          <a:ln w="12700">
            <a:solidFill>
              <a:srgbClr val="E4F0E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737360"/>
            <a:ext cx="731520" cy="731520"/>
          </a:xfrm>
          <a:prstGeom prst="ellipse">
            <a:avLst/>
          </a:prstGeom>
          <a:solidFill>
            <a:srgbClr val="0E6455"/>
          </a:solidFill>
          <a:ln w="12700">
            <a:solidFill>
              <a:srgbClr val="0E6455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1874520"/>
            <a:ext cx="457200" cy="4572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22960" y="2651760"/>
            <a:ext cx="2019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0A4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Fall 1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383280"/>
            <a:ext cx="2019224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Trainer-Keller: Eingabewort aus Zustandsfolge, Regel, DEA?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3390824" y="1463040"/>
            <a:ext cx="2567864" cy="3913632"/>
          </a:xfrm>
          <a:prstGeom prst="roundRect">
            <a:avLst>
              <a:gd name="adj" fmla="val 3561"/>
            </a:avLst>
          </a:prstGeom>
          <a:solidFill>
            <a:srgbClr val="F1F7F6"/>
          </a:solidFill>
          <a:ln w="12700">
            <a:solidFill>
              <a:srgbClr val="E4F0E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665144" y="1737360"/>
            <a:ext cx="731520" cy="731520"/>
          </a:xfrm>
          <a:prstGeom prst="ellipse">
            <a:avLst/>
          </a:prstGeom>
          <a:solidFill>
            <a:srgbClr val="B26A0F"/>
          </a:solidFill>
          <a:ln w="12700">
            <a:solidFill>
              <a:srgbClr val="B26A0F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2304" y="1874520"/>
            <a:ext cx="457200" cy="4572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665144" y="2651760"/>
            <a:ext cx="2019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0A4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Fall 2</a:t>
            </a:r>
            <a:endParaRPr lang="en-US" sz="2100" dirty="0"/>
          </a:p>
        </p:txBody>
      </p:sp>
      <p:sp>
        <p:nvSpPr>
          <p:cNvPr id="12" name="Text 8"/>
          <p:cNvSpPr txBox="1"/>
          <p:nvPr/>
        </p:nvSpPr>
        <p:spPr>
          <a:xfrm>
            <a:off x="3665144" y="3383280"/>
            <a:ext cx="2019224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Landschaften mit Seen: Tabelle, Bedeutung des Kellers, Hügel</a:t>
            </a:r>
            <a:endParaRPr lang="en-US" sz="2000" dirty="0"/>
          </a:p>
        </p:txBody>
      </p:sp>
      <p:sp>
        <p:nvSpPr>
          <p:cNvPr id="13" name="Shape 9"/>
          <p:cNvSpPr/>
          <p:nvPr/>
        </p:nvSpPr>
        <p:spPr>
          <a:xfrm>
            <a:off x="6233008" y="1463040"/>
            <a:ext cx="2567864" cy="3913632"/>
          </a:xfrm>
          <a:prstGeom prst="roundRect">
            <a:avLst>
              <a:gd name="adj" fmla="val 3561"/>
            </a:avLst>
          </a:prstGeom>
          <a:solidFill>
            <a:srgbClr val="F1F7F6"/>
          </a:solidFill>
          <a:ln w="12700">
            <a:solidFill>
              <a:srgbClr val="E4F0EE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6507328" y="1737360"/>
            <a:ext cx="731520" cy="731520"/>
          </a:xfrm>
          <a:prstGeom prst="ellipse">
            <a:avLst/>
          </a:prstGeom>
          <a:solidFill>
            <a:srgbClr val="0E6455"/>
          </a:solidFill>
          <a:ln w="12700">
            <a:solidFill>
              <a:srgbClr val="0E6455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4488" y="1874520"/>
            <a:ext cx="457200" cy="45720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507328" y="2651760"/>
            <a:ext cx="2019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0A4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Fall 3</a:t>
            </a:r>
            <a:endParaRPr lang="en-US" sz="2100" dirty="0"/>
          </a:p>
        </p:txBody>
      </p:sp>
      <p:sp>
        <p:nvSpPr>
          <p:cNvPr id="17" name="Text 12"/>
          <p:cNvSpPr txBox="1"/>
          <p:nvPr/>
        </p:nvSpPr>
        <p:spPr>
          <a:xfrm>
            <a:off x="6507328" y="3383280"/>
            <a:ext cx="2019224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Prüfnummern, Kriterium V: Keller begründen, ε-Abbau</a:t>
            </a:r>
            <a:endParaRPr lang="en-US" sz="2000" dirty="0"/>
          </a:p>
        </p:txBody>
      </p:sp>
      <p:sp>
        <p:nvSpPr>
          <p:cNvPr id="18" name="Shape 13"/>
          <p:cNvSpPr/>
          <p:nvPr/>
        </p:nvSpPr>
        <p:spPr>
          <a:xfrm>
            <a:off x="9075191" y="1463040"/>
            <a:ext cx="2567864" cy="3913632"/>
          </a:xfrm>
          <a:prstGeom prst="roundRect">
            <a:avLst>
              <a:gd name="adj" fmla="val 3561"/>
            </a:avLst>
          </a:prstGeom>
          <a:solidFill>
            <a:srgbClr val="F1F7F6"/>
          </a:solidFill>
          <a:ln w="12700">
            <a:solidFill>
              <a:srgbClr val="E4F0EE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9349511" y="1737360"/>
            <a:ext cx="731520" cy="731520"/>
          </a:xfrm>
          <a:prstGeom prst="ellipse">
            <a:avLst/>
          </a:prstGeom>
          <a:solidFill>
            <a:srgbClr val="B26A0F"/>
          </a:solidFill>
          <a:ln w="12700">
            <a:solidFill>
              <a:srgbClr val="B26A0F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86671" y="1874520"/>
            <a:ext cx="457200" cy="45720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9349511" y="2651760"/>
            <a:ext cx="2019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0A4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Fall 4</a:t>
            </a:r>
            <a:endParaRPr lang="en-US" sz="2100" dirty="0"/>
          </a:p>
        </p:txBody>
      </p:sp>
      <p:sp>
        <p:nvSpPr>
          <p:cNvPr id="22" name="Text 16"/>
          <p:cNvSpPr txBox="1"/>
          <p:nvPr/>
        </p:nvSpPr>
        <p:spPr>
          <a:xfrm>
            <a:off x="9349511" y="3383280"/>
            <a:ext cx="2019224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Kartoffel-Protokolle: Keller als Restbetrag, Preisänderung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Rückwärts: Eingabewort bestimmen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17320"/>
            <a:ext cx="6339535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4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Spalte für Spalte vergleichen: Was wurde </a:t>
            </a:r>
            <a:r>
              <a:rPr lang="en-US" sz="24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entfernt</a:t>
            </a:r>
            <a:r>
              <a:rPr lang="en-US" sz="24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was </a:t>
            </a:r>
            <a:r>
              <a:rPr lang="en-US" sz="24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abgelegt</a:t>
            </a:r>
            <a:r>
              <a:rPr lang="en-US" sz="24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24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4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 </a:t>
            </a:r>
            <a:r>
              <a:rPr lang="en-US" sz="24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passenden Übergang</a:t>
            </a:r>
            <a:r>
              <a:rPr lang="en-US" sz="24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im Graphen suchen – Zustand </a:t>
            </a:r>
            <a:r>
              <a:rPr lang="en-US" sz="24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</a:t>
            </a:r>
            <a:r>
              <a:rPr lang="en-US" sz="24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Belegung müssen stimmen.</a:t>
            </a:r>
            <a:endParaRPr lang="en-US" sz="24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4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Belegung unverändert? Zeichen, das nur liest (z. B. 1, _) – </a:t>
            </a:r>
            <a:r>
              <a:rPr lang="en-US" sz="24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oder</a:t>
            </a:r>
            <a:r>
              <a:rPr lang="en-US" sz="24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ε-Übergang (Zustandswechsel!).</a:t>
            </a:r>
            <a:endParaRPr lang="en-US" sz="24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4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Zum Schluss das Wort </a:t>
            </a:r>
            <a:r>
              <a:rPr lang="en-US" sz="24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vorwärts</a:t>
            </a:r>
            <a:r>
              <a:rPr lang="en-US" sz="24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durchspielen (Probe).</a:t>
            </a:r>
            <a:endParaRPr lang="en-US" sz="2400" dirty="0"/>
          </a:p>
        </p:txBody>
      </p:sp>
      <p:pic>
        <p:nvPicPr>
          <p:cNvPr id="4" name="Image 0" descr="/home/user/AutomatenLab/materials/build/img/ds10/spielfel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53935" y="2882222"/>
            <a:ext cx="4389120" cy="1825077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Keller-Labor: Rückwärts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3840480" cy="4206240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19050">
            <a:solidFill>
              <a:srgbClr val="0E6455"/>
            </a:solidFill>
            <a:prstDash val="dash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7280" y="1828800"/>
            <a:ext cx="2743200" cy="27432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480060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4846320" y="1737360"/>
            <a:ext cx="6796735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B26A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AutomatenLab</a:t>
            </a:r>
            <a:endParaRPr lang="en-US" sz="1800" dirty="0"/>
          </a:p>
          <a:p>
            <a:pPr indent="0" marL="0">
              <a:buNone/>
            </a:pPr>
            <a:r>
              <a:rPr lang="en-US" sz="3400" b="1" dirty="0">
                <a:solidFill>
                  <a:srgbClr val="0A4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Keller-Labor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800" dirty="0"/>
          </a:p>
          <a:p>
            <a:pPr indent="0" marL="0">
              <a:buNone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für schnelle Tandems: Aus der Folge von Zuständen und Kellerbelegungen das Eingabewort bestimmen. Über die Navigation unten den Automaten wechseln: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Prüfnummern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Palindrome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O/X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4846320" y="530352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7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https://automatenlab.frankjuchim.de/#/keller?automat=anbn&amp;modus=rueckwaerts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0120" y="2148840"/>
            <a:ext cx="1737360" cy="1737360"/>
          </a:xfrm>
          <a:prstGeom prst="ellipse">
            <a:avLst/>
          </a:prstGeom>
          <a:solidFill>
            <a:srgbClr val="B26A0F"/>
          </a:solidFill>
          <a:ln w="12700">
            <a:solidFill>
              <a:srgbClr val="B26A0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0" y="2560320"/>
            <a:ext cx="914400" cy="9144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3017520" y="17830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3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Sicherung</a:t>
            </a:r>
            <a:endParaRPr lang="en-US" sz="20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3017520" y="23774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Typische Fehler &amp; Boss-Level B</a:t>
            </a:r>
            <a:endParaRPr lang="en-US" sz="4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Typische Fehler aus der Werkstatt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2567864" cy="4480560"/>
          </a:xfrm>
          <a:prstGeom prst="roundRect">
            <a:avLst>
              <a:gd name="adj" fmla="val 3561"/>
            </a:avLst>
          </a:prstGeom>
          <a:solidFill>
            <a:srgbClr val="F1F7F6"/>
          </a:solidFill>
          <a:ln w="12700">
            <a:solidFill>
              <a:srgbClr val="E4F0E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737360"/>
            <a:ext cx="731520" cy="731520"/>
          </a:xfrm>
          <a:prstGeom prst="ellipse">
            <a:avLst/>
          </a:prstGeom>
          <a:solidFill>
            <a:srgbClr val="0E6455"/>
          </a:solidFill>
          <a:ln w="12700">
            <a:solidFill>
              <a:srgbClr val="0E6455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1874520"/>
            <a:ext cx="457200" cy="4572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22960" y="2651760"/>
            <a:ext cx="2019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0A4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Zu vage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383280"/>
            <a:ext cx="2019224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„Speichert Zeichen“ reicht nicht: </a:t>
            </a:r>
            <a:r>
              <a:rPr lang="en-US" sz="20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</a:t>
            </a:r>
            <a:r>
              <a:rPr lang="en-US" sz="2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bedeutet ein Kellerzeichen, wann wird es abgelegt?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3390824" y="1463040"/>
            <a:ext cx="2567864" cy="4480560"/>
          </a:xfrm>
          <a:prstGeom prst="roundRect">
            <a:avLst>
              <a:gd name="adj" fmla="val 3561"/>
            </a:avLst>
          </a:prstGeom>
          <a:solidFill>
            <a:srgbClr val="F1F7F6"/>
          </a:solidFill>
          <a:ln w="12700">
            <a:solidFill>
              <a:srgbClr val="E4F0E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665144" y="1737360"/>
            <a:ext cx="731520" cy="731520"/>
          </a:xfrm>
          <a:prstGeom prst="ellipse">
            <a:avLst/>
          </a:prstGeom>
          <a:solidFill>
            <a:srgbClr val="B26A0F"/>
          </a:solidFill>
          <a:ln w="12700">
            <a:solidFill>
              <a:srgbClr val="B26A0F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2304" y="1874520"/>
            <a:ext cx="457200" cy="4572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665144" y="2651760"/>
            <a:ext cx="2019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0A4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Falsch geraten = abgelehnt</a:t>
            </a:r>
            <a:endParaRPr lang="en-US" sz="2100" dirty="0"/>
          </a:p>
        </p:txBody>
      </p:sp>
      <p:sp>
        <p:nvSpPr>
          <p:cNvPr id="12" name="Text 8"/>
          <p:cNvSpPr txBox="1"/>
          <p:nvPr/>
        </p:nvSpPr>
        <p:spPr>
          <a:xfrm>
            <a:off x="3665144" y="3383280"/>
            <a:ext cx="2019224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Beim NKA genügt </a:t>
            </a:r>
            <a:r>
              <a:rPr lang="en-US" sz="20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</a:t>
            </a:r>
            <a:r>
              <a:rPr lang="en-US" sz="2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akzeptierender Lauf.</a:t>
            </a:r>
            <a:endParaRPr lang="en-US" sz="2000" dirty="0"/>
          </a:p>
        </p:txBody>
      </p:sp>
      <p:sp>
        <p:nvSpPr>
          <p:cNvPr id="13" name="Shape 9"/>
          <p:cNvSpPr/>
          <p:nvPr/>
        </p:nvSpPr>
        <p:spPr>
          <a:xfrm>
            <a:off x="6233008" y="1463040"/>
            <a:ext cx="2567864" cy="4480560"/>
          </a:xfrm>
          <a:prstGeom prst="roundRect">
            <a:avLst>
              <a:gd name="adj" fmla="val 3561"/>
            </a:avLst>
          </a:prstGeom>
          <a:solidFill>
            <a:srgbClr val="F1F7F6"/>
          </a:solidFill>
          <a:ln w="12700">
            <a:solidFill>
              <a:srgbClr val="E4F0EE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6507328" y="1737360"/>
            <a:ext cx="731520" cy="731520"/>
          </a:xfrm>
          <a:prstGeom prst="ellipse">
            <a:avLst/>
          </a:prstGeom>
          <a:solidFill>
            <a:srgbClr val="0E6455"/>
          </a:solidFill>
          <a:ln w="12700">
            <a:solidFill>
              <a:srgbClr val="0E6455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4488" y="1874520"/>
            <a:ext cx="457200" cy="45720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507328" y="2651760"/>
            <a:ext cx="2019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0A4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ε übersehen</a:t>
            </a:r>
            <a:endParaRPr lang="en-US" sz="2100" dirty="0"/>
          </a:p>
        </p:txBody>
      </p:sp>
      <p:sp>
        <p:nvSpPr>
          <p:cNvPr id="17" name="Text 12"/>
          <p:cNvSpPr txBox="1"/>
          <p:nvPr/>
        </p:nvSpPr>
        <p:spPr>
          <a:xfrm>
            <a:off x="6507328" y="3383280"/>
            <a:ext cx="2019224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Unveränderte Belegung kann ein ε-Übergang sein.</a:t>
            </a:r>
            <a:endParaRPr lang="en-US" sz="2000" dirty="0"/>
          </a:p>
        </p:txBody>
      </p:sp>
      <p:sp>
        <p:nvSpPr>
          <p:cNvPr id="18" name="Shape 13"/>
          <p:cNvSpPr/>
          <p:nvPr/>
        </p:nvSpPr>
        <p:spPr>
          <a:xfrm>
            <a:off x="9075191" y="1463040"/>
            <a:ext cx="2567864" cy="4480560"/>
          </a:xfrm>
          <a:prstGeom prst="roundRect">
            <a:avLst>
              <a:gd name="adj" fmla="val 3561"/>
            </a:avLst>
          </a:prstGeom>
          <a:solidFill>
            <a:srgbClr val="F1F7F6"/>
          </a:solidFill>
          <a:ln w="12700">
            <a:solidFill>
              <a:srgbClr val="E4F0EE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9349511" y="1737360"/>
            <a:ext cx="731520" cy="731520"/>
          </a:xfrm>
          <a:prstGeom prst="ellipse">
            <a:avLst/>
          </a:prstGeom>
          <a:solidFill>
            <a:srgbClr val="B26A0F"/>
          </a:solidFill>
          <a:ln w="12700">
            <a:solidFill>
              <a:srgbClr val="B26A0F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86671" y="1874520"/>
            <a:ext cx="457200" cy="45720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9349511" y="2651760"/>
            <a:ext cx="2019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0A4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Immer Keller?</a:t>
            </a:r>
            <a:endParaRPr lang="en-US" sz="2100" dirty="0"/>
          </a:p>
        </p:txBody>
      </p:sp>
      <p:sp>
        <p:nvSpPr>
          <p:cNvPr id="22" name="Text 16"/>
          <p:cNvSpPr txBox="1"/>
          <p:nvPr/>
        </p:nvSpPr>
        <p:spPr>
          <a:xfrm>
            <a:off x="9349511" y="3383280"/>
            <a:ext cx="2019224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Feste Grenze (Preis, Tiefe) ⇒ ein DEA genügt.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Merke: Kellerautomaten im Abitur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09160"/>
          </a:xfrm>
          <a:prstGeom prst="roundRect">
            <a:avLst>
              <a:gd name="adj" fmla="val 1942"/>
            </a:avLst>
          </a:prstGeom>
          <a:solidFill>
            <a:srgbClr val="F8ECDB"/>
          </a:solidFill>
          <a:ln w="19050">
            <a:solidFill>
              <a:srgbClr val="B26A0F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645920"/>
            <a:ext cx="502920" cy="5029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554480" y="1645920"/>
            <a:ext cx="9814255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Dokumentieren: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Tabelle Zeile für Zeile, bei NKA ein akzeptierender Lauf</a:t>
            </a:r>
            <a:endParaRPr lang="en-US" sz="22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Erläutern (Keller):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Bedeutung der Kellerzeichen + Ablegen/Entfernen + Abschlussprüfung</a:t>
            </a:r>
            <a:endParaRPr lang="en-US" sz="22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Bestimmen (Eingabewort):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rückwärts über Belegungsänderungen, Probe vorwärts</a:t>
            </a:r>
            <a:endParaRPr lang="en-US" sz="22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Begründen/Untersuchen: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unbeschränkt ⇒ Keller nötig; beschränkt ⇒ DEA genügt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73152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Zum Mitnehmen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737360"/>
            <a:ext cx="105156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DKA vs. NKA: Mitte raten mit ε</a:t>
            </a:r>
            <a:endParaRPr lang="en-US" sz="22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Akzeptanz: es gibt eine Möglichkeit</a:t>
            </a:r>
            <a:endParaRPr lang="en-US" sz="22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Rückwärts-Aufgaben und Bedeutung des Kellers</a:t>
            </a:r>
            <a:endParaRPr lang="en-US" sz="22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Grenze aⁿbⁿcⁿ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640080" y="4846320"/>
            <a:ext cx="10911535" cy="1280160"/>
          </a:xfrm>
          <a:prstGeom prst="roundRect">
            <a:avLst>
              <a:gd name="adj" fmla="val 8571"/>
            </a:avLst>
          </a:prstGeom>
          <a:solidFill>
            <a:srgbClr val="0A4A3F"/>
          </a:solidFill>
          <a:ln w="12700">
            <a:solidFill>
              <a:srgbClr val="0A4A3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4956048"/>
            <a:ext cx="1036289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3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Hausaufgabe</a:t>
            </a:r>
            <a:endParaRPr lang="en-US" sz="1500" dirty="0"/>
          </a:p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Werkstatt-Fälle fertigstellen (Korrektorkarten). Boss-Level B „Tags im Web-Editor“ (25 BE) bis nächste Woche.</a:t>
            </a:r>
            <a:endParaRPr lang="en-US" sz="1500" dirty="0"/>
          </a:p>
        </p:txBody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640080" y="2011680"/>
            <a:ext cx="87782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endParaRPr lang="en-US" sz="4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utomaten LK">
  <a:themeElements>
    <a:clrScheme name="Automaten LK">
      <a:dk1>
        <a:srgbClr val="1F2A2E"/>
      </a:dk1>
      <a:lt1>
        <a:srgbClr val="FFFFFF"/>
      </a:lt1>
      <a:dk2>
        <a:srgbClr val="0E6455"/>
      </a:dk2>
      <a:lt2>
        <a:srgbClr val="E4F0EE"/>
      </a:lt2>
      <a:accent1>
        <a:srgbClr val="0E6455"/>
      </a:accent1>
      <a:accent2>
        <a:srgbClr val="B26A0F"/>
      </a:accent2>
      <a:accent3>
        <a:srgbClr val="3E8E7E"/>
      </a:accent3>
      <a:accent4>
        <a:srgbClr val="D9A45B"/>
      </a:accent4>
      <a:accent5>
        <a:srgbClr val="5B6770"/>
      </a:accent5>
      <a:accent6>
        <a:srgbClr val="A83232"/>
      </a:accent6>
      <a:hlink>
        <a:srgbClr val="0E6455"/>
      </a:hlink>
      <a:folHlink>
        <a:srgbClr val="0A4A3F"/>
      </a:folHlink>
    </a:clrScheme>
    <a:fontScheme name="Automaten LK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Max-Planck-Gymnasium Delmenhorst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Keller-Profis</dc:title>
  <dc:subject>PptxGenJS Presentation</dc:subject>
  <dc:creator>Frank Juchim</dc:creator>
  <cp:lastModifiedBy>Frank Juchim</cp:lastModifiedBy>
  <cp:revision>1</cp:revision>
  <dcterms:created xsi:type="dcterms:W3CDTF">2026-10-12T09:28:37Z</dcterms:created>
  <dcterms:modified xsi:type="dcterms:W3CDTF">2026-10-12T09:28:37Z</dcterms:modified>
</cp:coreProperties>
</file>