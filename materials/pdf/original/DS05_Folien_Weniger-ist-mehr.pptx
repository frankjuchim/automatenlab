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e78e07fa-7f28-9cc8-12b8-50dac6cb4b69}">
          <p14:sldIdLst>
            <p14:sldId id="256"/>
          </p14:sldIdLst>
        </p14:section>
        <p14:section name="Einstieg" id="{f6b50b33-c777-df15-f9b4-c0911bbcfcf4}">
          <p14:sldIdLst>
            <p14:sldId id="257"/>
            <p14:sldId id="258"/>
            <p14:sldId id="259"/>
            <p14:sldId id="260"/>
          </p14:sldIdLst>
        </p14:section>
        <p14:section name="Erarbeitung" id="{68319f62-71e1-b687-e10d-444bf8b57194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Übung" id="{02a0c232-490f-6489-b46b-ebe31f12ec4f}">
          <p14:sldIdLst>
            <p14:sldId id="270"/>
            <p14:sldId id="271"/>
            <p14:sldId id="272"/>
          </p14:sldIdLst>
        </p14:section>
        <p14:section name="Sicherung" id="{9eca6822-8621-af4b-6079-70dcc6fb9034}">
          <p14:sldIdLst>
            <p14:sldId id="273"/>
            <p14:sldId id="274"/>
          </p14:sldIdLst>
        </p14:section>
        <p14:section name="Abschluss" id="{f2401868-e6e3-f5c6-f1ed-d272f89425b8}">
          <p14:sldIdLst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5: Nach dem Entwickeln (Level 3–4) geht es jetzt ums Optimieren und Begründen. Im Abitur regelmäßig gefragt: Zustände zusammenfassen, Mindestzahl begründen.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Kurz sammeln: „besser“ = weniger Zustände bei gleicher Sprache (weniger Speicher, übersichtlicher). Dann die Automaten zeigen.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Hier mit Fehlerzustand gezeichnet, damit die Zustandszahl sichtbar ist. Frage: Was passiert von S3 und von S4 aus mit jedem weiteren Zeichen? → beide in F_err.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Ziel: Kein Wort unterscheidet S3 und S4 → zusammenfassen. Dagegen S1 und S2: Wort -) führt von S1 aus nach S3 (✓), von S2 aus in den Fehlerzustand.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 Merkblatt M03 mitlesen lassen. Betonen: Es geht um das Akzeptanzverhalten, nicht um die konkreten Folgezustände.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Wörter wurden mit dem Code (Breitensuche) bestimmt. SuS zuerst selbst suchen lassen, dann aufdecken.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Begründung, warum das funktioniert: Jede Markierung trägt ein unterscheidendes Wort (Zeichen + Wort des Folgepaares). Was nie markiert wird, kann kein Wort unterscheiden.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Unterscheidendes Wort ist jeweils 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Für jedes freie Paar jedes Zeichen prüfen. In Runde 1 zählen nur Markierungen aus Runde 0 (Ergebnis wie in der App).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Unterscheidende Wörter rückwärts lesen: (S1, S2) über - und dann ) ⇒ Wort -).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minimale DEA ist bis auf die Namen der Zustände eindeutig (Satz von Myhill-Nerode, nur als Ausblick).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Abi 2024 eA B c: „Begründen Sie, dass sich die Anzahl der Zustände … um mindestens 5 erhöht.“ Vorgehen: paarweise unterscheidbare Präfixe. Kontrolle: ε/: durch :), : und :- durch ), :) Endzustand, :: nie mehr akzeptierbar.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Zwischensicherung zu 3a nach ca. 20 Minuten: Begründungsmuster mit unterscheidendem Wort.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Weitere Aufgaben: ?aufgabe=1 (Smiley), ?aufgabe=7 (Prüfnummern, Abi 2025), Spiel: ?modus=unterscheide.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Steht so auch im Merkblatt M03 (Abschnitt Abi-Check).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0E64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">
    <p:bg>
      <p:bgPr>
        <a:solidFill>
          <a:srgbClr val="0A4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5 · Welt A · Endliche Automaten · Zusatz (über das KC hinaus)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985455" y="64739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 BY-SA 4.0 · Frank Juchim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UFTRAG">
    <p:bg>
      <p:bgPr>
        <a:solidFill>
          <a:srgbClr val="F1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5 · Welt A · Endliche Automaten · Zusatz (über das KC hinaus)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985455" y="64739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 BY-SA 4.0 · Frank Juchim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34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Informatik · Zusatz  ·  Level 5  ·  Welt A: Endliche Automaten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Weniger ist mehr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79476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D7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Minimierung, Unterscheidbarkeit und die Mindestzahl von Zuständen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4709160"/>
            <a:ext cx="8961120" cy="1143000"/>
          </a:xfrm>
          <a:prstGeom prst="roundRect">
            <a:avLst>
              <a:gd name="adj" fmla="val 9600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4828032"/>
            <a:ext cx="8595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Kernfrage</a:t>
            </a:r>
            <a:endParaRPr lang="en-US" sz="1400" dirty="0"/>
          </a:p>
          <a:p>
            <a:pPr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Wann sind zwei Zustände „gleich“ – und wie viele Zustände braucht ein Automat mindestens?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058400" y="128016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0" y="1280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S0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10881360" y="274320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881360" y="27432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058400" y="420624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F3D9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149840" y="4297680"/>
            <a:ext cx="822960" cy="822960"/>
          </a:xfrm>
          <a:prstGeom prst="ellipse">
            <a:avLst/>
          </a:prstGeom>
          <a:solidFill>
            <a:srgbClr val="0E6455"/>
          </a:solidFill>
          <a:ln w="19050">
            <a:solidFill>
              <a:srgbClr val="F3D9B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0" y="42062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S2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0835640" y="2194560"/>
            <a:ext cx="411480" cy="56692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H="1">
            <a:off x="10835640" y="3657600"/>
            <a:ext cx="411480" cy="56692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Einstieg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Zwei Smiley-Erkenner</a:t>
            </a:r>
            <a:endParaRPr lang="en-US" sz="4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600200"/>
            <a:ext cx="110944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Zwei Automaten erkennen genau :-) und :) – einer mit sechs, einer mit fünf Zuständen. Welcher ist besser?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Und: Geht es vielleicht noch kleiner?</a:t>
            </a:r>
            <a:endParaRPr lang="en-US" sz="22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A und Team B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371600"/>
            <a:ext cx="531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E6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A: 6 Zustände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828800"/>
            <a:ext cx="531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nach </a:t>
            </a:r>
            <a:r>
              <a:rPr lang="en-US" sz="18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:-)</a:t>
            </a:r>
            <a:r>
              <a:rPr lang="en-US" sz="1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S4 nach </a:t>
            </a:r>
            <a:r>
              <a:rPr lang="en-US" sz="18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:)</a:t>
            </a:r>
            <a:r>
              <a:rPr lang="en-US" sz="1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F_err = Fehlerzustand</a:t>
            </a:r>
            <a:endParaRPr lang="en-US" sz="1800" dirty="0"/>
          </a:p>
        </p:txBody>
      </p:sp>
      <p:pic>
        <p:nvPicPr>
          <p:cNvPr id="6" name="Image 0" descr="/home/user/AutomatenLab/materials/build/img/ds05/smiley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041418"/>
            <a:ext cx="5318608" cy="242108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324448" y="1371600"/>
            <a:ext cx="531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26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B: 5 Zustände</a:t>
            </a:r>
            <a:endParaRPr lang="en-US" sz="2200" dirty="0"/>
          </a:p>
        </p:txBody>
      </p:sp>
      <p:sp>
        <p:nvSpPr>
          <p:cNvPr id="8" name="Text 4"/>
          <p:cNvSpPr txBox="1"/>
          <p:nvPr/>
        </p:nvSpPr>
        <p:spPr>
          <a:xfrm>
            <a:off x="6324448" y="1828800"/>
            <a:ext cx="531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Smileys enden in S3</a:t>
            </a:r>
            <a:endParaRPr lang="en-US" sz="1800" dirty="0"/>
          </a:p>
        </p:txBody>
      </p:sp>
      <p:pic>
        <p:nvPicPr>
          <p:cNvPr id="9" name="Image 1" descr="/home/user/AutomatenLab/materials/build/img/ds05/smiley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448" y="2776364"/>
            <a:ext cx="5318608" cy="295119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600200"/>
            <a:ext cx="110944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Wann sind zwei Zustände „gleich“?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von S3 und S4 aus: ε, </a:t>
            </a:r>
            <a:r>
              <a:rPr lang="en-US" sz="22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2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:-)</a:t>
            </a: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… – gibt es ein Wort, bei dem sie sich anders verhalten?</a:t>
            </a:r>
            <a:endParaRPr lang="en-US" sz="22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Erarbeitung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Unterscheidbar oder äquivalent?</a:t>
            </a:r>
            <a:endParaRPr lang="en-US" sz="4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Unterscheidbarkeit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973775" cy="4709160"/>
          </a:xfrm>
          <a:prstGeom prst="roundRect">
            <a:avLst>
              <a:gd name="adj" fmla="val 1942"/>
            </a:avLst>
          </a:prstGeom>
          <a:solidFill>
            <a:srgbClr val="F8ECDB"/>
          </a:solidFill>
          <a:ln w="19050">
            <a:solidFill>
              <a:srgbClr val="B26A0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4592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645920"/>
            <a:ext cx="4693615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und q sind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unterscheidbar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wenn ein Wort w von p aus in einen Endzustand führt, von q aus aber nicht (oder umgekehrt).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 heißt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unterscheidendes Wort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Gibt es kein solches Wort, sind p und q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äquivalent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⇒ zusammenfassen.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 und Nicht-Endzustand: immer unterscheidbar (Wort ε).</a:t>
            </a:r>
            <a:endParaRPr lang="en-US" sz="2200" dirty="0"/>
          </a:p>
        </p:txBody>
      </p:sp>
      <p:pic>
        <p:nvPicPr>
          <p:cNvPr id="6" name="Image 1" descr="/home/user/AutomatenLab/materials/build/img/ds05/smiley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8175" y="2689665"/>
            <a:ext cx="4754880" cy="216447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Unterscheidende Wörter im Smiley-Automaten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657600"/>
                <a:gridCol w="55778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kürzestes unterscheidendes Wort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Begründung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(S3, S0)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 ist Endzustand, S0 nicht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(S0, S1)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 –)→ S4 ✓   ·   S0 –)→ F_err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(S1, S2)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 –-→ S2 –)→ S3 ✓   ·   S2 –-→ F_err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(S0, F_err)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:)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 –:→ S1 –)→ S4 ✓   ·   F_err bleibt F_err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(S3, S4)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 keins –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äquivalent: jedes Zeichen führt nach F_err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Markierungsverfahren in vier Schritten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567864" cy="4480560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737360"/>
            <a:ext cx="731520" cy="731520"/>
          </a:xfrm>
          <a:prstGeom prst="ellipse">
            <a:avLst/>
          </a:prstGeom>
          <a:solidFill>
            <a:srgbClr val="0E6455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 Tabelle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383280"/>
            <a:ext cx="201922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Zustandspaare in eine Dreieckstabelle (Automat vollständig, ggf. mit Fehlerzustand).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3390824" y="1463040"/>
            <a:ext cx="2567864" cy="4480560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65144" y="1737360"/>
            <a:ext cx="731520" cy="73152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2304" y="187452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65144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 Runde 0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3665144" y="3383280"/>
            <a:ext cx="201922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Markiere alle Paare aus End- und Nicht-Endzustand.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6233008" y="1463040"/>
            <a:ext cx="2567864" cy="4480560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507328" y="1737360"/>
            <a:ext cx="731520" cy="731520"/>
          </a:xfrm>
          <a:prstGeom prst="ellipse">
            <a:avLst/>
          </a:prstGeom>
          <a:solidFill>
            <a:srgbClr val="0E6455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4488" y="1874520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507328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 Folgepaare</a:t>
            </a:r>
            <a:endParaRPr lang="en-US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6507328" y="3383280"/>
            <a:ext cx="201922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Führt ein Zeichen ein freies Paar in ein markiertes Paar? Dann markieren. Wiederholen, bis sich nichts ändert.</a:t>
            </a:r>
            <a:endParaRPr lang="en-US" sz="1900" dirty="0"/>
          </a:p>
        </p:txBody>
      </p:sp>
      <p:sp>
        <p:nvSpPr>
          <p:cNvPr id="18" name="Shape 13"/>
          <p:cNvSpPr/>
          <p:nvPr/>
        </p:nvSpPr>
        <p:spPr>
          <a:xfrm>
            <a:off x="9075191" y="1463040"/>
            <a:ext cx="2567864" cy="4480560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349511" y="1737360"/>
            <a:ext cx="731520" cy="73152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6671" y="1874520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349511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 Verschmelzen</a:t>
            </a:r>
            <a:endParaRPr lang="en-US" sz="2100" dirty="0"/>
          </a:p>
        </p:txBody>
      </p:sp>
      <p:sp>
        <p:nvSpPr>
          <p:cNvPr id="22" name="Text 16"/>
          <p:cNvSpPr txBox="1"/>
          <p:nvPr/>
        </p:nvSpPr>
        <p:spPr>
          <a:xfrm>
            <a:off x="9349511" y="3383280"/>
            <a:ext cx="201922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Freie Paare sind äquivalent: Zustände zusammenfassen.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Runde 0: End- gegen Nicht-Endzustand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531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E6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Runde 0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57400"/>
            <a:ext cx="5318608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Endzustände: S3, S4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Jedes Paar mit genau einem Endzustand: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X₀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Paare markiert</a:t>
            </a:r>
            <a:endParaRPr lang="en-US" sz="2200" dirty="0"/>
          </a:p>
        </p:txBody>
      </p:sp>
      <p:pic>
        <p:nvPicPr>
          <p:cNvPr id="5" name="Image 0" descr="/home/user/AutomatenLab/materials/build/img/ds05/smiley_runde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24448" y="1463040"/>
            <a:ext cx="5318608" cy="442493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Runde 1: Folgepaare prüfen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531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E6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Runde 1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57400"/>
            <a:ext cx="5318608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(S0, S1) mit „)“ → (S4, F_err): markiert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(S0, S2), (S1, F_err), (S2, F_err) ebenso mit „)“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(S1, S2) mit „)“ → (S3, S4):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noch frei</a:t>
            </a:r>
            <a:endParaRPr lang="en-US" sz="2200" dirty="0"/>
          </a:p>
        </p:txBody>
      </p:sp>
      <p:pic>
        <p:nvPicPr>
          <p:cNvPr id="5" name="Image 0" descr="/home/user/AutomatenLab/materials/build/img/ds05/smiley_rund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24448" y="1463040"/>
            <a:ext cx="5318608" cy="442493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Runde 2: weiter, bis nichts mehr passiert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531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E6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Runde 2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57400"/>
            <a:ext cx="5318608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(S1, S2) mit „-“ → (S2, F_err): markiert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(S0, F_err) mit „:“ → (S1, F_err): markiert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Runde 3: keine neue Markierung ⇒ fertig</a:t>
            </a:r>
            <a:endParaRPr lang="en-US" sz="2200" dirty="0"/>
          </a:p>
        </p:txBody>
      </p:sp>
      <p:pic>
        <p:nvPicPr>
          <p:cNvPr id="5" name="Image 0" descr="/home/user/AutomatenLab/materials/build/img/ds05/smiley_rund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24448" y="1463040"/>
            <a:ext cx="5318608" cy="442493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Ergebnis: S3 und S4 zusammenfassen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1732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(S3, S4)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bleibt frei: S3 ≡ S4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 einem Zustand verschmelzen; Pfeile nach S4 zeigen jetzt auf S3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Ergebnis: Automat von Team B –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</a:t>
            </a:r>
            <a:endParaRPr lang="en-US" sz="2200" dirty="0"/>
          </a:p>
        </p:txBody>
      </p:sp>
      <p:pic>
        <p:nvPicPr>
          <p:cNvPr id="5" name="Image 0" descr="/home/user/AutomatenLab/materials/build/img/ds05/smiley_runde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3749040"/>
            <a:ext cx="2967504" cy="2468880"/>
          </a:xfrm>
          <a:prstGeom prst="rect">
            <a:avLst/>
          </a:prstGeom>
        </p:spPr>
      </p:pic>
      <p:pic>
        <p:nvPicPr>
          <p:cNvPr id="6" name="Image 1" descr="/home/user/AutomatenLab/materials/build/img/ds05/smiley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8015" y="2074676"/>
            <a:ext cx="6035040" cy="334872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viele Zustände braucht man mindestens?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615665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Automat mit n Zuständen zeigt nur: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höchstens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 sind nötig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Mindestens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n: Finde n Eingaben, die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paarweise unterscheidbar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sind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Dann muss der Automat nach ihnen in n verschiedenen Zuständen sein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Smiley: ε, </a:t>
            </a:r>
            <a:r>
              <a:rPr lang="en-US" sz="24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4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:-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4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:)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4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::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sind paarweise unterscheidbar ⇒ mindestens 5</a:t>
            </a:r>
            <a:endParaRPr lang="en-US" sz="2400" dirty="0"/>
          </a:p>
        </p:txBody>
      </p:sp>
      <p:pic>
        <p:nvPicPr>
          <p:cNvPr id="4" name="Image 0" descr="/home/user/AutomatenLab/materials/build/img/ds05/smiley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71055" y="2526303"/>
            <a:ext cx="4572000" cy="253691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Arbeitsblatt Level 5</a:t>
            </a:r>
            <a:endParaRPr lang="en-US" sz="4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Auftrag: AB05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31673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435608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22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min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2093976" y="1325880"/>
            <a:ext cx="236829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424" y="1435608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96896" y="1325880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Einzel → Partner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4690872" y="1325880"/>
            <a:ext cx="2683764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435608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193792" y="1325880"/>
            <a:ext cx="20894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AB05, Merkblatt M03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2148840"/>
            <a:ext cx="79854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1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(Basis): unterscheidende Wörter und äquivalente Zustände.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2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Markierungsverfahren – kontrolliere in der App.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Aufgaben 3 und 4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Abi-Transfer (Begründen, Zusammenfassen).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Profis: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5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(Mindestzahl) und „Unterscheide!“.</a:t>
            </a:r>
            <a:endParaRPr lang="en-US" sz="2200" dirty="0"/>
          </a:p>
        </p:txBody>
      </p:sp>
      <p:sp>
        <p:nvSpPr>
          <p:cNvPr id="13" name="Shape 8"/>
          <p:cNvSpPr/>
          <p:nvPr/>
        </p:nvSpPr>
        <p:spPr>
          <a:xfrm>
            <a:off x="8808415" y="2148840"/>
            <a:ext cx="2834640" cy="356616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9050">
            <a:solidFill>
              <a:srgbClr val="0E6455"/>
            </a:solidFill>
            <a:prstDash val="dash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335" y="2377440"/>
            <a:ext cx="1828800" cy="18288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945575" y="438912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A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Minimierer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Minimierer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840480" cy="42062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9050">
            <a:solidFill>
              <a:srgbClr val="0E6455"/>
            </a:solidFill>
            <a:prstDash val="dash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828800"/>
            <a:ext cx="2743200" cy="2743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8006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846320" y="1737360"/>
            <a:ext cx="679673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800" dirty="0"/>
          </a:p>
          <a:p>
            <a:pPr indent="0" marL="0">
              <a:buNone/>
            </a:pPr>
            <a:r>
              <a:rPr lang="en-US" sz="34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Minimierer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Markierungsverfahren interaktiv: Felder antippen,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Runde prüfen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Folgepaare ansehen. Im Modus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Unterscheide!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findest du unterscheidende Wörter.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846320" y="5303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https://automatenlab.frankjuchim.de/#/minimierer?aufgabe=5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wir heute gelernt haben</a:t>
            </a:r>
            <a:endParaRPr lang="en-US" sz="4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Abi-Check: So begründest du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943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Operator / Frage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Antwortmuster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Begründen Sie, dass sich der Automat nach u und v in verschiedenen Zuständen befinden muss.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Wort w angeben, für das uw akzeptiert und vw abgelehnt wird (beide Verarbeitungen kurz zeigen).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Untersuchen Sie, inwieweit Zustände zusammengefasst werden können.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Äquivalente Zustände nennen und begründen (Bedeutung oder Markierungsverfahren); für die übrigen Paare unterscheidende Wörter.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Begründen Sie, dass mindestens n Zustände nötig sind.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paarweise unterscheidbare Eingaben angeben, je Paar ein unterscheidendes Wort.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Zum Mitnehmen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10515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Unterscheidbar vs. äquivalent – unterscheidendes Wort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Markierungsverfahren mit der Dreieckstabelle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Äquivalente Zustände zusammenfassen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Mindestzahl mit paarweise unterscheidbaren Eingaben begründen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4846320"/>
            <a:ext cx="10911535" cy="1280160"/>
          </a:xfrm>
          <a:prstGeom prst="roundRect">
            <a:avLst>
              <a:gd name="adj" fmla="val 8571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4956048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Hausaufgabe</a:t>
            </a:r>
            <a:endParaRPr lang="en-US" sz="15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Minimierer, Aufgabe 3 (Barcode mit Ballast): erst im Heft mit Dreieckstabelle, dann in der App prüfen. Gutschein-Automat: begründen, dass er nach dem Zusammenfassen minimal ist.</a:t>
            </a:r>
            <a:endParaRPr lang="en-US" sz="15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utomaten LK">
  <a:themeElements>
    <a:clrScheme name="Automaten LK">
      <a:dk1>
        <a:srgbClr val="1F2A2E"/>
      </a:dk1>
      <a:lt1>
        <a:srgbClr val="FFFFFF"/>
      </a:lt1>
      <a:dk2>
        <a:srgbClr val="0E6455"/>
      </a:dk2>
      <a:lt2>
        <a:srgbClr val="E4F0EE"/>
      </a:lt2>
      <a:accent1>
        <a:srgbClr val="0E6455"/>
      </a:accent1>
      <a:accent2>
        <a:srgbClr val="B26A0F"/>
      </a:accent2>
      <a:accent3>
        <a:srgbClr val="3E8E7E"/>
      </a:accent3>
      <a:accent4>
        <a:srgbClr val="D9A45B"/>
      </a:accent4>
      <a:accent5>
        <a:srgbClr val="5B6770"/>
      </a:accent5>
      <a:accent6>
        <a:srgbClr val="A83232"/>
      </a:accent6>
      <a:hlink>
        <a:srgbClr val="0E6455"/>
      </a:hlink>
      <a:folHlink>
        <a:srgbClr val="0A4A3F"/>
      </a:folHlink>
    </a:clrScheme>
    <a:fontScheme name="Automaten L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Max-Planck-Gymnasium Delmenhorst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Weniger ist mehr</dc:title>
  <dc:subject>PptxGenJS Presentation</dc:subject>
  <dc:creator>Frank Juchim</dc:creator>
  <cp:lastModifiedBy>Frank Juchim</cp:lastModifiedBy>
  <cp:revision>1</cp:revision>
  <dcterms:created xsi:type="dcterms:W3CDTF">2026-10-14T16:08:02Z</dcterms:created>
  <dcterms:modified xsi:type="dcterms:W3CDTF">2026-10-14T16:08:02Z</dcterms:modified>
</cp:coreProperties>
</file>