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421d20f-de28-503f-0c5a-e9b7dba33f5a}">
          <p14:sldIdLst>
            <p14:sldId id="256"/>
          </p14:sldIdLst>
        </p14:section>
        <p14:section name="Einstieg" id="{af520c83-e922-cf5a-a4a5-e932a31a52c2}">
          <p14:sldIdLst>
            <p14:sldId id="257"/>
            <p14:sldId id="258"/>
          </p14:sldIdLst>
        </p14:section>
        <p14:section name="Erarbeitung" id="{0a5d92c1-063e-538d-150e-32f160c9245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</p14:sldIdLst>
        </p14:section>
        <p14:section name="Übung" id="{e003fb7e-9dff-90dc-aa05-679b419cb3f7}">
          <p14:sldIdLst>
            <p14:sldId id="267"/>
            <p14:sldId id="272"/>
          </p14:sldIdLst>
        </p14:section>
        <p14:section name="Erarbeitung" id="{18798165-f3cd-58ac-6313-93aaa47f9272}">
          <p14:sldIdLst/>
        </p14:section>
        <p14:section name="Übung" id="{735a7f74-c1d1-49f3-002c-49a1a6469014}">
          <p14:sldIdLst/>
        </p14:section>
        <p14:section name="Abschluss" id="{abca589c-60ee-d37d-9aff-785d7018addb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Letztes Level: Aufgabenbörse (20 min), Turingmaschine (45 min), Abschluss (25 min). Aufgaben der Teams und Papierstreifen bereitlegen.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sammelt zwei gelungene Aufgabenformulierungen für das Plenum. Zeit streng begrenzen.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Vermutungen sammeln. Viele SuS schlagen vor, zwei A pro a abzulegen – dann weiß der Automat beim ersten b nicht, wann die c beginnen.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Überleitung: Statt eines Stapels bekommt die Maschine ein Band, auf dem sie lesen UND schreiben darf.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Vergleich: DEA liest nur (einmal, von links nach rechts); NKA hat zusätzlich einen Stapel; TM darf auf die Eingabe schreiben und sich frei bewegen.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das Merkblatt M11 markieren lassen. Blank gehört zum Bandalphabet Γ, nicht zu 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Schritt für Schritt auf 1011 ausführen (nächste Folie). Dann 111: Übertrag läuft bis vor die Zahl – das Blank wird zur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Kopfposition in eckigen Klammern. Schritt 4: Blank gelesen → Richtungswechsel nach links (S1). Schritte 6–7: Übertrag. Schritt 8: 0 wird zur 1, Halt in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Schnelle Tandems: Aufgabe 4 mit dem Turing-Labor (programm=anbncn). Challenge 1 der App: fehlende Regel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Turing-Labor vorführen (aabbcc, dann aabbc → hält in S2, kein Endzustand).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AB16, Aufgabe 5: Maschine K (2 Einsen) vs. Maschine B (4 Einsen). Im Turing-Labor: programm=biber-2 und biber-3.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Bezug zu DS14: Die Landkarte der Sprachen bekommt ihre äußerste Stufe.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Erzählen, nicht beweisen. AB16, Aufgabe 7: Erläutern und Beurteilen („schnellerer Rechner“ hilft nicht – Unentscheidbarkeit ist keine Frage der Rechenzeit).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Deep-Links: ?programm=binaer-plus-1 | anbncn | biber-2 | biber-3, ?challenge=1 |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Quiz-Ergebnisse anonym; häufige Fehlerfragen kurz besprechen. Lernlandkarte liefert die Agenda für die Wiederholungsstunde.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Welt D · Sprachdesign &amp; Ausblick · Zusatz (über das KC hinaus)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Welt D · Sprachdesign &amp; Ausblick · Zusatz (über das KC hinaus)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· Zusatz  ·  Level 16  ·  Welt D: Sprachdesign &amp; Ausblick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Die Turingmaschine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Aufgabenbörse · Band, Kopf und Übergänge · Church-Turing-These und Halteproblem · Abschluss der Einheit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kann eine Maschine, die auf ihr Band schreiben darf – und gibt es Grenzen, die keine Maschine überwindet?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Aufgabenbörse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Aufgabenbörse: Löst die Aufgabe eines anderen Teams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2115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617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534156" y="1325880"/>
            <a:ext cx="352501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37076" y="1325880"/>
            <a:ext cx="2930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aus Level 15,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Team erhält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Kurzversion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Aufgabe eines anderen Teams.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Löst sie wie im Abitur: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beachten, Notation einhalten, eigenes Blatt.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15 Minuten: Erwartungshorizont vom Autorenteam holen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das Autorenteam (AB16, Aufgabe 1a): Was war klar? Was fehlte?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der Keller an seine Grenze kommt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ein Kellerautomat die Sprache aⁿbⁿcⁿ erkennen?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war kein Problem: Für jedes a ein A auf den Keller, für jedes b eines herunter. Und jetzt kommen noch genauso viele c …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 wird beim Vergleichen verbraucht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den b ist der Keller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Information „wie viele a?“ ist weg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A pro a? Beim ersten b weiß der Automat nicht,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die b aufhören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Anschaulich: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Keller kann nur einmal abgezählt werden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(strenger Beweis: Universität)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fehlt, ist eine Maschine, die ihre Eingabe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und beliebig oft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hin- und herläuft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Alan Turing, 1936: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Turingmaschine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Turingmaschine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Aufbau: Band, Schreib-Lese-Kopf, Zustand</a:t>
            </a:r>
            <a:endParaRPr lang="en-US" sz="3200" dirty="0"/>
          </a:p>
        </p:txBody>
      </p:sp>
      <p:pic>
        <p:nvPicPr>
          <p:cNvPr id="3" name="Image 0" descr="/home/user/AutomatenLab/materials/build/img/ds16/band_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240" y="1463040"/>
            <a:ext cx="9721215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Band ist beidseitig unbegrenzt, leere Felder enthalten das Blank □. Der Kopf liest ein Feld, schreibt und bewegt sich um ein Feld.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Übergang hat drei Teile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(Zustand, gelesenes Zeichen) → (Folgezustand, geschriebenes Zeichen, Bewegung)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(links),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(rechts),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(bleibt stehen)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 im Graphen: „gelesen / geschrieben, Bewegung“, z. B.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0, L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Übergang → die Maschine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 sie in einem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ist die Eingabe akzeptiert; der Bandinhalt ist die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Zustand S0, Kopf auf dem ersten Zeichen der Eingabe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Binärzahl + 1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{0, 1} · S0: ans Ende laufen · S1: Übertrag nach links tragen · S2: fertig</a:t>
            </a:r>
            <a:endParaRPr lang="en-US" sz="1800" dirty="0"/>
          </a:p>
        </p:txBody>
      </p:sp>
      <p:pic>
        <p:nvPicPr>
          <p:cNvPr id="4" name="Image 0" descr="/home/user/AutomatenLab/materials/build/img/ds16/tm_bin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1632"/>
            <a:ext cx="11094415" cy="2863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1011 (= 11) → Ausgabe 1100 (= 12). Was passiert bei 111?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Konfigurationsfolge für 1011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57607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(Kopfposition in eckigen Klammern)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[1] 0 1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[0] 1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[1]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[1]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1 [□]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[1]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/ □,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[1]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[0] 0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[1] 0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1, 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Unplugged: Du bist der Schreib-Lese-Kopf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Papierstreifen-Band, Zustands- und Regelkarten,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liest das Feld unter der Münze vor, radiert, schreibt, schiebt die Münze.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sucht die Regel auf der Regelkarte, sagt sie an, wechselt die Zustandskarte.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jedem Schritt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Rollentausch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Schritte zählen.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„Binärzahl + 1“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ausführen (AB16, Aufgabe 3a), Ergebnis dezimal prüfen.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Dann: eigene Maschine „jedes a wird zu b“ entwerfen und testen (3b).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Turing-Labor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aⁿbⁿcⁿ: Markieren, zurücklaufen, wiederholen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Runde: ein a → X, ein b → Y, ein c → Z, zurück zum letzten X. Sind alle a verbraucht (S0 liest Y), prüft S4, ob nur noch Y und Z folgen.</a:t>
            </a:r>
            <a:endParaRPr lang="en-US" sz="1800" dirty="0"/>
          </a:p>
        </p:txBody>
      </p:sp>
      <p:pic>
        <p:nvPicPr>
          <p:cNvPr id="4" name="Image 0" descr="/home/user/AutomatenLab/materials/build/img/ds16/tm_anbn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109" y="1783080"/>
            <a:ext cx="8827477" cy="3886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Band ist das Gedächtnis: Markierungen bleiben erhalten und können beliebig oft gelesen werden.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Rätsel: Der fleißige Biber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Frage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Maschine mit n Zuständen schreibt auf leerem Band die meisten Einsen – und hält trotzdem?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Bekannt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BB(1) = 1, BB(2) = 4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BB(3) = 6, BB(4) = 13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BB(5) = 4098 (bewiesen 2024)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Unbekannt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BB(6) ≥ 10↑↑15 – eine Zahl, die man nicht mehr ausschreiben kann. Die Biber-Funktion wächst schneller als jede berechenbare Funktion.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Church-Turing-These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Alles, was ein Algorithmus berechnen kann, kann eine Turingmaschine berechnen.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Computer, jede Programmiersprache ist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genauso mächtig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dieses einfache Modell – nicht mächtiger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kein Satz: nicht beweisbar, aber seit 1936 in jedem Fall bestätigt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 ist die Turingmaschine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Modell, um über Berechenbarkeit zu sprechen</a:t>
            </a:r>
            <a:endParaRPr lang="en-US" sz="23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Chomsky-Hierarchie: Typ 3 DEA · Typ 2 NKA · Typ 0 Turingmaschine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Halteproblem – eine Geschichte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Firma verspricht das Programm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Für jedes Programm P sagt es korrekt „hält“ oder „läuft ewig“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Informatikerin baut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TROTZ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 fragt HALT „Halte ich selbst?“ – und tut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Gegenteil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 HALT „hält“ → TROTZ läuft ewig.  Sagt HALT „läuft ewig“ → TROTZ hält sofort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irrt sich in jedem Fall →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kann nicht existieren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Turing, 1936: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Algorithmus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entscheidet für alle Programme, ob sie halten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Grenzen, die keine Maschine überwindet – egal wie schnell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Turing-Labor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 Schritt für Schritt ausführen: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Binärzahl + 1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aⁿbⁿcⁿ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Fleißiger Biber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Band beobachten, eigene Eingaben testen. Challenge: die fehlende Regel ergänzen.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https://automatenlab.frankjuchim.de/#/turing?programm=binaer-plus-1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Abschluss: Quiz, Lernlandkarte, Feedback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9476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Einzelarbeit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70248" y="1325880"/>
            <a:ext cx="320954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73168" y="13258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Lernlandkarte,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 Welt 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der App (8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Lernlandkarte: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jedes Level markieren – sicher / unsicher / noch üben; für jedes „noch üben“ eine konkrete Übung notieren (7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AB16: Was hat geholfen? Was anders? Welche Frage ist offen? (5 min)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Turingmaschine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15665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8764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+ Schreib-Lese-Kopf + endlich viele Zustände; Übergang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(Zustand, gelesen) → (Zustand, geschrieben, L/R/N)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darf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hin- und herlaufen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deshalb schafft sie aⁿbⁿcⁿ, woran der Keller scheitert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Church-Turing-These: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Jeder Algorithmus ist eine Turingmaschine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Halteproblem: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Kein Algorithmus entscheidet für alle Programme, ob sie halten</a:t>
            </a:r>
            <a:endParaRPr lang="en-US" sz="2200" dirty="0"/>
          </a:p>
        </p:txBody>
      </p:sp>
      <p:pic>
        <p:nvPicPr>
          <p:cNvPr id="6" name="Image 1" descr="/home/user/AutomatenLab/materials/build/img/ds16/tm_bin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3181894"/>
            <a:ext cx="4572000" cy="11800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ihr aus dem AutomatenLab mitnehmt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A: Automaten analysieren, entwickeln, minimieren, übersetzen (Mealy)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B: Grenzen begründen, Kellerautomaten dokumentieren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C: Grammatiken entwerfen, regulär ↔ kontextfrei, Chomsky-Hierarchie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D: eigene Sprachen entwerfen – und die Turingmaschine als Ausblick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Übungsklausur im Abi-Format (135 min, 45 BE) bearbeiten und mit dem Erwartungshorizont kontrollieren. Merkblatt M12 „Abi-Spickzettel“ nutzen.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Ausblick: Die Turingmaschine</dc:title>
  <dc:subject>PptxGenJS Presentation</dc:subject>
  <dc:creator>Frank Juchim</dc:creator>
  <cp:lastModifiedBy>Frank Juchim</cp:lastModifiedBy>
  <cp:revision>1</cp:revision>
  <dcterms:created xsi:type="dcterms:W3CDTF">2026-10-14T07:05:32Z</dcterms:created>
  <dcterms:modified xsi:type="dcterms:W3CDTF">2026-10-14T07:05:32Z</dcterms:modified>
</cp:coreProperties>
</file>