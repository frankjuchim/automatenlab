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[0:00–0:20] Einstieg
„Zwei Werkzeuge, die nichts miteinander zu tun haben – scheinbar. Heute übersetzen wir eins ins andere.“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[0:20–1:00] Rechtsregulär – ja oder nein?
Jede Zeile kurz: „Wo steht das Nichtterminal?“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[1:00–2:00] Vom DEA zur Grammatik
Pfeil für Pfeil eine Regel ansagen; Endzustand bekommt 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[2:00–2:35] Ableitung = Lauf
„Das Nichtterminal am Ende ist genau der Zustand, in dem der Automat gerade ist.“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[2:35–3:20] Grammatik → Automat
„Aus S gehen zwei Pfeile mit a – das darf ein DEA nicht. Das ist ein NEA.“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[3:20–4:00] NEA in 40 Sekunden
„Stell dir Spielfiguren vor: Bei jeder Wahl teilt sich die Figur.“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[4:00–5:00] Live: Parallelwelten
Figuren zählen lassen; dann Modus Teilmengen: „Jede Figurenmenge wird ein Zustand.“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[5:00–5:30] Der fertige DEA
„Jede Menge, die Z enthält, ist ein Endzustand.“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[5:30–6:05] Jetzt du
„Rezept anwenden – vergiss die ε-Regel nicht.“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[6:05–6:30] Zusammenfassung
Ausblick: Was ist mit Sprachen wie aⁿbⁿ? → kontextfreie Grammatiken.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_TITEL">
    <p:bg>
      <p:bgPr>
        <a:solidFill>
          <a:srgbClr val="0E64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4572000"/>
            <a:ext cx="3200400" cy="2057400"/>
          </a:xfrm>
          <a:prstGeom prst="rect">
            <a:avLst/>
          </a:prstGeom>
          <a:solidFill>
            <a:srgbClr val="0B574A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45720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457200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58600" y="45720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978640" y="457200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78240" y="66294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78240" y="630936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58600" y="66294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978640" y="630936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_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7  ·  Reguläre Grammatik  ·  automatenlab.frankjuchim.de  ·  CC BY-SA 4.0 Frank Juchim</a:t>
            </a:r>
            <a:endParaRPr lang="en-US" sz="1200" dirty="0"/>
          </a:p>
        </p:txBody>
      </p:sp>
      <p:sp>
        <p:nvSpPr>
          <p:cNvPr id="4" name="Shape 1"/>
          <p:cNvSpPr/>
          <p:nvPr/>
        </p:nvSpPr>
        <p:spPr>
          <a:xfrm>
            <a:off x="8778240" y="4572000"/>
            <a:ext cx="3200400" cy="2057400"/>
          </a:xfrm>
          <a:prstGeom prst="rect">
            <a:avLst/>
          </a:prstGeom>
          <a:solidFill>
            <a:srgbClr val="F1F7F6"/>
          </a:solidFill>
          <a:ln/>
        </p:spPr>
      </p:sp>
      <p:sp>
        <p:nvSpPr>
          <p:cNvPr id="5" name="Shape 2"/>
          <p:cNvSpPr/>
          <p:nvPr/>
        </p:nvSpPr>
        <p:spPr>
          <a:xfrm>
            <a:off x="8778240" y="45720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78240" y="457200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658600" y="45720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1978640" y="457200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778240" y="66294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778240" y="630936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658600" y="66294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978640" y="630936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_AKZENT">
    <p:bg>
      <p:bgPr>
        <a:solidFill>
          <a:srgbClr val="F1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7  ·  Reguläre Grammatik  ·  automatenlab.frankjuchim.de  ·  CC BY-SA 4.0 Frank Juchim</a:t>
            </a:r>
            <a:endParaRPr lang="en-US" sz="1200" dirty="0"/>
          </a:p>
        </p:txBody>
      </p:sp>
      <p:sp>
        <p:nvSpPr>
          <p:cNvPr id="4" name="Shape 1"/>
          <p:cNvSpPr/>
          <p:nvPr/>
        </p:nvSpPr>
        <p:spPr>
          <a:xfrm>
            <a:off x="8778240" y="4572000"/>
            <a:ext cx="3200400" cy="2057400"/>
          </a:xfrm>
          <a:prstGeom prst="rect">
            <a:avLst/>
          </a:prstGeom>
          <a:solidFill>
            <a:srgbClr val="E4EEEC"/>
          </a:solidFill>
          <a:ln/>
        </p:spPr>
      </p:sp>
      <p:sp>
        <p:nvSpPr>
          <p:cNvPr id="5" name="Shape 2"/>
          <p:cNvSpPr/>
          <p:nvPr/>
        </p:nvSpPr>
        <p:spPr>
          <a:xfrm>
            <a:off x="8778240" y="45720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78240" y="457200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658600" y="45720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1978640" y="457200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778240" y="66294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778240" y="630936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658600" y="66294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978640" y="630936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_DUNKEL">
    <p:bg>
      <p:bgPr>
        <a:solidFill>
          <a:srgbClr val="0A4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4572000"/>
            <a:ext cx="3200400" cy="2057400"/>
          </a:xfrm>
          <a:prstGeom prst="rect">
            <a:avLst/>
          </a:prstGeom>
          <a:solidFill>
            <a:srgbClr val="083D34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45720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457200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58600" y="45720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978640" y="457200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78240" y="66294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78240" y="630936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58600" y="66294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978640" y="630936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Erklärvideo 7  ·  Maschinen, die Sprache verstehen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7863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Reguläre Grammatik und endlicher Automat</a:t>
            </a:r>
            <a:endParaRPr lang="en-US" sz="4600" dirty="0"/>
          </a:p>
        </p:txBody>
      </p:sp>
      <p:sp>
        <p:nvSpPr>
          <p:cNvPr id="4" name="Shape 2"/>
          <p:cNvSpPr/>
          <p:nvPr/>
        </p:nvSpPr>
        <p:spPr>
          <a:xfrm>
            <a:off x="640080" y="3977640"/>
            <a:ext cx="7772400" cy="1463040"/>
          </a:xfrm>
          <a:prstGeom prst="roundRect">
            <a:avLst>
              <a:gd name="adj" fmla="val 7500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4114800"/>
            <a:ext cx="7315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Leitfrage</a:t>
            </a:r>
            <a:endParaRPr lang="en-US" sz="1500" dirty="0"/>
          </a:p>
          <a:p>
            <a:pPr indent="0" marL="0">
              <a:buNone/>
            </a:pPr>
            <a:r>
              <a:rPr lang="en-US" sz="23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übersetzt man einen Automaten in eine Grammatik – und zurück?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FD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automatenlab.frankjuchim.de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960120" cy="96012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0" y="9144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10561320" y="914400"/>
            <a:ext cx="960120" cy="96012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9144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9857232" y="2331720"/>
            <a:ext cx="960120" cy="96012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F3D9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948672" y="2423160"/>
            <a:ext cx="777240" cy="777240"/>
          </a:xfrm>
          <a:prstGeom prst="ellipse">
            <a:avLst/>
          </a:prstGeom>
          <a:solidFill>
            <a:srgbClr val="0E6455"/>
          </a:solidFill>
          <a:ln w="19050">
            <a:solidFill>
              <a:srgbClr val="F3D9B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857232" y="2331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10122408" y="1389888"/>
            <a:ext cx="420624" cy="0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H="1">
            <a:off x="10652760" y="1874520"/>
            <a:ext cx="256032" cy="47548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Rechtsregulär – ja oder nein?</a:t>
            </a:r>
            <a:endParaRPr lang="en-US" sz="3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8638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188720"/>
                <a:gridCol w="4297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regulär?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Grund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→ aS  |  bA  |  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 Terminal, ggf. + ein Nichtterminal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→ aSb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rechts vom Nichtterminal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→ Sa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Nichtterminal links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→ +xA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zwei Terminale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→ BC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zwei Nichtterminale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8ECDB"/>
          </a:solidFill>
          <a:ln w="12700">
            <a:solidFill>
              <a:srgbClr val="B26A0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ERLAUBT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→ aB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→ a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→ ε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Vom DEA zur Grammatik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= {a, b} · Alle nicht eingezeichneten Übergänge führen in einen Fehlerzustand.</a:t>
            </a:r>
            <a:endParaRPr lang="en-US" sz="1900" dirty="0"/>
          </a:p>
        </p:txBody>
      </p:sp>
      <p:pic>
        <p:nvPicPr>
          <p:cNvPr id="4" name="Image 0" descr="/home/user/AutomatenLab/materials/build/img/video/du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783080"/>
            <a:ext cx="7132320" cy="2377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5166360"/>
            <a:ext cx="7863840" cy="1188720"/>
          </a:xfrm>
          <a:prstGeom prst="roundRect">
            <a:avLst>
              <a:gd name="adj" fmla="val 7692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5257800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→ aS1     S1 → aS1 | bS2     S2 → aS1 | bS2 | ε</a:t>
            </a:r>
            <a:endParaRPr lang="en-US" sz="2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{S0, S1, S2},  T = {a, b},  Startsymbol S0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REZEPT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 → Nichtterminal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–a→ Sj → </a:t>
            </a: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→ aSj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Endzustand → </a:t>
            </a: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→ ε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Fehlerzustand entfällt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Ableitung = Lauf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3771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E6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Ableitung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37719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aS1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abS2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abaS1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ababS2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abab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4640580" y="1325880"/>
            <a:ext cx="3771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26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Lauf im DEA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4640580" y="1874520"/>
            <a:ext cx="37719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–a→ S1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–b→ S2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–a→ S1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–b→ S2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Endzustand ✓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Nichtterminal am Ende der Satzform = </a:t>
            </a:r>
            <a:r>
              <a:rPr lang="en-US" sz="19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aktueller Zustand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Rückweg: von der Grammatik zum Automaten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→ aS | bS | aA      A → b</a:t>
            </a:r>
            <a:endParaRPr lang="en-US" sz="1900" dirty="0"/>
          </a:p>
        </p:txBody>
      </p:sp>
      <p:pic>
        <p:nvPicPr>
          <p:cNvPr id="4" name="Image 0" descr="/home/user/AutomatenLab/materials/build/img/video/nea_endet_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9243"/>
            <a:ext cx="7863840" cy="237655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5532120"/>
            <a:ext cx="7863840" cy="822960"/>
          </a:xfrm>
          <a:prstGeom prst="roundRect">
            <a:avLst>
              <a:gd name="adj" fmla="val 11111"/>
            </a:avLst>
          </a:prstGeom>
          <a:solidFill>
            <a:srgbClr val="F8ECDB"/>
          </a:solidFill>
          <a:ln w="12700">
            <a:solidFill>
              <a:srgbClr val="B26A0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5623560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 S zwei Pfeile mit </a:t>
            </a:r>
            <a:r>
              <a:rPr lang="en-US" sz="2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⇒ </a:t>
            </a:r>
            <a:r>
              <a:rPr lang="en-US" sz="21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nichtdeterministisch</a:t>
            </a:r>
            <a:r>
              <a:rPr lang="en-US" sz="21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(NEA)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REZEPT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Nichtterminal → Zustand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→ aB: Pfeil A –a→ B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→ a: Pfeil in </a:t>
            </a:r>
            <a:r>
              <a:rPr lang="en-US" sz="17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neuen Endzustand</a:t>
            </a:r>
            <a:r>
              <a:rPr lang="en-US" sz="17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→ ε: A wird Endzustand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NEA: ein Automat, der raten darf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786384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Mehrere Pfeile mit demselben Zeichen erlaubt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Akzeptiert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wenn es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mindestens einen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Weg in einen Endzustand gibt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Vorstellung: Spielfiguren auf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möglichen Zuständen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aab: {S} –a→ {A, S} –a→ {A, S} –b→ {S, Z} ⇒ Z dabei ⇒ akzeptiert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GUT ZU WISSEN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 und DEA sind </a:t>
            </a: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gleich mächtig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 ist </a:t>
            </a: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Eingabezeichen.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im AutomatenLab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108960" cy="420624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645920"/>
            <a:ext cx="2468880" cy="24688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425196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5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Parallelwelten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023360" y="1325880"/>
            <a:ext cx="43891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machen gleich: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Spielfiguren beim Lesen von aab beobachten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Teilmengenkonstruktion: aus Mengen werden Zustände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7150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automatenlab.frankjuchim.de/#/parallelwelten?aufgabe=2&amp;modus=sim&amp;wort=aab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Teilmengenkonstruktion: der DEA</a:t>
            </a:r>
            <a:endParaRPr lang="en-US" sz="3200" dirty="0"/>
          </a:p>
        </p:txBody>
      </p:sp>
      <p:pic>
        <p:nvPicPr>
          <p:cNvPr id="3" name="Image 0" descr="/home/user/AutomatenLab/materials/build/img/video/dea_endet_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19855"/>
            <a:ext cx="7863840" cy="32412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NEUE ZUSTÄNDE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= {S}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= {S, A}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= {S, Z} – enthält Z ⇒ Endzustand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Pausiere jetzt!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868680" cy="86868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5448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45920" y="132588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Übersetze den DEA in eine reguläre Grammatik.</a:t>
            </a:r>
            <a:endParaRPr lang="en-US" sz="2500" dirty="0"/>
          </a:p>
        </p:txBody>
      </p:sp>
      <p:pic>
        <p:nvPicPr>
          <p:cNvPr id="6" name="Image 1" descr="/home/user/AutomatenLab/materials/build/img/video/b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5535" y="2560320"/>
            <a:ext cx="6570049" cy="2194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4937760"/>
            <a:ext cx="7772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= {a, b}; akzeptiert alle Wörter, die bb enthalten</a:t>
            </a:r>
            <a:endParaRPr lang="en-US" sz="2300" dirty="0"/>
          </a:p>
        </p:txBody>
      </p:sp>
      <p:sp>
        <p:nvSpPr>
          <p:cNvPr id="8" name="Shape 4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8ECDB"/>
          </a:solidFill>
          <a:ln w="12700">
            <a:solidFill>
              <a:srgbClr val="B26A0F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GEHT’S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anhalten,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 Papier lösen,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dann weiter: Die Auflösung kommt sofort.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Auflösung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786384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{S0, S1, S2},  T = {a, b},  Startsymbol S0</a:t>
            </a:r>
            <a:endParaRPr lang="en-US" sz="24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→ aS0 | bS1</a:t>
            </a:r>
            <a:endParaRPr lang="en-US" sz="24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→ aS0 | bS2</a:t>
            </a:r>
            <a:endParaRPr lang="en-US" sz="24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→ aS2 | bS2 | ε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nimmst du mit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772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Rechtsregulär: nur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→ aB | a | ε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  <a:p>
            <a:pPr marL="279400" indent="-2794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 → Grammatik: Zustand = Nichtterminal, Pfeil = Regel, Endzustand = ε-Regel.</a:t>
            </a:r>
            <a:endParaRPr lang="en-US" sz="2200" dirty="0"/>
          </a:p>
          <a:p>
            <a:pPr marL="279400" indent="-2794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Grammatik → NEA → (Teilmengen) → DEA.</a:t>
            </a:r>
            <a:endParaRPr lang="en-US" sz="2200" dirty="0"/>
          </a:p>
          <a:p>
            <a:pPr marL="279400" indent="-2794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Ableitung entspricht einem Lauf.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4160520"/>
            <a:ext cx="3749040" cy="2194560"/>
          </a:xfrm>
          <a:prstGeom prst="roundRect">
            <a:avLst>
              <a:gd name="adj" fmla="val 5000"/>
            </a:avLst>
          </a:prstGeom>
          <a:solidFill>
            <a:srgbClr val="0A4A3F"/>
          </a:solidFill>
          <a:ln w="12700">
            <a:solidFill>
              <a:srgbClr val="3E8E7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434340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 Nächstes</a:t>
            </a:r>
            <a:endParaRPr lang="en-US" sz="1500" dirty="0"/>
          </a:p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Video 8: Kontextfreie Grammatiken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663440" y="4160520"/>
            <a:ext cx="3749040" cy="2194560"/>
          </a:xfrm>
          <a:prstGeom prst="roundRect">
            <a:avLst>
              <a:gd name="adj" fmla="val 5000"/>
            </a:avLst>
          </a:prstGeom>
          <a:solidFill>
            <a:srgbClr val="0A4A3F"/>
          </a:solidFill>
          <a:ln w="12700">
            <a:solidFill>
              <a:srgbClr val="3E8E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434340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Nachlesen</a:t>
            </a:r>
            <a:endParaRPr lang="en-US" sz="1500" dirty="0"/>
          </a:p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Merkblatt M09 – Reguläre Grammatik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778240" y="502920"/>
            <a:ext cx="3200400" cy="379476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778240" y="640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WEITER ÜBEN</a:t>
            </a:r>
            <a:endParaRPr lang="en-US" sz="14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1005840"/>
            <a:ext cx="2103120" cy="21031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915400" y="320040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Grammatik-Tester</a:t>
            </a:r>
            <a:endParaRPr lang="en-US" sz="18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Grammatik-Tester: gerade Anzahl a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tomaten LK">
  <a:themeElements>
    <a:clrScheme name="Automaten LK">
      <a:dk1>
        <a:srgbClr val="1F2A2E"/>
      </a:dk1>
      <a:lt1>
        <a:srgbClr val="FFFFFF"/>
      </a:lt1>
      <a:dk2>
        <a:srgbClr val="0E6455"/>
      </a:dk2>
      <a:lt2>
        <a:srgbClr val="E4F0EE"/>
      </a:lt2>
      <a:accent1>
        <a:srgbClr val="0E6455"/>
      </a:accent1>
      <a:accent2>
        <a:srgbClr val="B26A0F"/>
      </a:accent2>
      <a:accent3>
        <a:srgbClr val="3E8E7E"/>
      </a:accent3>
      <a:accent4>
        <a:srgbClr val="D9A45B"/>
      </a:accent4>
      <a:accent5>
        <a:srgbClr val="5B6770"/>
      </a:accent5>
      <a:accent6>
        <a:srgbClr val="A83232"/>
      </a:accent6>
      <a:hlink>
        <a:srgbClr val="0E6455"/>
      </a:hlink>
      <a:folHlink>
        <a:srgbClr val="0A4A3F"/>
      </a:folHlink>
    </a:clrScheme>
    <a:fontScheme name="Automaten 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Video 7 – Reguläre Grammatik und endlicher Automat</dc:title>
  <dc:subject>PptxGenJS Presentation</dc:subject>
  <dc:creator>Frank Juchim</dc:creator>
  <cp:lastModifiedBy>Frank Juchim</cp:lastModifiedBy>
  <cp:revision>1</cp:revision>
  <dcterms:created xsi:type="dcterms:W3CDTF">2026-10-14T16:08:35Z</dcterms:created>
  <dcterms:modified xsi:type="dcterms:W3CDTF">2026-10-14T16:08:35Z</dcterms:modified>
</cp:coreProperties>
</file>