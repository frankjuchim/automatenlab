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9ae3e3ed-caaf-c61c-71c8-d25847aeadf9}">
          <p14:sldIdLst>
            <p14:sldId id="256"/>
          </p14:sldIdLst>
        </p14:section>
        <p14:section name="Einstieg" id="{f5785a82-eb8a-5498-a70d-bfe1032d24dd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Erarbeitung" id="{956e331a-3f3e-08b8-b452-375a67e1eccb}">
          <p14:sldIdLst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Übung" id="{5c98ef55-8eb4-8772-89a4-7bd073e56a9a}">
          <p14:sldIdLst>
            <p14:sldId id="270"/>
            <p14:sldId id="271"/>
            <p14:sldId id="272"/>
          </p14:sldIdLst>
        </p14:section>
        <p14:section name="Sicherung" id="{897b77c6-db1a-ead6-0ff4-4734aa815faa}">
          <p14:sldIdLst>
            <p14:sldId id="273"/>
            <p14:sldId id="274"/>
          </p14:sldIdLst>
        </p14:section>
        <p14:section name="Abschluss" id="{c74c1ce8-52d4-c880-9483-8f59ff7401f6}">
          <p14:sldIdLst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Begrüßung, Einordnung: Neues Halbjahresthema „Maschinen, die Sprache verstehen“. Pflichtweg aus 9 Leveln in 3 Welten, dazu Vertiefungs- und Bonus-Level; App AutomatenLab. Heute: Level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Überblick über die Einheit. Am Ende der Welten A–C gibt es ein Boss-Level (Abi-artige Aufgabe) als freiwilliges Extra-Training. Pflichtweg: Level 1, 2, 3, 6, 7, 9, 11, 12, 13; Vertiefung: 5, 10, 14; Bonus: 4, 8, 15, 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Pflichtweg: 9 Doppelstunden (3 Wochen). Bei 4 Wochen kommen die drei Vertiefungs-Level als 4. Woche bzw. eingeschoben dazu. Bonus-Level und Boss-Level sind freiwillige Extra-Angebote (in der App als Bonus markiert).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Ideen sammeln. Zielaussage: Er merkt sich nur, wie viel vom Code bisher passt: nichts, „4“, „42“, „420“, „4200“. Genau das sind die Zustände.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Aufdecken nach der Ideensammlung. Fünf Zustände genügen – egal wie lang die Eingabe 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Wortkarten: XLOLX, LOOL, LLOL, OLOXL, LOLOL, OOLXL, LXOL, LOL. Nachfrage: Was weiß S2? Was weiß S1?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Rollenspiel und Graph vergleichen: Person = Zustand, Regelkarte = ausgehende Pfeile.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Begriffe parallel im Merkblatt M01 markieren lassen.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[NUR LEHRKRAFT] Wichtig: Entscheidend ist der Zustand NACH dem letzten Zeichen. Im Abitur: „Stellen Sie die Verarbeitung … dar“.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SuS schlagen Zustände vor: bisher eingeworfener Betrag 0, 10, 20, 30, 40.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Bedeutung der Zustände im Sachzusammenhang formulieren lassen: „S3: Es wurden bisher 30 ct eingeworfen.“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Ergänzende Hinweise 2025, Abschnitt 12: Endliche Automaten werden vollständig angegeben, wenn nicht anders vermerkt.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Zwischensicherung zu 2c (Bedeutung eines Zustands) nach ca. 20 Minuten.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Wettbewerb: Wer schafft die längste Serie? Bestwerte an der Tafel notieren.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0E6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">
    <p:bg>
      <p:bgPr>
        <a:solidFill>
          <a:srgbClr val="0A4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· Welt A · Endliche Automaten · gA und eA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985455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BY-SA 4.0 · Frank Juchim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UFTRAG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· Welt A · Endliche Automaten · gA und eA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985455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BY-SA 4.0 · Frank Juchim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Informatik gA und eA  ·  Level 1  ·  Welt A: Endliche Automaten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 Automat hört zu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9476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Einstieg in deterministische endliche Automaten (DEA)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4709160"/>
            <a:ext cx="8961120" cy="1143000"/>
          </a:xfrm>
          <a:prstGeom prst="roundRect">
            <a:avLst>
              <a:gd name="adj" fmla="val 9600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4828032"/>
            <a:ext cx="8595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Kernfrage</a:t>
            </a:r>
            <a:endParaRPr lang="en-US" sz="1400" dirty="0"/>
          </a:p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kann eine Maschine erkennen, ob eine Eingabe „richtig“ ist – ohne sich alles zu merken?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0" y="128016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0" y="1280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881360" y="274320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881360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058400" y="420624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F3D9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49840" y="4297680"/>
            <a:ext cx="822960" cy="822960"/>
          </a:xfrm>
          <a:prstGeom prst="ellipse">
            <a:avLst/>
          </a:prstGeom>
          <a:solidFill>
            <a:srgbClr val="0E6455"/>
          </a:solidFill>
          <a:ln w="19050">
            <a:solidFill>
              <a:srgbClr val="F3D9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0" y="4206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835640" y="2194560"/>
            <a:ext cx="411480" cy="56692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10835640" y="3657600"/>
            <a:ext cx="411480" cy="56692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Deine Reise durch das AutomatenLab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7864" cy="3913632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Welt A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383280"/>
            <a:ext cx="201922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Endliche Automaten: prüfen, modellieren, minimieren, übersetzen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3390824" y="1463040"/>
            <a:ext cx="2567864" cy="3913632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65144" y="1737360"/>
            <a:ext cx="731520" cy="73152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304" y="18745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65144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Welt B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3665144" y="3383280"/>
            <a:ext cx="201922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Grenzen &amp; Keller: Was endliche Automaten nicht können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6233008" y="1463040"/>
            <a:ext cx="2567864" cy="3913632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507328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488" y="187452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07328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Welt C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6507328" y="3383280"/>
            <a:ext cx="201922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Formale Sprachen: Grammatiken erzeugen Sprachen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9075191" y="1463040"/>
            <a:ext cx="2567864" cy="3913632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349511" y="1737360"/>
            <a:ext cx="731520" cy="73152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671" y="187452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49511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Bonus-Welt D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9349511" y="3383280"/>
            <a:ext cx="201922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Neugierige: Sprachdesign-Studio und die Turingmaschine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Dein Weg durch das AutomatenLab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4846320"/>
                <a:gridCol w="2286000"/>
                <a:gridCol w="2651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Pflicht-Level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Vertiefung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Bonus &amp; Extra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Woche 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Ein Automat hört zu · 2 Was macht dieser Automat? · 3 Bauplan gesucht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Weniger ist mehr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Modellierungswerkstatt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Woche 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Automaten, die antworten · 7 Grenzen · 9 Kellerautomat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Keller-Profis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Raten erlaubt (NEA)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Woche 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Sprache · 12 Grammatik trifft Automat · 13 Kontextfreie Grammatiken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Landkarte der Sprachen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Sprachdesign · 16 Turingmaschine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jederzeit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Merkblätter, App-Challenges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Boss-Level A–C, Übungsklausur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Einstieg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Zahlenschloss</a:t>
            </a:r>
            <a:endParaRPr lang="en-US" sz="4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600200"/>
            <a:ext cx="110944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 Tresor öffnet sich, sobald die letzten vier Ziffern 4-2-0-0 lauten. Wie „weiß“ er das?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14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hat </a:t>
            </a:r>
            <a:r>
              <a:rPr lang="en-US" sz="22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keinen</a:t>
            </a: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Speicher für die bisher getippten Ziffern – nur eine Handvoll Zustände.</a:t>
            </a:r>
            <a:endParaRPr lang="en-US" sz="22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muss sich das Schloss merken?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999427" cy="2615184"/>
          </a:xfrm>
          <a:prstGeom prst="roundRect">
            <a:avLst>
              <a:gd name="adj" fmla="val 4573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145078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68880"/>
            <a:ext cx="1450787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Noch nichts vom Code passt.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822387" y="1463040"/>
            <a:ext cx="1999427" cy="2615184"/>
          </a:xfrm>
          <a:prstGeom prst="roundRect">
            <a:avLst>
              <a:gd name="adj" fmla="val 4573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096707" y="1737360"/>
            <a:ext cx="145078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3096707" y="2468880"/>
            <a:ext cx="1450787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Zuletzt: „4“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096134" y="1463040"/>
            <a:ext cx="1999427" cy="2615184"/>
          </a:xfrm>
          <a:prstGeom prst="roundRect">
            <a:avLst>
              <a:gd name="adj" fmla="val 4573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70454" y="1737360"/>
            <a:ext cx="145078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5370454" y="2468880"/>
            <a:ext cx="1450787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Zuletzt: „42“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369881" y="1463040"/>
            <a:ext cx="1999427" cy="2615184"/>
          </a:xfrm>
          <a:prstGeom prst="roundRect">
            <a:avLst>
              <a:gd name="adj" fmla="val 4573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44201" y="1737360"/>
            <a:ext cx="145078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S3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7644201" y="2468880"/>
            <a:ext cx="1450787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Zuletzt: „420“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643628" y="1463040"/>
            <a:ext cx="1999427" cy="2615184"/>
          </a:xfrm>
          <a:prstGeom prst="roundRect">
            <a:avLst>
              <a:gd name="adj" fmla="val 4573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917948" y="1737360"/>
            <a:ext cx="145078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S4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9917948" y="2468880"/>
            <a:ext cx="1450787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Zuletzt: „4200“ – Tür auf!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Rollenspiel: Der menschliche Automat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31673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356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722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093976" y="1325880"/>
            <a:ext cx="131673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24" y="14356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96896" y="1325880"/>
            <a:ext cx="722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Plenum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3639312" y="1325880"/>
            <a:ext cx="289407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4356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142232" y="1325880"/>
            <a:ext cx="22997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Regel- und Wortkarten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2148840"/>
            <a:ext cx="1109441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Freiwillige werden zu den Zuständen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S0, S1, S2, S3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 erhalten Regelkarten.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 bekommt eine Wortkarte und liest das erste Zeichen vor.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Karte wandert nach der Regel weiter – Zeichen für Zeichen.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am Ende die Karte hält, verkündet: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akzeptiert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oder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abgelehnt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anderen protokollieren die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Zustandsfolge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 der Tafel.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Erarbeitung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Vom Rollenspiel zum Zustandsgraphen</a:t>
            </a:r>
            <a:endParaRPr lang="en-US" sz="4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LOL-Erkenner als Zustandsgraph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Eingabealphabet Σ = {L, O, X}   (X steht für alle anderen Zeichen)</a:t>
            </a:r>
            <a:endParaRPr lang="en-US" sz="1800" dirty="0"/>
          </a:p>
        </p:txBody>
      </p:sp>
      <p:pic>
        <p:nvPicPr>
          <p:cNvPr id="4" name="Image 0" descr="/home/user/AutomatenLab/materials/build/img/ds01/l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07544"/>
            <a:ext cx="11094415" cy="351159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Akzeptiert werden genau die Wörter, in denen LOL vorkommt.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Bausteine eines DEA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597377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Eingabealphabet Σ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die Zeichen, die gelesen werden können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Zustände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S0, S1, …: endlich viele, sie bilden das „Gedächtnis“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Startzustand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markiert mit dem Pfeil „Start“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Endzustände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Doppelkreis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Übergänge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Pfeile, beschriftet mit Zeichen aus Σ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deterministisch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Für jeden Zustand und jedes Zeichen gibt es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 einen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Folgezustand</a:t>
            </a:r>
            <a:endParaRPr lang="en-US" sz="2400" dirty="0"/>
          </a:p>
        </p:txBody>
      </p:sp>
      <p:pic>
        <p:nvPicPr>
          <p:cNvPr id="4" name="Image 0" descr="/home/user/AutomatenLab/materials/build/img/ds01/l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8175" y="3042255"/>
            <a:ext cx="4754880" cy="150500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Verarbeitung darstellen: die Zustandsfolge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6035040"/>
                <a:gridCol w="3474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Zustandsfolge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Ergebnis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XLOLX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 –X→ S0 –L→ S1 –O→ S2 –L→ S3 –X→ S3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akzeptiert (S3 ist Endzustand)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 –L→ S1 –O→ S2 –O→ S0 –L→ S1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abgelehnt (S1 ist kein Endzustand)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Zweites Modell: der Kaffeeautomat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Kaffee kostet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ct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Akzeptiert werden nur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10-ct- und 20-ct-Münzen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Σ = {10, 20}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Betrag muss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passend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eingeworfen werden – sonst gibt es alle Münzen zurück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muss sich der Automat merken?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Kaffeeautomat: Zustand = bisher eingeworfener Betrag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{10, 20}</a:t>
            </a:r>
            <a:endParaRPr lang="en-US" sz="1800" dirty="0"/>
          </a:p>
        </p:txBody>
      </p:sp>
      <p:pic>
        <p:nvPicPr>
          <p:cNvPr id="4" name="Image 0" descr="/home/user/AutomatenLab/materials/build/img/ds01/kaff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59156"/>
            <a:ext cx="11094415" cy="220836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nicht eingezeichneten Übergänge führen in einen Fehlerzustand.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Vollständig – oder mit Hinweis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31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6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 Hinweis (Abi-Konvention)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53186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Fehlerzustand weggelassen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Pflicht: Hinweis „Alle nicht eingezeichneten Übergänge führen in einen Fehlerzustand.“</a:t>
            </a:r>
            <a:endParaRPr lang="en-US" sz="2000" dirty="0"/>
          </a:p>
        </p:txBody>
      </p:sp>
      <p:pic>
        <p:nvPicPr>
          <p:cNvPr id="5" name="Image 0" descr="/home/user/AutomatenLab/materials/build/img/ds01/kaff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60520"/>
            <a:ext cx="5318608" cy="10586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24448" y="1463040"/>
            <a:ext cx="531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26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Vollständig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324448" y="2057400"/>
            <a:ext cx="53186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Zustand hat für jedes Zeichen einen Übergang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Fehlerzustand: kein Endzustand, kommt nie wieder heraus</a:t>
            </a:r>
            <a:endParaRPr lang="en-US" sz="2000" dirty="0"/>
          </a:p>
        </p:txBody>
      </p:sp>
      <p:pic>
        <p:nvPicPr>
          <p:cNvPr id="8" name="Image 1" descr="/home/user/AutomatenLab/materials/build/img/ds01/kaffee_komplet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4160520"/>
            <a:ext cx="5318608" cy="111380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Arbeitsblatt Level 1</a:t>
            </a:r>
            <a:endParaRPr lang="en-US" sz="4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Auftrag: AB01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31673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356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722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093976" y="1325880"/>
            <a:ext cx="236829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24" y="14356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96896" y="132588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Einzel → Partner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690872" y="1325880"/>
            <a:ext cx="2683764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4356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193792" y="1325880"/>
            <a:ext cx="20894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AB01, Merkblatt M01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2148840"/>
            <a:ext cx="79854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Bearbeite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1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(Basis) und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2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(Standard).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Vergleiche deine Zustandsfolgen mit deiner Nachbarin / deinem Nachbarn.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 mit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3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Profis mit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4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Ab in die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Akzeptor-Arena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(Stufe 1, dann 2).</a:t>
            </a:r>
            <a:endParaRPr lang="en-US" sz="2200" dirty="0"/>
          </a:p>
        </p:txBody>
      </p:sp>
      <p:sp>
        <p:nvSpPr>
          <p:cNvPr id="13" name="Shape 8"/>
          <p:cNvSpPr/>
          <p:nvPr/>
        </p:nvSpPr>
        <p:spPr>
          <a:xfrm>
            <a:off x="8808415" y="2148840"/>
            <a:ext cx="2834640" cy="356616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1335" y="2377440"/>
            <a:ext cx="1828800" cy="18288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945575" y="43891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5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Akzeptor-Arena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Akzeptor-Arena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840480" cy="42062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828800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800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846320" y="1737360"/>
            <a:ext cx="679673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8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Akzeptor-Arena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ansehen, Wort lesen, entscheiden: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akzeptiert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oder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abgelehnt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Du hast 60 Sekunden. Bei Fehlern zeigt „Zeig mir warum“ den Lauf Schritt für Schritt.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5303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https://automatenlab.frankjuchim.de/#/arena?stufe=1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wir heute gelernt haben</a:t>
            </a:r>
            <a:endParaRPr lang="en-US" sz="4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Merke: Deterministischer endlicher Automat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522415" cy="4709160"/>
          </a:xfrm>
          <a:prstGeom prst="roundRect">
            <a:avLst>
              <a:gd name="adj" fmla="val 1942"/>
            </a:avLst>
          </a:prstGeom>
          <a:solidFill>
            <a:srgbClr val="F8ECDB"/>
          </a:solidFill>
          <a:ln w="19050">
            <a:solidFill>
              <a:srgbClr val="B26A0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645920"/>
            <a:ext cx="524225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DEA liest ein Wort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Zeichen für Zeichen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 wechselt bei jedem Zeichen in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 einen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Folgezustand.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Wort wird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akzeptiert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wenn der Automat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 dem letzten Zeichen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einem Endzustand ist.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Zustände sind das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Gedächtnis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Sie speichern nur das, was für die Entscheidung wichtig ist.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Abitur: Automat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vollständig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oder Fehlerzustand mit Hinweis weglassen.</a:t>
            </a:r>
            <a:endParaRPr lang="en-US" sz="2200" dirty="0"/>
          </a:p>
        </p:txBody>
      </p:sp>
      <p:pic>
        <p:nvPicPr>
          <p:cNvPr id="6" name="Image 1" descr="/home/user/AutomatenLab/materials/build/img/ds01/l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3106223"/>
            <a:ext cx="4206240" cy="133135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Zum Mitnehmen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515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Zustände, Übergänge, Start- und Endzustände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Verarbeitung als Zustandsfolge darstellen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Bedeutung eines Zustands im Sachzusammenhang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Vollständigkeit und Fehlerzustand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4846320"/>
            <a:ext cx="10911535" cy="1280160"/>
          </a:xfrm>
          <a:prstGeom prst="roundRect">
            <a:avLst>
              <a:gd name="adj" fmla="val 8571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4956048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Hausaufgabe</a:t>
            </a:r>
            <a:endParaRPr lang="en-US" sz="15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Beschreibe drei Automaten aus deinem Alltag (Zustände und Eingaben). Zeichne für einen davon einen Zustandsgraphen.</a:t>
            </a:r>
            <a:endParaRPr lang="en-US" sz="15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aten LK">
  <a:themeElements>
    <a:clrScheme name="Automaten LK">
      <a:dk1>
        <a:srgbClr val="1F2A2E"/>
      </a:dk1>
      <a:lt1>
        <a:srgbClr val="FFFFFF"/>
      </a:lt1>
      <a:dk2>
        <a:srgbClr val="0E6455"/>
      </a:dk2>
      <a:lt2>
        <a:srgbClr val="E4F0EE"/>
      </a:lt2>
      <a:accent1>
        <a:srgbClr val="0E6455"/>
      </a:accent1>
      <a:accent2>
        <a:srgbClr val="B26A0F"/>
      </a:accent2>
      <a:accent3>
        <a:srgbClr val="3E8E7E"/>
      </a:accent3>
      <a:accent4>
        <a:srgbClr val="D9A45B"/>
      </a:accent4>
      <a:accent5>
        <a:srgbClr val="5B6770"/>
      </a:accent5>
      <a:accent6>
        <a:srgbClr val="A83232"/>
      </a:accent6>
      <a:hlink>
        <a:srgbClr val="0E6455"/>
      </a:hlink>
      <a:folHlink>
        <a:srgbClr val="0A4A3F"/>
      </a:folHlink>
    </a:clrScheme>
    <a:fontScheme name="Automaten 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Max-Planck-Gymnasium Delmenhorst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Ein Automat hört zu</dc:title>
  <dc:subject>PptxGenJS Presentation</dc:subject>
  <dc:creator>Frank Juchim</dc:creator>
  <cp:lastModifiedBy>Frank Juchim</cp:lastModifiedBy>
  <cp:revision>1</cp:revision>
  <dcterms:created xsi:type="dcterms:W3CDTF">2026-10-14T16:07:53Z</dcterms:created>
  <dcterms:modified xsi:type="dcterms:W3CDTF">2026-10-14T16:07:53Z</dcterms:modified>
</cp:coreProperties>
</file>