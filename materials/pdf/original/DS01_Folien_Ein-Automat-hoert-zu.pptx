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434ba10f-7c1f-88fd-5376-a8c5f8aed798}">
          <p14:sldIdLst>
            <p14:sldId id="256"/>
          </p14:sldIdLst>
        </p14:section>
        <p14:section name="Einstieg" id="{210b8ebf-a3fb-1795-873e-1d28e9978bc0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Erarbeitung" id="{65ea9725-1adc-2af0-d1d7-40232804f6f4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Übung" id="{fd893216-abb0-70f0-2bf3-5dffc441dc71}">
          <p14:sldIdLst>
            <p14:sldId id="270"/>
            <p14:sldId id="271"/>
            <p14:sldId id="272"/>
          </p14:sldIdLst>
        </p14:section>
        <p14:section name="Sicherung" id="{dfa0ec2f-51e1-61fd-3e8b-c549592b5097}">
          <p14:sldIdLst>
            <p14:sldId id="273"/>
            <p14:sldId id="274"/>
          </p14:sldIdLst>
        </p14:section>
        <p14:section name="Abschluss" id="{0f51d896-b48a-450c-7c0b-0364899836b6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Begrüßung, Einordnung: Neues Halbjahresthema „Maschinen, die Sprache verstehen“. Pflichtweg aus 9 Leveln in 3 Welten, dazu Vertiefungs- und Bonus-Level; App AutomatenLab. Heute: Level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Überblick über die Einheit. Am Ende der Welten A–C gibt es ein Boss-Level (Abi-artige Aufgabe) als freiwilliges Extra-Training. Pflichtweg: Level 1, 2, 3, 6, 7, 9, 11, 12, 13; Vertiefung: 5, 10, 14; Bonus: 4, 8, 15,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Pflichtweg: 9 Doppelstunden (3 Wochen). Bei 4 Wochen kommen die drei Vertiefungs-Level als 4. Woche bzw. eingeschoben dazu. Bonus-Level und Boss-Level sind freiwillige Extra-Angebote (in der App als Bonus markiert).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Ideen sammeln. Zielaussage: Er merkt sich nur, wie viel vom Code bisher passt: nichts, „4“, „42“, „420“, „4200“. Genau das sind die Zustände.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Aufdecken nach der Ideensammlung. Fünf Zustände genügen – egal wie lang die Eingabe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Wortkarten: XLOLX, LOOL, LLOL, OLOXL, LOLOL, OOLXL, LXOL, LOL. Nachfrage: Was weiß S2? Was weiß S1?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Rollenspiel und Graph vergleichen: Person = Zustand, Regelkarte = ausgehende Pfeile.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Begriffe parallel im Merkblatt M01 markieren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Wichtig: Entscheidend ist der Zustand NACH dem letzten Zeichen. Im Abitur: „Stellen Sie die Verarbeitung … dar“.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SuS schlagen Zustände vor: bisher eingeworfener Betrag 0, 10, 20, 30, 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Bedeutung der Zustände im Sachzusammenhang formulieren lassen: „S3: Es wurden bisher 30 ct eingeworfen.“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Ergänzende Hinweise 2025, Abschnitt 12: Endliche Automaten werden vollständig angegeben, wenn nicht anders vermerkt.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Zwischensicherung zu 2c (Bedeutung eines Zustands) nach ca. 20 Minuten.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Wettbewerb: Wer schafft die längste Serie? Bestwerte an der Tafel notieren.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· Welt A · Endliche Automaten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· Welt A · Endliche Automaten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gA und eA  ·  Level 1  ·  Welt A: Endliche Automaten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Automat hört zu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in deterministische endliche Automaten (DEA)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kann eine Maschine erkennen, ob eine Eingabe „richtig“ ist – ohne sich alles zu merken?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 Reise durch das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Welt 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Endliche Automaten: prüfen, modellieren, minimieren, übersetzen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Welt B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Grenzen &amp; Keller: Was endliche Automaten nicht können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Welt C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Formale Sprachen: Grammatiken erzeugen Sprachen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Bonus-Welt D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Neugierige: Sprachdesign-Studio und die Turingmaschine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 Weg durch das AutomatenLab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846320"/>
                <a:gridCol w="228600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Pflicht-Level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Vertiefung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Bonus &amp; Extra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Woche 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Ein Automat hört zu · 2 Was macht dieser Automat? · 3 Bauplan gesucht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Weniger ist mehr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Modellierungswerkstatt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Woche 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Automaten, die antworten · 7 Grenzen · 9 Kellerautomat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Keller-Profis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Raten erlaubt (NEA)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Woche 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Sprache · 12 Grammatik trifft Automat · 13 Kontextfreie Grammatiken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Landkarte der Sprachen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Sprachdesign · 16 Turingmaschine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jederzeit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Merkblätter, App-Challenges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Boss-Level A–C, Übungsklausur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Zahlenschloss</a:t>
            </a:r>
            <a:endParaRPr lang="en-US" sz="4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Tresor öffnet sich, sobald die letzten vier Ziffern 4-2-0-0 lauten. Wie „weiß“ er das?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hat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keinen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Speicher für die bisher getippten Ziffern – nur eine Handvoll Zustände.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muss sich das Schloss merken?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999427" cy="2615184"/>
          </a:xfrm>
          <a:prstGeom prst="roundRect">
            <a:avLst>
              <a:gd name="adj" fmla="val 457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145078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1450787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nichts vom Code passt.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822387" y="1463040"/>
            <a:ext cx="1999427" cy="2615184"/>
          </a:xfrm>
          <a:prstGeom prst="roundRect">
            <a:avLst>
              <a:gd name="adj" fmla="val 457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96707" y="1737360"/>
            <a:ext cx="145078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3096707" y="2468880"/>
            <a:ext cx="1450787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Zuletzt: „4“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096134" y="1463040"/>
            <a:ext cx="1999427" cy="2615184"/>
          </a:xfrm>
          <a:prstGeom prst="roundRect">
            <a:avLst>
              <a:gd name="adj" fmla="val 457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70454" y="1737360"/>
            <a:ext cx="145078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370454" y="2468880"/>
            <a:ext cx="1450787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Zuletzt: „42“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69881" y="1463040"/>
            <a:ext cx="1999427" cy="2615184"/>
          </a:xfrm>
          <a:prstGeom prst="roundRect">
            <a:avLst>
              <a:gd name="adj" fmla="val 457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44201" y="1737360"/>
            <a:ext cx="145078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7644201" y="2468880"/>
            <a:ext cx="1450787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Zuletzt: „420“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643628" y="1463040"/>
            <a:ext cx="1999427" cy="2615184"/>
          </a:xfrm>
          <a:prstGeom prst="roundRect">
            <a:avLst>
              <a:gd name="adj" fmla="val 457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17948" y="1737360"/>
            <a:ext cx="145078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S4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917948" y="2468880"/>
            <a:ext cx="1450787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Zuletzt: „4200“ – Tür auf!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Rollenspiel: Der menschliche 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639312" y="1325880"/>
            <a:ext cx="289407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42232" y="1325880"/>
            <a:ext cx="22997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Regel- und Wortkarten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Freiwillige werden zu den Zuständen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S0, S1, S2, S3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erhalten Regelkarten.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bekommt eine Wortkarte und liest das erste Zeichen vor.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Karte wandert nach der Regel weiter – Zeichen für Zeichen.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am Ende die Karte hält, verkündet: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anderen protokollieren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Zustandsfolge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der Tafel.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Vom Rollenspiel zum Zustandsgraphen</a:t>
            </a:r>
            <a:endParaRPr lang="en-US" sz="4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LOL-Erkenner als Zustandsgraph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Eingabealphabet Σ = {L, O, X}   (X steht für alle anderen Zeichen)</a:t>
            </a:r>
            <a:endParaRPr lang="en-US" sz="1800" dirty="0"/>
          </a:p>
        </p:txBody>
      </p:sp>
      <p:pic>
        <p:nvPicPr>
          <p:cNvPr id="4" name="Image 0" descr="/home/user/AutomatenLab/materials/build/img/ds01/l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7544"/>
            <a:ext cx="11094415" cy="3511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 werden genau die Wörter, in denen LOL vorkommt.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Bausteine eines DEA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97377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Eingabealphabet Σ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die Zeichen, die gelesen werden können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S0, S1, …: endlich viele, sie bilden das „Gedächtnis“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Startzustand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markiert mit dem Pfeil „Start“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Endzustände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Doppelkreis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Übergänge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Pfeile, beschriftet mit Zeichen aus Σ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deterministisch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Für jeden Zustand und jedes Zeichen gibt es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einen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Folgezustand</a:t>
            </a:r>
            <a:endParaRPr lang="en-US" sz="2400" dirty="0"/>
          </a:p>
        </p:txBody>
      </p:sp>
      <p:pic>
        <p:nvPicPr>
          <p:cNvPr id="4" name="Image 0" descr="/home/user/AutomatenLab/materials/build/img/ds01/l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8175" y="3042255"/>
            <a:ext cx="4754880" cy="150500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Verarbeitung darstellen: die Zustandsfolge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03504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Zustandsfolge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XLOLX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–X→ S0 –L→ S1 –O→ S2 –L→ S3 –X→ S3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akzeptiert (S3 ist Endzustand)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–L→ S1 –O→ S2 –O→ S0 –L→ 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abgelehnt (S1 ist kein Endzustand)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Zweites Modell: der Kaffeeautomat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Kaffee kostet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ct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 werden nur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10-ct- und 20-ct-Münzen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Σ = {10, 20}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Betrag muss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passend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eingeworfen werden – sonst gibt es alle Münzen zurück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muss sich der Automat merken?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Kaffeeautomat: Zustand = bisher eingeworfener Betrag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{10, 20}</a:t>
            </a:r>
            <a:endParaRPr lang="en-US" sz="1800" dirty="0"/>
          </a:p>
        </p:txBody>
      </p:sp>
      <p:pic>
        <p:nvPicPr>
          <p:cNvPr id="4" name="Image 0" descr="/home/user/AutomatenLab/materials/build/img/ds01/ka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59156"/>
            <a:ext cx="11094415" cy="22083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Vollständig – oder mit Hinweis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 Hinweis (Abi-Konvention)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Fehlerzustand weggelassen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Pflicht: Hinweis „Alle nicht eingezeichneten Übergänge führen in einen Fehlerzustand.“</a:t>
            </a:r>
            <a:endParaRPr lang="en-US" sz="2000" dirty="0"/>
          </a:p>
        </p:txBody>
      </p:sp>
      <p:pic>
        <p:nvPicPr>
          <p:cNvPr id="5" name="Image 0" descr="/home/user/AutomatenLab/materials/build/img/ds01/ka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5318608" cy="1058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Vollständig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324448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Zustand hat für jedes Zeichen einen Übergang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Fehlerzustand: kein Endzustand, kommt nie wieder heraus</a:t>
            </a:r>
            <a:endParaRPr lang="en-US" sz="2000" dirty="0"/>
          </a:p>
        </p:txBody>
      </p:sp>
      <p:pic>
        <p:nvPicPr>
          <p:cNvPr id="8" name="Image 1" descr="/home/user/AutomatenLab/materials/build/img/ds01/kaffee_komplet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4160520"/>
            <a:ext cx="5318608" cy="11138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1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AB01, Merkblatt M01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(Basis)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 deine Zustandsfolgen mit deiner Nachbarin / deinem Nachbarn.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Profis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Ab in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Akzeptor-Arena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(Stufe 1, dann 2).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Akzeptor-Arena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Akzeptor-Arena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Akzeptor-Arena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ansehen, Wort lesen, entscheiden: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Du hast 60 Sekunden. Bei Fehlern zeigt „Zeig mir warum“ den Lauf Schritt für Schritt.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https://automatenlab.frankjuchim.de/#/arena?stufe=1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Deterministischer endlicher 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522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242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DEA liest ein Wort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Zeichen für Zeichen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wechselt bei jedem Zeichen 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Folgezustand.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Wort wird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der Automat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dem letzten Zeichen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einem Endzustand ist.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Zustände sind das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Gedächtnis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Sie speichern nur das, was für die Entscheidung wichtig ist.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Abitur: Automat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Fehlerzustand mit Hinweis weglassen.</a:t>
            </a:r>
            <a:endParaRPr lang="en-US" sz="2200" dirty="0"/>
          </a:p>
        </p:txBody>
      </p:sp>
      <p:pic>
        <p:nvPicPr>
          <p:cNvPr id="6" name="Image 1" descr="/home/user/AutomatenLab/materials/build/img/ds01/l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3106223"/>
            <a:ext cx="4206240" cy="133135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Zustände, Übergänge, Start- und Endzustände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Verarbeitung als Zustandsfolge darstellen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Bedeutung eines Zustands im Sachzusammenhang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Vollständigkeit und Fehlerzustand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Beschreibe drei Automaten aus deinem Alltag (Zustände und Eingaben). Zeichne für einen davon einen Zustandsgraphen.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 Automat hört zu</dc:title>
  <dc:subject>PptxGenJS Presentation</dc:subject>
  <dc:creator>Frank Juchim</dc:creator>
  <cp:lastModifiedBy>Frank Juchim</cp:lastModifiedBy>
  <cp:revision>1</cp:revision>
  <dcterms:created xsi:type="dcterms:W3CDTF">2026-10-14T07:05:13Z</dcterms:created>
  <dcterms:modified xsi:type="dcterms:W3CDTF">2026-10-14T07:05:13Z</dcterms:modified>
</cp:coreProperties>
</file>