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[0:00–0:25] Einstieg
„Viele verlieren Punkte nicht, weil sie den Automaten nicht verstehen – sondern weil die Antwort unvollständig ist. Bei jedem Typ darfst du zuerst urteilen: A oder B?“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[0:25–1:00] Operatoren
„Erläutern heißt immer: mit Bezug zur Situation.“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[1:00–1:45] Typ 1: Verarbeitung darstellen
„A sagt nur das Ergebnis – darstellen verlangt den Lauf.“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[1:45–2:35] Typ 2: Bedeutung erläutern
„A nennt nur ein Beispielwort. B sagt, was der Zustand für die Situation bedeutet.“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[2:35–3:25] Typ 3: Grenzen begründen
„‚Zu wenige Zustände‘ ist keine Begründung – mehr Zustände würden ja helfen, oder? Nein: Es geht um unbeschränkt.“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[3:25–4:25] Typ 4: Kellertabelle
„Pausiere und finde drei Fehler.“
Auflösung Fehler für Fehler zeigen.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[4:25–5:20] Typ 5: Grammatik oder Sprache?
„Eine bestimmte Grammatik ist nicht regulär – die Sprache kann trotzdem regulär sein, wenn es irgendeine reguläre Grammatik gibt.“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[5:20–5:50] Checkliste
„Diese fünf Fragen kosten 30 Sekunden und retten Punkte.“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[5:50–6:15] Zusammenfassung
Viel Erfolg wünschen; auf Übungsklausur verweisen.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_TITEL">
    <p:bg>
      <p:bgPr>
        <a:solidFill>
          <a:srgbClr val="0E64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4572000"/>
            <a:ext cx="3200400" cy="2057400"/>
          </a:xfrm>
          <a:prstGeom prst="rect">
            <a:avLst/>
          </a:prstGeom>
          <a:solidFill>
            <a:srgbClr val="0B574A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4572000"/>
            <a:ext cx="320040" cy="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4572000"/>
            <a:ext cx="0" cy="32004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658600" y="4572000"/>
            <a:ext cx="320040" cy="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978640" y="4572000"/>
            <a:ext cx="0" cy="32004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778240" y="6629400"/>
            <a:ext cx="320040" cy="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778240" y="6309360"/>
            <a:ext cx="0" cy="32004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658600" y="6629400"/>
            <a:ext cx="320040" cy="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978640" y="6309360"/>
            <a:ext cx="0" cy="32004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_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9  ·  Abi-Check  ·  automatenlab.frankjuchim.de</a:t>
            </a:r>
            <a:endParaRPr lang="en-US" sz="1200" dirty="0"/>
          </a:p>
        </p:txBody>
      </p:sp>
      <p:sp>
        <p:nvSpPr>
          <p:cNvPr id="4" name="Shape 1"/>
          <p:cNvSpPr/>
          <p:nvPr/>
        </p:nvSpPr>
        <p:spPr>
          <a:xfrm>
            <a:off x="8778240" y="4572000"/>
            <a:ext cx="3200400" cy="2057400"/>
          </a:xfrm>
          <a:prstGeom prst="rect">
            <a:avLst/>
          </a:prstGeom>
          <a:solidFill>
            <a:srgbClr val="F1F7F6"/>
          </a:solidFill>
          <a:ln/>
        </p:spPr>
      </p:sp>
      <p:sp>
        <p:nvSpPr>
          <p:cNvPr id="5" name="Shape 2"/>
          <p:cNvSpPr/>
          <p:nvPr/>
        </p:nvSpPr>
        <p:spPr>
          <a:xfrm>
            <a:off x="8778240" y="4572000"/>
            <a:ext cx="320040" cy="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78240" y="4572000"/>
            <a:ext cx="0" cy="32004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1658600" y="4572000"/>
            <a:ext cx="320040" cy="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1978640" y="4572000"/>
            <a:ext cx="0" cy="32004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778240" y="6629400"/>
            <a:ext cx="320040" cy="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778240" y="6309360"/>
            <a:ext cx="0" cy="32004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658600" y="6629400"/>
            <a:ext cx="320040" cy="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1978640" y="6309360"/>
            <a:ext cx="0" cy="32004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_AKZENT">
    <p:bg>
      <p:bgPr>
        <a:solidFill>
          <a:srgbClr val="F1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9  ·  Abi-Check  ·  automatenlab.frankjuchim.de</a:t>
            </a:r>
            <a:endParaRPr lang="en-US" sz="1200" dirty="0"/>
          </a:p>
        </p:txBody>
      </p:sp>
      <p:sp>
        <p:nvSpPr>
          <p:cNvPr id="4" name="Shape 1"/>
          <p:cNvSpPr/>
          <p:nvPr/>
        </p:nvSpPr>
        <p:spPr>
          <a:xfrm>
            <a:off x="8778240" y="4572000"/>
            <a:ext cx="3200400" cy="2057400"/>
          </a:xfrm>
          <a:prstGeom prst="rect">
            <a:avLst/>
          </a:prstGeom>
          <a:solidFill>
            <a:srgbClr val="E4EEEC"/>
          </a:solidFill>
          <a:ln/>
        </p:spPr>
      </p:sp>
      <p:sp>
        <p:nvSpPr>
          <p:cNvPr id="5" name="Shape 2"/>
          <p:cNvSpPr/>
          <p:nvPr/>
        </p:nvSpPr>
        <p:spPr>
          <a:xfrm>
            <a:off x="8778240" y="4572000"/>
            <a:ext cx="320040" cy="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78240" y="4572000"/>
            <a:ext cx="0" cy="32004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1658600" y="4572000"/>
            <a:ext cx="320040" cy="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1978640" y="4572000"/>
            <a:ext cx="0" cy="32004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778240" y="6629400"/>
            <a:ext cx="320040" cy="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778240" y="6309360"/>
            <a:ext cx="0" cy="32004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658600" y="6629400"/>
            <a:ext cx="320040" cy="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1978640" y="6309360"/>
            <a:ext cx="0" cy="32004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_DUNKEL">
    <p:bg>
      <p:bgPr>
        <a:solidFill>
          <a:srgbClr val="0A4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4572000"/>
            <a:ext cx="3200400" cy="2057400"/>
          </a:xfrm>
          <a:prstGeom prst="rect">
            <a:avLst/>
          </a:prstGeom>
          <a:solidFill>
            <a:srgbClr val="083D34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4572000"/>
            <a:ext cx="320040" cy="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4572000"/>
            <a:ext cx="0" cy="32004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658600" y="4572000"/>
            <a:ext cx="320040" cy="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978640" y="4572000"/>
            <a:ext cx="0" cy="32004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778240" y="6629400"/>
            <a:ext cx="320040" cy="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778240" y="6309360"/>
            <a:ext cx="0" cy="32004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658600" y="6629400"/>
            <a:ext cx="320040" cy="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978640" y="6309360"/>
            <a:ext cx="0" cy="32004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914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Erklärvideo 9  ·  Maschinen, die Sprache verstehen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63040"/>
            <a:ext cx="7863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Abi-Check: Antworten, die volle Punkte bringen</a:t>
            </a:r>
            <a:endParaRPr lang="en-US" sz="4600" dirty="0"/>
          </a:p>
        </p:txBody>
      </p:sp>
      <p:sp>
        <p:nvSpPr>
          <p:cNvPr id="4" name="Shape 2"/>
          <p:cNvSpPr/>
          <p:nvPr/>
        </p:nvSpPr>
        <p:spPr>
          <a:xfrm>
            <a:off x="640080" y="3977640"/>
            <a:ext cx="7772400" cy="1463040"/>
          </a:xfrm>
          <a:prstGeom prst="roundRect">
            <a:avLst>
              <a:gd name="adj" fmla="val 7500"/>
            </a:avLst>
          </a:prstGeom>
          <a:solidFill>
            <a:srgbClr val="0A4A3F"/>
          </a:solidFill>
          <a:ln w="12700">
            <a:solidFill>
              <a:srgbClr val="0A4A3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4114800"/>
            <a:ext cx="7315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Leitfrage</a:t>
            </a:r>
            <a:endParaRPr lang="en-US" sz="1500" dirty="0"/>
          </a:p>
          <a:p>
            <a:pPr indent="0" marL="0">
              <a:buNone/>
            </a:pPr>
            <a:r>
              <a:rPr lang="en-US" sz="23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muss in einer Antwort stehen, damit sie vollständig ist?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FD9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automatenlab.frankjuchim.de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0" y="914400"/>
            <a:ext cx="960120" cy="96012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D7EA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0" y="91440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S0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10561320" y="914400"/>
            <a:ext cx="960120" cy="96012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D7EAE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91440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9857232" y="2331720"/>
            <a:ext cx="960120" cy="96012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F3D9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948672" y="2423160"/>
            <a:ext cx="777240" cy="777240"/>
          </a:xfrm>
          <a:prstGeom prst="ellipse">
            <a:avLst/>
          </a:prstGeom>
          <a:solidFill>
            <a:srgbClr val="0E6455"/>
          </a:solidFill>
          <a:ln w="19050">
            <a:solidFill>
              <a:srgbClr val="F3D9B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857232" y="23317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S2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10122408" y="1389888"/>
            <a:ext cx="420624" cy="0"/>
          </a:xfrm>
          <a:prstGeom prst="line">
            <a:avLst/>
          </a:prstGeom>
          <a:noFill/>
          <a:ln w="25400">
            <a:solidFill>
              <a:srgbClr val="D7EAE6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 flipH="1">
            <a:off x="10652760" y="1874520"/>
            <a:ext cx="256032" cy="475488"/>
          </a:xfrm>
          <a:prstGeom prst="line">
            <a:avLst/>
          </a:prstGeom>
          <a:noFill/>
          <a:ln w="25400">
            <a:solidFill>
              <a:srgbClr val="D7EAE6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Operatoren – was wird verlangt?</a:t>
            </a:r>
            <a:endParaRPr lang="en-US" sz="3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78638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486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 lieferst …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nennen / angeben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 Ergebnis, </a:t>
                      </a:r>
                      <a:r>
                        <a:rPr lang="en-US" sz="2000" b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ohne</a:t>
                      </a: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Begründung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beschreiben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 Sachverhalt in eigenen Worten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darstellen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Lauf, Tabelle oder Graph – strukturiert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erläutern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Erklärung </a:t>
                      </a:r>
                      <a:r>
                        <a:rPr lang="en-US" sz="2000" b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Sachzusammenhang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begründen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ein Argument mit „da …“ / „weil …“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entwickeln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eine eigene Lösung (Automat, Grammatik)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8778240" y="1325880"/>
            <a:ext cx="3200400" cy="2971800"/>
          </a:xfrm>
          <a:prstGeom prst="roundRect">
            <a:avLst>
              <a:gd name="adj" fmla="val 3077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979408" y="1490472"/>
            <a:ext cx="2798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E6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FAUSTREGEL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979408" y="1901952"/>
            <a:ext cx="27980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etwa </a:t>
            </a:r>
            <a:r>
              <a:rPr lang="en-US" sz="19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Minuten pro BE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 1: Verarbeitung darstellen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i="1" dirty="0">
                <a:solidFill>
                  <a:srgbClr val="0A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„Stellen Sie die Verarbeitung des Wortes LOOL durch den LOL-Erkenner dar.“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3794760" cy="4114800"/>
          </a:xfrm>
          <a:prstGeom prst="roundRect">
            <a:avLst>
              <a:gd name="adj" fmla="val 2410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2377440"/>
            <a:ext cx="548640" cy="548640"/>
          </a:xfrm>
          <a:prstGeom prst="ellipse">
            <a:avLst/>
          </a:prstGeom>
          <a:solidFill>
            <a:srgbClr val="0E645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377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108960"/>
            <a:ext cx="33375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LOOL wird abgelehnt, weil LOL im Wort nicht vorkommt.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617720" y="2194560"/>
            <a:ext cx="3794760" cy="4114800"/>
          </a:xfrm>
          <a:prstGeom prst="roundRect">
            <a:avLst>
              <a:gd name="adj" fmla="val 2410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00600" y="2377440"/>
            <a:ext cx="548640" cy="54864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00600" y="2377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4846320" y="3108960"/>
            <a:ext cx="33375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 –L→ S1 –O→ S2 –O→ S0 –L→ S1. Der Automat endet in S1; S1 ist kein Endzustand ⇒ LOOL wird </a:t>
            </a:r>
            <a:r>
              <a:rPr lang="en-US" sz="20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abgelehnt</a:t>
            </a: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 1: Verarbeitung darstellen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i="1" dirty="0">
                <a:solidFill>
                  <a:srgbClr val="0A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„Stellen Sie die Verarbeitung des Wortes LOOL durch den LOL-Erkenner dar.“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3794760" cy="4114800"/>
          </a:xfrm>
          <a:prstGeom prst="roundRect">
            <a:avLst>
              <a:gd name="adj" fmla="val 2410"/>
            </a:avLst>
          </a:prstGeom>
          <a:solidFill>
            <a:srgbClr val="F7F7F7"/>
          </a:solidFill>
          <a:ln w="12700">
            <a:solidFill>
              <a:srgbClr val="C9D3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2377440"/>
            <a:ext cx="548640" cy="548640"/>
          </a:xfrm>
          <a:prstGeom prst="ellipse">
            <a:avLst/>
          </a:prstGeom>
          <a:solidFill>
            <a:srgbClr val="9AA5A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377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2441448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A832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Punktabzug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108960"/>
            <a:ext cx="33375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LOOL wird abgelehnt, weil LOL im Wort nicht vorkommt.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617720" y="2194560"/>
            <a:ext cx="3794760" cy="4114800"/>
          </a:xfrm>
          <a:prstGeom prst="roundRect">
            <a:avLst>
              <a:gd name="adj" fmla="val 2410"/>
            </a:avLst>
          </a:prstGeom>
          <a:solidFill>
            <a:srgbClr val="EAF4EA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00600" y="2377440"/>
            <a:ext cx="548640" cy="54864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00600" y="2377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0" y="2441448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volle Punkte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3108960"/>
            <a:ext cx="33375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 –L→ S1 –O→ S2 –O→ S0 –L→ S1. Der Automat endet in S1; S1 ist kein Endzustand ⇒ LOOL wird </a:t>
            </a:r>
            <a:r>
              <a:rPr lang="en-US" sz="20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abgelehnt</a:t>
            </a: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 2: Bedeutung eines Zustands erläutern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i="1" dirty="0">
                <a:solidFill>
                  <a:srgbClr val="0A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„Erläutern Sie die Bedeutung des Zustands S3 des Kaffeeautomaten (40 ct; Münzen 10 ct und 20 ct).“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3794760" cy="4114800"/>
          </a:xfrm>
          <a:prstGeom prst="roundRect">
            <a:avLst>
              <a:gd name="adj" fmla="val 2410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2377440"/>
            <a:ext cx="548640" cy="548640"/>
          </a:xfrm>
          <a:prstGeom prst="ellipse">
            <a:avLst/>
          </a:prstGeom>
          <a:solidFill>
            <a:srgbClr val="0E645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377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108960"/>
            <a:ext cx="33375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S3 ist der Automat nach dem Lesen von 10 und 20.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617720" y="2194560"/>
            <a:ext cx="3794760" cy="4114800"/>
          </a:xfrm>
          <a:prstGeom prst="roundRect">
            <a:avLst>
              <a:gd name="adj" fmla="val 2410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00600" y="2377440"/>
            <a:ext cx="548640" cy="54864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00600" y="2377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4846320" y="3108960"/>
            <a:ext cx="33375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Automat ist genau dann in S3, wenn bisher </a:t>
            </a:r>
            <a:r>
              <a:rPr lang="en-US" sz="20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genau 30 ct</a:t>
            </a: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eingeworfen wurden (z. B. 10 + 20, 20 + 10 oder 10 + 10 + 10). Es fehlen noch 10 ct, daher ist S3 kein Endzustand.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 2: Bedeutung eines Zustands erläutern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i="1" dirty="0">
                <a:solidFill>
                  <a:srgbClr val="0A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„Erläutern Sie die Bedeutung des Zustands S3 des Kaffeeautomaten (40 ct; Münzen 10 ct und 20 ct).“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3794760" cy="4114800"/>
          </a:xfrm>
          <a:prstGeom prst="roundRect">
            <a:avLst>
              <a:gd name="adj" fmla="val 2410"/>
            </a:avLst>
          </a:prstGeom>
          <a:solidFill>
            <a:srgbClr val="F7F7F7"/>
          </a:solidFill>
          <a:ln w="12700">
            <a:solidFill>
              <a:srgbClr val="C9D3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2377440"/>
            <a:ext cx="548640" cy="548640"/>
          </a:xfrm>
          <a:prstGeom prst="ellipse">
            <a:avLst/>
          </a:prstGeom>
          <a:solidFill>
            <a:srgbClr val="9AA5A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377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2441448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A832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Punktabzug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108960"/>
            <a:ext cx="33375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S3 ist der Automat nach dem Lesen von 10 und 20.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617720" y="2194560"/>
            <a:ext cx="3794760" cy="4114800"/>
          </a:xfrm>
          <a:prstGeom prst="roundRect">
            <a:avLst>
              <a:gd name="adj" fmla="val 2410"/>
            </a:avLst>
          </a:prstGeom>
          <a:solidFill>
            <a:srgbClr val="EAF4EA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00600" y="2377440"/>
            <a:ext cx="548640" cy="54864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00600" y="2377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0" y="2441448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volle Punkte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3108960"/>
            <a:ext cx="33375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Automat ist genau dann in S3, wenn bisher </a:t>
            </a:r>
            <a:r>
              <a:rPr lang="en-US" sz="20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genau 30 ct</a:t>
            </a: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eingeworfen wurden (z. B. 10 + 20, 20 + 10 oder 10 + 10 + 10). Es fehlen noch 10 ct, daher ist S3 kein Endzustand.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 3: Grenzen begründen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i="1" dirty="0">
                <a:solidFill>
                  <a:srgbClr val="0A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„Entscheiden Sie begründet, ob ein endlicher Automat prüfen kann, ob ein Ausdruck korrekt geklammert ist.“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3794760" cy="4114800"/>
          </a:xfrm>
          <a:prstGeom prst="roundRect">
            <a:avLst>
              <a:gd name="adj" fmla="val 2410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2377440"/>
            <a:ext cx="548640" cy="548640"/>
          </a:xfrm>
          <a:prstGeom prst="ellipse">
            <a:avLst/>
          </a:prstGeom>
          <a:solidFill>
            <a:srgbClr val="0E645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377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108960"/>
            <a:ext cx="33375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Nein, weil der Automat dafür zu wenige Zustände hat.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617720" y="2194560"/>
            <a:ext cx="3794760" cy="4114800"/>
          </a:xfrm>
          <a:prstGeom prst="roundRect">
            <a:avLst>
              <a:gd name="adj" fmla="val 2410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00600" y="2377440"/>
            <a:ext cx="548640" cy="54864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00600" y="2377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4846320" y="3108960"/>
            <a:ext cx="33375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Nein. Ein endlicher Automat hat nur endlich viele Zustände und kann sich nur endlich viele Werte merken. Er müsste sich die Anzahl der </a:t>
            </a:r>
            <a:r>
              <a:rPr lang="en-US" sz="20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noch offenen Klammern</a:t>
            </a: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merken, die </a:t>
            </a:r>
            <a:r>
              <a:rPr lang="en-US" sz="20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beliebig groß</a:t>
            </a: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werden kann. Ein Kellerautomat kann sie im Keller speichern.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 3: Grenzen begründen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i="1" dirty="0">
                <a:solidFill>
                  <a:srgbClr val="0A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„Entscheiden Sie begründet, ob ein endlicher Automat prüfen kann, ob ein Ausdruck korrekt geklammert ist.“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3794760" cy="4114800"/>
          </a:xfrm>
          <a:prstGeom prst="roundRect">
            <a:avLst>
              <a:gd name="adj" fmla="val 2410"/>
            </a:avLst>
          </a:prstGeom>
          <a:solidFill>
            <a:srgbClr val="F7F7F7"/>
          </a:solidFill>
          <a:ln w="12700">
            <a:solidFill>
              <a:srgbClr val="C9D3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2377440"/>
            <a:ext cx="548640" cy="548640"/>
          </a:xfrm>
          <a:prstGeom prst="ellipse">
            <a:avLst/>
          </a:prstGeom>
          <a:solidFill>
            <a:srgbClr val="9AA5A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377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2441448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A832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Punktabzug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108960"/>
            <a:ext cx="33375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Nein, weil der Automat dafür zu wenige Zustände hat.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617720" y="2194560"/>
            <a:ext cx="3794760" cy="4114800"/>
          </a:xfrm>
          <a:prstGeom prst="roundRect">
            <a:avLst>
              <a:gd name="adj" fmla="val 2410"/>
            </a:avLst>
          </a:prstGeom>
          <a:solidFill>
            <a:srgbClr val="EAF4EA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00600" y="2377440"/>
            <a:ext cx="548640" cy="54864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00600" y="2377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0" y="2441448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volle Punkte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3108960"/>
            <a:ext cx="33375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Nein. Ein endlicher Automat hat nur endlich viele Zustände und kann sich nur endlich viele Werte merken. Er müsste sich die Anzahl der </a:t>
            </a:r>
            <a:r>
              <a:rPr lang="en-US" sz="20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noch offenen Klammern</a:t>
            </a: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merken, die </a:t>
            </a:r>
            <a:r>
              <a:rPr lang="en-US" sz="20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beliebig groß</a:t>
            </a: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werden kann. Ein Kellerautomat kann sie im Keller speichern.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 4: Finde die drei Fehler (aabb)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786384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2331720"/>
                <a:gridCol w="2011680"/>
                <a:gridCol w="2194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Zustand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Belegung Kellerspeicher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oberstes Kellersymbol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verarbeitetes Eingabezeichen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#AA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34340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1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„akzeptiert, da der Keller leer ist“</a:t>
            </a:r>
            <a:endParaRPr lang="en-US" sz="2100" dirty="0"/>
          </a:p>
        </p:txBody>
      </p:sp>
      <p:sp>
        <p:nvSpPr>
          <p:cNvPr id="5" name="Shape 2"/>
          <p:cNvSpPr/>
          <p:nvPr/>
        </p:nvSpPr>
        <p:spPr>
          <a:xfrm>
            <a:off x="8778240" y="1325880"/>
            <a:ext cx="3200400" cy="2971800"/>
          </a:xfrm>
          <a:prstGeom prst="roundRect">
            <a:avLst>
              <a:gd name="adj" fmla="val 3077"/>
            </a:avLst>
          </a:prstGeom>
          <a:solidFill>
            <a:srgbClr val="F8ECDB"/>
          </a:solidFill>
          <a:ln w="12700">
            <a:solidFill>
              <a:srgbClr val="B26A0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979408" y="1490472"/>
            <a:ext cx="2798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B26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PAUSIERE JETZT!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979408" y="1901952"/>
            <a:ext cx="27980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Kellerautomat für a</a:t>
            </a:r>
            <a:r>
              <a:rPr lang="en-US" sz="1800" baseline="30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r>
              <a:rPr lang="en-US" sz="1800" baseline="30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aus Video 5.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Drei Fehler finden.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Auflösung: die richtige Tabelle</a:t>
            </a:r>
            <a:endParaRPr lang="en-US" sz="3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786384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2331720"/>
                <a:gridCol w="2011680"/>
                <a:gridCol w="2194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Zustand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Belegung Kellerspeicher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oberstes Kellersymbol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verarbeitetes Eingabezeichen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C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AA#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C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C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C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61772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Oberstes Zeichen steht </a:t>
            </a:r>
            <a:r>
              <a:rPr lang="en-US" sz="19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</a:t>
            </a: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A#, AA# …</a:t>
            </a:r>
            <a:endParaRPr lang="en-US" sz="1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Der ε-Übergang nach S2 fehlte – eigene Zeile.</a:t>
            </a:r>
            <a:endParaRPr lang="en-US" sz="1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Akzeptiert, da die Eingabe vollständig gelesen und der </a:t>
            </a:r>
            <a:r>
              <a:rPr lang="en-US" sz="19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Endzustand</a:t>
            </a: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S2 erreicht ist.</a:t>
            </a:r>
            <a:endParaRPr lang="en-US" sz="1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 5: Grammatik oder Sprache?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i="1" dirty="0">
                <a:solidFill>
                  <a:srgbClr val="0A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„G mit A → +xA | +yA | ε ist nicht regulär. Begründen Sie, dass L(G) trotzdem regulär ist.“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3794760" cy="4114800"/>
          </a:xfrm>
          <a:prstGeom prst="roundRect">
            <a:avLst>
              <a:gd name="adj" fmla="val 2410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2377440"/>
            <a:ext cx="548640" cy="548640"/>
          </a:xfrm>
          <a:prstGeom prst="ellipse">
            <a:avLst/>
          </a:prstGeom>
          <a:solidFill>
            <a:srgbClr val="0E645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377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108960"/>
            <a:ext cx="33375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→ +xA hat zwei Terminale vor dem Nichtterminal. Also ist die Grammatik nicht regulär und damit auch die Sprache nicht.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617720" y="2194560"/>
            <a:ext cx="3794760" cy="4114800"/>
          </a:xfrm>
          <a:prstGeom prst="roundRect">
            <a:avLst>
              <a:gd name="adj" fmla="val 2410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00600" y="2377440"/>
            <a:ext cx="548640" cy="54864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00600" y="2377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4846320" y="3108960"/>
            <a:ext cx="33375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→ +xA verletzt die Form A → aB. Die Sprache ist trotzdem regulär, denn diese reguläre Grammatik erzeugt sie: </a:t>
            </a:r>
            <a:r>
              <a:rPr lang="en-US" sz="20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→ +B | ε,  B → xA | yA</a:t>
            </a: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 5: Grammatik oder Sprache?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i="1" dirty="0">
                <a:solidFill>
                  <a:srgbClr val="0A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„G mit A → +xA | +yA | ε ist nicht regulär. Begründen Sie, dass L(G) trotzdem regulär ist.“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3794760" cy="4114800"/>
          </a:xfrm>
          <a:prstGeom prst="roundRect">
            <a:avLst>
              <a:gd name="adj" fmla="val 2410"/>
            </a:avLst>
          </a:prstGeom>
          <a:solidFill>
            <a:srgbClr val="F7F7F7"/>
          </a:solidFill>
          <a:ln w="12700">
            <a:solidFill>
              <a:srgbClr val="C9D3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2377440"/>
            <a:ext cx="548640" cy="548640"/>
          </a:xfrm>
          <a:prstGeom prst="ellipse">
            <a:avLst/>
          </a:prstGeom>
          <a:solidFill>
            <a:srgbClr val="9AA5A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377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2441448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A832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Punktabzug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108960"/>
            <a:ext cx="33375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→ +xA hat zwei Terminale vor dem Nichtterminal. Also ist die Grammatik nicht regulär und damit auch die Sprache nicht.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617720" y="2194560"/>
            <a:ext cx="3794760" cy="4114800"/>
          </a:xfrm>
          <a:prstGeom prst="roundRect">
            <a:avLst>
              <a:gd name="adj" fmla="val 2410"/>
            </a:avLst>
          </a:prstGeom>
          <a:solidFill>
            <a:srgbClr val="EAF4EA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00600" y="2377440"/>
            <a:ext cx="548640" cy="54864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00600" y="2377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0" y="2441448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volle Punkte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3108960"/>
            <a:ext cx="33375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→ +xA verletzt die Form A → aB. Die Sprache ist trotzdem regulär, denn diese reguläre Grammatik erzeugt sie: </a:t>
            </a:r>
            <a:r>
              <a:rPr lang="en-US" sz="20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→ +B | ε,  B → xA | yA</a:t>
            </a: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Checkliste vor der Abgabe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786384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Notation: S0 …, </a:t>
            </a: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#, Σ, Γ</a:t>
            </a:r>
            <a:endParaRPr lang="en-US" sz="24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Hinweis zum </a:t>
            </a: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Fehlerzustand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wenn Pfeile fehlen</a:t>
            </a:r>
            <a:endParaRPr lang="en-US" sz="24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</a:t>
            </a: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Begründung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(„da …“)</a:t>
            </a:r>
            <a:endParaRPr lang="en-US" sz="24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Sachzusammenhang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genannt (ct, Klammern, Spiele …)</a:t>
            </a:r>
            <a:endParaRPr lang="en-US" sz="24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Grammatik: </a:t>
            </a: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N, T, Startsymbol, P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vollständig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8778240" y="1325880"/>
            <a:ext cx="3200400" cy="2971800"/>
          </a:xfrm>
          <a:prstGeom prst="roundRect">
            <a:avLst>
              <a:gd name="adj" fmla="val 3077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79408" y="1490472"/>
            <a:ext cx="2798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E6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MERKBLATT M12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979408" y="1901952"/>
            <a:ext cx="27980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Aufgabentypen mit Antwortmuster.</a:t>
            </a:r>
            <a:endParaRPr lang="en-US" sz="1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 nimmst du mit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71600"/>
            <a:ext cx="7772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800"/>
              </a:spcAft>
              <a:buSzPct val="100000"/>
              <a:buChar char="▪"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Darstellen</a:t>
            </a: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Lauf + Ergebnis + Begründung.</a:t>
            </a:r>
            <a:endParaRPr lang="en-US" sz="2200" dirty="0"/>
          </a:p>
          <a:p>
            <a:pPr marL="279400" indent="-279400">
              <a:spcAft>
                <a:spcPts val="800"/>
              </a:spcAft>
              <a:buSzPct val="100000"/>
              <a:buChar char="▪"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Erläutern</a:t>
            </a: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immer im Sachzusammenhang.</a:t>
            </a:r>
            <a:endParaRPr lang="en-US" sz="2200" dirty="0"/>
          </a:p>
          <a:p>
            <a:pPr marL="279400" indent="-279400">
              <a:spcAft>
                <a:spcPts val="800"/>
              </a:spcAft>
              <a:buSzPct val="100000"/>
              <a:buChar char="▪"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Begründen</a:t>
            </a: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was unbeschränkt gezählt werden müsste.</a:t>
            </a:r>
            <a:endParaRPr lang="en-US" sz="2200" dirty="0"/>
          </a:p>
          <a:p>
            <a:pPr marL="279400" indent="-279400">
              <a:spcAft>
                <a:spcPts val="800"/>
              </a:spcAft>
              <a:buSzPct val="100000"/>
              <a:buChar char="▪"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Tabelle</a:t>
            </a: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oberstes Zeichen links, ε-Zeile, Akzeptanzsatz.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4160520"/>
            <a:ext cx="3749040" cy="2194560"/>
          </a:xfrm>
          <a:prstGeom prst="roundRect">
            <a:avLst>
              <a:gd name="adj" fmla="val 5000"/>
            </a:avLst>
          </a:prstGeom>
          <a:solidFill>
            <a:srgbClr val="0A4A3F"/>
          </a:solidFill>
          <a:ln w="12700">
            <a:solidFill>
              <a:srgbClr val="3E8E7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434340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 Nächstes</a:t>
            </a:r>
            <a:endParaRPr lang="en-US" sz="1500" dirty="0"/>
          </a:p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Übungsklausur (Material der Einheit)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663440" y="4160520"/>
            <a:ext cx="3749040" cy="2194560"/>
          </a:xfrm>
          <a:prstGeom prst="roundRect">
            <a:avLst>
              <a:gd name="adj" fmla="val 5000"/>
            </a:avLst>
          </a:prstGeom>
          <a:solidFill>
            <a:srgbClr val="0A4A3F"/>
          </a:solidFill>
          <a:ln w="12700">
            <a:solidFill>
              <a:srgbClr val="3E8E7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92040" y="434340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Zum Nachlesen</a:t>
            </a:r>
            <a:endParaRPr lang="en-US" sz="1500" dirty="0"/>
          </a:p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Merkblatt M12 – Abi-Spickzettel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778240" y="502920"/>
            <a:ext cx="3200400" cy="379476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778240" y="6400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B26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WEITER ÜBEN</a:t>
            </a:r>
            <a:endParaRPr lang="en-US" sz="14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0" y="1005840"/>
            <a:ext cx="2103120" cy="210312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8915400" y="320040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Level-Quiz</a:t>
            </a:r>
            <a:endParaRPr lang="en-US" sz="18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Level-Quiz Welt C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utomaten LK">
  <a:themeElements>
    <a:clrScheme name="Automaten LK">
      <a:dk1>
        <a:srgbClr val="1F2A2E"/>
      </a:dk1>
      <a:lt1>
        <a:srgbClr val="FFFFFF"/>
      </a:lt1>
      <a:dk2>
        <a:srgbClr val="0E6455"/>
      </a:dk2>
      <a:lt2>
        <a:srgbClr val="E4F0EE"/>
      </a:lt2>
      <a:accent1>
        <a:srgbClr val="0E6455"/>
      </a:accent1>
      <a:accent2>
        <a:srgbClr val="B26A0F"/>
      </a:accent2>
      <a:accent3>
        <a:srgbClr val="3E8E7E"/>
      </a:accent3>
      <a:accent4>
        <a:srgbClr val="D9A45B"/>
      </a:accent4>
      <a:accent5>
        <a:srgbClr val="5B6770"/>
      </a:accent5>
      <a:accent6>
        <a:srgbClr val="A83232"/>
      </a:accent6>
      <a:hlink>
        <a:srgbClr val="0E6455"/>
      </a:hlink>
      <a:folHlink>
        <a:srgbClr val="0A4A3F"/>
      </a:folHlink>
    </a:clrScheme>
    <a:fontScheme name="Automaten LK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Video 9 – Abi-Check: Antworten, die volle Punkte bringen</dc:title>
  <dc:subject>PptxGenJS Presentation</dc:subject>
  <dc:creator>Frank Juchim</dc:creator>
  <cp:lastModifiedBy>Frank Juchim</cp:lastModifiedBy>
  <cp:revision>1</cp:revision>
  <dcterms:created xsi:type="dcterms:W3CDTF">2026-10-14T12:22:26Z</dcterms:created>
  <dcterms:modified xsi:type="dcterms:W3CDTF">2026-10-14T12:22:26Z</dcterms:modified>
</cp:coreProperties>
</file>