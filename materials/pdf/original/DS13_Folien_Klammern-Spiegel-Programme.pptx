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5f3de32f-14e3-43d4-5b04-7013dca64495}">
          <p14:sldIdLst>
            <p14:sldId id="256"/>
          </p14:sldIdLst>
        </p14:section>
        <p14:section name="Einstieg" id="{480b54a8-a198-2f8a-17fd-11447b8c8137}">
          <p14:sldIdLst>
            <p14:sldId id="257"/>
            <p14:sldId id="258"/>
            <p14:sldId id="259"/>
            <p14:sldId id="260"/>
          </p14:sldIdLst>
        </p14:section>
        <p14:section name="Erarbeitung" id="{cb7cfec8-d84c-d55c-29b9-9df04ab5b6b3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Übung" id="{5fe30af4-505e-a885-e729-47a1bc401fc2}">
          <p14:sldIdLst>
            <p14:sldId id="269"/>
            <p14:sldId id="270"/>
            <p14:sldId id="271"/>
          </p14:sldIdLst>
        </p14:section>
        <p14:section name="Sicherung" id="{90ae88df-e137-7e53-d538-9c88f125d803}">
          <p14:sldIdLst>
            <p14:sldId id="272"/>
            <p14:sldId id="273"/>
            <p14:sldId id="274"/>
          </p14:sldIdLst>
        </p14:section>
        <p14:section name="Abschluss" id="{2418a2ee-2f35-6b74-21df-ad93568abd6d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Anknüpfung: Level 7 (Grenzen endlicher Automaten), Level 9/10 (Kellerautomaten), Level 11/12 (Grammatiken).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Beispiele: Rentner, Reliefpfeiler, Lagerregal. Über {0, 1} bis Länge 4: ε, 0, 1, 00, 11, 000, 010, 101, 111, 0000, 0110, 1001, 1111.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Idee sammeln: von außen nach innen bauen – links und rechts dasselbe Zeichen.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Mitte: ε (gerade Länge) oder ein Zeichen (ungerade Länge). Ohne ε fehlen 0110 usw.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Vergleich mit Level 12: Dort durfte rechts höchstens ein Terminal und dahinter ein Nichtterminal stehen.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Muster lassen sich kombinieren: z. B. Tanz-Roboter = Wiederholung + Verschachtelung.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Erste Klammergruppe (S), danach der Rest S. Öffnende und schließende Klammer entstehen immer gemeinsam – deshalb passen sie.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Rallye-Aufgaben 7 und 8. Die Struktur des Baumes legt die Rechenreihenfolge fest.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Eine Grammatik ist mehrdeutig, wenn es ein Wort mit zwei verschiedenen Ableitungsbäumen gibt. Für a = 2: Baum 1 ergibt 6, Baum 2 ergibt 8. Rallye-Aufgabe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Satz: Kontextfreie Sprachen = Sprachen, die ein NKA erkennt. (Beweis nicht im KC.) Analog: reguläre Sprachen = Sprachen, die ein DEA erkennt.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Gleiches Schema wie in Level 7 (M05). Bei verschachtelten Klammern: Präfixe „(“ⁱ, Fortsetzung „)“ⁱ.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Zwischensicherung zur Begründung in Aufgabe 2d (Schubfachprinzip).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 11 ist anspruchsvoll: S → aSbS | bSaS | 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Niemand zu Hause: Baum 1 – nichts passiert; Baum 2 – Heizung aus. Auflösung: Endmarke „ende“ oder Grammatik mit vollständigen/unvollständigen Verzweigungen (Lösung in der Handreichung).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13 · Welt C · Formale Sprachen · nur eA (Leistungskurs)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98545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BY-SA 4.0 · Frank Juchim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TRAG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13 · Welt C · Formale Sprachen · nur eA (Leistungskurs)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98545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BY-SA 4.0 · Frank Juchim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 eA (Leistungskurs)  ·  Level 13  ·  Welt C: Formale Sprachen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Klammern, Spiegel, Programme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Kontextfreie Grammatiken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8961120" cy="1143000"/>
          </a:xfrm>
          <a:prstGeom prst="roundRect">
            <a:avLst>
              <a:gd name="adj" fmla="val 96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828032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Kernfrage</a:t>
            </a:r>
            <a:endParaRPr lang="en-US" sz="14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beschreibt man Sprachen mit Verschachtelung und Symmetrie?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0" y="128016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881360" y="274320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8136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0" y="4297680"/>
            <a:ext cx="822960" cy="82296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0" y="4206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835640" y="219456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835640" y="365760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Spiegelkabinett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Palindrom-Wettbewerb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1421892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8275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Gruppen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744468" y="1325880"/>
            <a:ext cx="226314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9916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247388" y="1325880"/>
            <a:ext cx="1668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Stoppuhr, Tafel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110944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Findet in 3 Minuten das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längste deutsche Palindrom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(vorwärts wie rückwärts gleich).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Notiert dann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Palindrome über {0, 1}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bis zur Länge 4.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erzeugen genau diese Wörter – und keine anderen?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 Regeln erzeugen genau alle Palindrome über {0, 1}?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Erinnerung: Kein DEA erkennt die Palindrome (Level 7) – ein Kellerautomat schon (er legt die erste Hälfte in den Keller und vergleicht rückwärts).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Von außen nach innen: Palindrome</a:t>
            </a:r>
            <a:endParaRPr lang="en-US" sz="3200" dirty="0"/>
          </a:p>
        </p:txBody>
      </p:sp>
      <p:pic>
        <p:nvPicPr>
          <p:cNvPr id="3" name="Image 0" descr="/home/user/AutomatenLab/materials/build/img/ds13/baum_101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1699" y="1463040"/>
            <a:ext cx="4648298" cy="4023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→ 0S0 | 1S1 | 0 | 1 | ε   –   Ableitung: S ⇒ 1S1 ⇒ 10S01 ⇒ 10101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Erarbeitung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Kontextfreie Grammatiken</a:t>
            </a:r>
            <a:endParaRPr lang="en-US" sz="4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Kontextfrei – was heißt das?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Regel hat die Form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w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links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ein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Nichtterminal, rechts eine beliebige Folge (auch ε)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„kontextfrei“: A darf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unabhängig von seiner Umgebung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ersetzt werden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Abitur: „Grammatik“ ohne Zusatz = kontextfreie Grammatik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Rechtsreguläre Grammatiken sind ein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Spezialfall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 möglich: Nichtterminal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der Mitte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 → aSb) – erzeugt Paare von außen nach innen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Muster-Baukasten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749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Regel(n)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erzeugt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Paare von außen nach innen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→ aSb | ab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aⁿbⁿ (n ≥ 1): ab, aabb, …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Spiegel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→ 0S0 | 1S1 | 0 | 1 | ε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 Palindrome über {0, 1}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Verschachteln und Aneinanderreihen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→ (S)S | ε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korrekt geklammerte Ausdrücke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Wiederholung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xA | ε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beliebig viele x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Hintereinander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→ AB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erst ein A-Teil, dann ein B-Teil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Klammerausdrücke als Baum</a:t>
            </a:r>
            <a:endParaRPr lang="en-US" sz="3200" dirty="0"/>
          </a:p>
        </p:txBody>
      </p:sp>
      <p:pic>
        <p:nvPicPr>
          <p:cNvPr id="3" name="Image 0" descr="/home/user/AutomatenLab/materials/build/img/ds13/baum_klamme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760" y="1463040"/>
            <a:ext cx="10186175" cy="3931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→ (S)S | ε   –   S ⇒ (S)S ⇒ ((S)S)S ⇒ (()S)S ⇒ (())S ⇒ (())(S)S ⇒ (())()S ⇒ (())()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Terme mit „Punkt vor Strich“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Grammatik mit Vorrang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31860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→ E+T | T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→ T*F | F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→ (E) | a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E: Summe, T: Produkt, F: Faktor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Mal-Zeichen liegt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tiefer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 Baum → wird zuerst berechnet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324448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26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Baum zu a+a*a</a:t>
            </a:r>
            <a:endParaRPr lang="en-US" sz="2200" dirty="0"/>
          </a:p>
        </p:txBody>
      </p:sp>
      <p:pic>
        <p:nvPicPr>
          <p:cNvPr id="6" name="Image 0" descr="/home/user/AutomatenLab/materials/build/img/ds13/baum_te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9629" y="2057400"/>
            <a:ext cx="4908244" cy="4160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Mehrdeutig: Terme ohne Vorrang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Grammatik:  E → E+E | E*E | (E) | a      Wort:  a+a*a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745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 1: a+(a*a)</a:t>
            </a:r>
            <a:endParaRPr lang="en-US" sz="1900" dirty="0"/>
          </a:p>
        </p:txBody>
      </p:sp>
      <p:pic>
        <p:nvPicPr>
          <p:cNvPr id="6" name="Image 0" descr="/home/user/AutomatenLab/materials/build/img/ds13/term_mehrdeutig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39872"/>
            <a:ext cx="5440680" cy="360705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63640" y="18745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 2: (a+a)*a</a:t>
            </a:r>
            <a:endParaRPr lang="en-US" sz="1900" dirty="0"/>
          </a:p>
        </p:txBody>
      </p:sp>
      <p:pic>
        <p:nvPicPr>
          <p:cNvPr id="8" name="Image 1" descr="/home/user/AutomatenLab/materials/build/img/ds13/term_mehrdeutig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539872"/>
            <a:ext cx="5440680" cy="360705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Kontextfreie Grammatik und Kellerautomat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Grammatik für aⁿbⁿ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31860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→ aSb | ab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erzeugt aⁿbⁿ von außen nach innen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 (rechts): jedes a legt A ab, jedes b nimmt ein A weg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jeder kontextfreien Grammatik gibt es einen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Kellerautomaten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(NKA) für dieselbe Sprache – und umgekehrt.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324448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26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NKA aus Level 9</a:t>
            </a:r>
            <a:endParaRPr lang="en-US" sz="2200" dirty="0"/>
          </a:p>
        </p:txBody>
      </p:sp>
      <p:pic>
        <p:nvPicPr>
          <p:cNvPr id="6" name="Image 0" descr="/home/user/AutomatenLab/materials/build/img/ds13/anbn_nk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4448" y="2057400"/>
            <a:ext cx="5318608" cy="150532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Begründen: Es gibt keine reguläre Grammatik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Annahme: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gibt eine reguläre Grammatik – also auch einen DEA mit k Zuständen.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Präfixe wählen: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aⁱ für i = 1, …, k + 1 (k + 1 Stück)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Schubfachprinzip: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Zwei Präfixe aⁱ, aʲ (i ≠ j) enden im selben Zustand.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Fortsetzung: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Mit bⁱ: aⁱbⁱ gehört zur Sprache, aʲbⁱ nicht – der DEA behandelt beide gleich.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Widerspruch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keine reguläre Grammatik (die Sprache ist nicht regulär).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Arbeitsblatt Level 13</a:t>
            </a:r>
            <a:endParaRPr lang="en-US" sz="4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Auftrag: AB13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236829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 → Partner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690872" y="1325880"/>
            <a:ext cx="2683764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193792" y="1325880"/>
            <a:ext cx="20894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AB13, Merkblatt M10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79854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1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(Basis): Spiegel und Klammern.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2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(Standard): Der Tanz-Roboter – verschachtelte Wiederholungen.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Aufgaben 3 und 4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(Standard): Hostnamen; Wenn – dann – sonst.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5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Kommentare im Kommentar.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Rallye-Baum-Modus (12, 13) und Grammatik-Tester (1, 2, 6, 10, 11).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8808415" y="2148840"/>
            <a:ext cx="2834640" cy="35661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335" y="2377440"/>
            <a:ext cx="1828800" cy="1828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45575" y="4389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Ableitungs-Rallye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Grammatik-Tester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840480" cy="42062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737360"/>
            <a:ext cx="6796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8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Grammatik-Tester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Kontextfreie Challenges: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(aⁿbⁿ),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(Palindrome),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(Klammern),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(aⁿb²ⁿ),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(gleich viele a und b). Die App zeigt dir ein Gegenbeispiel, wenn deine Grammatik zu viel oder zu wenig erzeugt.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https://automatenlab.frankjuchim.de/#/grammatik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 welchem wenn gehört das sonst?</a:t>
            </a:r>
            <a:endParaRPr lang="en-US" sz="4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 welchem wenn gehört das sonst?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h dann wenn k dann an sonst aus      (h: jemand zu Hause, k: kalt)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745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 1: sonst zum inneren wenn</a:t>
            </a:r>
            <a:endParaRPr lang="en-US" sz="1900" dirty="0"/>
          </a:p>
        </p:txBody>
      </p:sp>
      <p:pic>
        <p:nvPicPr>
          <p:cNvPr id="6" name="Image 0" descr="/home/user/AutomatenLab/materials/build/img/ds13/wenn_baum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50411"/>
            <a:ext cx="5440680" cy="358597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63640" y="18745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 2: sonst zum äußeren wenn</a:t>
            </a:r>
            <a:endParaRPr lang="en-US" sz="1900" dirty="0"/>
          </a:p>
        </p:txBody>
      </p:sp>
      <p:pic>
        <p:nvPicPr>
          <p:cNvPr id="8" name="Image 1" descr="/home/user/AutomatenLab/materials/build/img/ds13/wenn_baum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548209"/>
            <a:ext cx="5440680" cy="359038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Merke: Kontextfreie Grammatiken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98545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670529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w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mit genau einem Nichtterminal links; Muster: Paare (aSb), Spiegel, Verschachtelung ((S)S), Wiederholung, Verkettung.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Mehrdeutig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ein Wort mit zwei verschiedenen Ableitungsbäumen – Auflösung durch Endmarken oder geschickte Nichtterminale.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Kontextfreie Grammatiken und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Kellerautomaten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beschreiben dieselben Sprachen.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reguläre Grammatik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Schubfachprinzip wie bei DEA.</a:t>
            </a:r>
            <a:endParaRPr lang="en-US" sz="2200" dirty="0"/>
          </a:p>
        </p:txBody>
      </p:sp>
      <p:pic>
        <p:nvPicPr>
          <p:cNvPr id="6" name="Image 1" descr="/home/user/AutomatenLab/materials/build/img/ds13/baum_01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9855" y="2536719"/>
            <a:ext cx="2743200" cy="247036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Zum Mitnehmen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Kontextfreie Grammatiken entwerfen (Muster-Baukasten)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Ableitungsbäume und Mehrdeutigkeit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Kontextfrei ↔ Kellerautomat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„Keine reguläre Grammatik“ begründen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956048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Hausaufgabe</a:t>
            </a:r>
            <a:endParaRPr lang="en-US" sz="15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AB13 Aufgabe 4 bzw. 5 fertigstellen, Rallye 12 und 13. Sortiere aⁿbⁿ, „endet auf ab“, Palindrome, aⁿbⁿcⁿ nach der Maschine, die man mindestens braucht.</a:t>
            </a:r>
            <a:endParaRPr lang="en-US" sz="15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Max-Planck-Gymnasium Delmenhorst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Klammern, Spiegel, Programme</dc:title>
  <dc:subject>PptxGenJS Presentation</dc:subject>
  <dc:creator>Frank Juchim</dc:creator>
  <cp:lastModifiedBy>Frank Juchim</cp:lastModifiedBy>
  <cp:revision>1</cp:revision>
  <dcterms:created xsi:type="dcterms:W3CDTF">2026-10-14T16:08:23Z</dcterms:created>
  <dcterms:modified xsi:type="dcterms:W3CDTF">2026-10-14T16:08:23Z</dcterms:modified>
</cp:coreProperties>
</file>