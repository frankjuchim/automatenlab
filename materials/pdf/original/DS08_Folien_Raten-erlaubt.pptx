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501c59ad-e9cd-2c90-53cc-ab37d26a9a18}">
          <p14:sldIdLst>
            <p14:sldId id="256"/>
          </p14:sldIdLst>
        </p14:section>
        <p14:section name="Einstieg" id="{48d58c08-5a0b-bb4d-326a-0d9b15ef75ff}">
          <p14:sldIdLst>
            <p14:sldId id="257"/>
            <p14:sldId id="258"/>
            <p14:sldId id="259"/>
          </p14:sldIdLst>
        </p14:section>
        <p14:section name="Erarbeitung" id="{1eb85785-cc8f-89b7-4e79-b818edbe8c06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Übung" id="{0b3ccfba-9381-178a-f4d1-c771be4ecf70}">
          <p14:sldIdLst>
            <p14:sldId id="268"/>
            <p14:sldId id="269"/>
            <p14:sldId id="270"/>
          </p14:sldIdLst>
        </p14:section>
        <p14:section name="Sicherung" id="{8937d36f-e001-3e77-de22-fa3ef2bffec8}">
          <p14:sldIdLst>
            <p14:sldId id="271"/>
            <p14:sldId id="272"/>
          </p14:sldIdLst>
        </p14:section>
        <p14:section name="Abschluss" id="{7ab14eac-e123-d93e-3f7e-b37a9a882e07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8 ist eine Brücke: Nichtdeterminismus brauchen wir für den Kellerautomaten (Level 9/10) und für Grammatiken (Level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Frage: Funktioniert der rechte Entwurf? Was ist in S0 bei L „falsch“? → Es gibt zwei Pfeile mit 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Vorschläge sammeln. Überleitung zum Spiel „Parallelwelten“.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Rollen: Vorleser, Spielzieher, Protokollant, Prüfer. Wortkarten: LLOL, LOOL, XLOLO, LOLOL, 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Nach dem letzten L liegt eine Münze auf S3 ⇒ akzeptiert. Die Mengen sind die Zustände, in denen der NEA „gleichzeitig“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Keine Münze auf S3 ⇒ abgelehnt. Beim zweiten O scheidet die Münze aus S2 aus; S0 bleibt immer belegt.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Formal: δ: Q × (Σ ∪ {ε}) → Teilmengen von Q. Ein DEA ist ein Spezialfall eines 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+101: {S0, S1} –+→ {S1} –1→ {S2} –0→ {S2} –1→ {S2} ⇒ akzeptiert. 10: {S0, S1} –1→ {S2} –0→ {S2} ⇒ akzeptiert. Häufiger Fehler aus alten Materialien: „ε ist Teil des Eingabealphabets“ – falsch.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Teilmengenkonstruktion als eA-Vertiefung. Preis: Ein NEA mit n Zuständen kann einen DEA mit bis zu 2^n Zuständen ergeben (drittletztes Zeichen 1: 4 →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Tabelle gemeinsam: {S0}: a → {S0,S1}, b → {S0}; {S0,S1}: a → {S0,S1}, b → {S0,S2}; {S0,S2}: a → {S0,S1}, b → {S0}. Endzustand: {S0,S2}.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 für alle: Aufgabe 2. Kontrolle der Entwürfe mit der App (Aufgabe 4 = GRATIS).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Weitere Deep-Links: ?aufgabe=5 (Vorzeichen, ε), ?aufgabe=2&amp;modus=teilmengen (Teilmengenkonstruktion).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8 · Welt B · Grenzen &amp; Keller · Zusatz (über das KC hinaus)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8 · Welt B · Grenzen &amp; Keller · Zusatz (über das KC hinaus)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· Zusatz  ·  Level 8  ·  Welt B: Grenzen &amp; Keller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Raten erlaubt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Nichtdeterministische endliche Automaten (NEA) als Brücke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ändert sich, wenn ein Automat mehrere Möglichkeiten hat?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LOL – geht das einfacher?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Automaten, eine Sprache: „enthält LOL“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 aus Level 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ein Folgezustand je Zeichen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Rücksprünge gut überlegen</a:t>
            </a:r>
            <a:endParaRPr lang="en-US" sz="2000" dirty="0"/>
          </a:p>
        </p:txBody>
      </p:sp>
      <p:pic>
        <p:nvPicPr>
          <p:cNvPr id="5" name="Image 0" descr="/home/user/AutomatenLab/materials/build/img/ds08/lol_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5318608" cy="168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Neuer Entwurf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324448" y="2057400"/>
            <a:ext cx="5318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die Kette L – O – L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Schleifen in S0 und S3</a:t>
            </a:r>
            <a:endParaRPr lang="en-US" sz="2000" dirty="0"/>
          </a:p>
        </p:txBody>
      </p:sp>
      <p:pic>
        <p:nvPicPr>
          <p:cNvPr id="8" name="Image 1" descr="/home/user/AutomatenLab/materials/build/img/ds08/lol_ne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4160520"/>
            <a:ext cx="5318608" cy="125578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S0 gibt es für L zwei Pfeile. Was soll der Automat tun?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Idee: Er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rät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ob hier LOL beginnt – oder verfolgt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Möglichkeiten gleichzeitig.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Parallelwelten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Spiel: Parallelwelten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45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Vierergruppen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5404" y="1325880"/>
            <a:ext cx="373532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78324" y="1325880"/>
            <a:ext cx="3140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Spielplan, Münzen, Wortkarten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Münze startet auf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jedem Zeichen zieht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Münze entlang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passenden Pfeile – bei zwei Pfeilen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verdoppelt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sie sich.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passender Pfeil? Die Münze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scheidet aus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Ende: Liegt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eine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Münze auf S3? Dann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Protokolliert nach jedem Zeichen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belegten Zustände.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Protokoll: LLOL – akzeptiert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1737360"/>
                <a:gridCol w="1737360"/>
                <a:gridCol w="173736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gelesen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aktive Zustände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{S0, S1}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{S0, S1}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{S0, S2}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{S0, S1, S3}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home/user/AutomatenLab/materials/build/img/ds08/lol_n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048" y="2926080"/>
            <a:ext cx="8229600" cy="19431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Protokoll: LOOL – abgelehnt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1737360"/>
                <a:gridCol w="1737360"/>
                <a:gridCol w="173736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gelesen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aktive Zustände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{S0, S1}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{S0, S2}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{S0, S1}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home/user/AutomatenLab/materials/build/img/ds08/lol_n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048" y="2926080"/>
            <a:ext cx="8229600" cy="19431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Nichtdeterministischer endlicher Automat (NEA)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79089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 DEA: Σ, Zustände, Startzustand, Endzustände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Aber: Zu einem Zustand und einem Zeichen gibt es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 viele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Folgezustände (auch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Zusätzlich erlaubt: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ε-Übergänge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(ohne Lesen eines Zeichens)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gibt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Weg, der nach dem letzten Zeichen in einem Endzustand endet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 aktiver Zustände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nach jedem Zeichen</a:t>
            </a:r>
            <a:endParaRPr lang="en-US" sz="2200" dirty="0"/>
          </a:p>
        </p:txBody>
      </p:sp>
      <p:pic>
        <p:nvPicPr>
          <p:cNvPr id="4" name="Image 0" descr="/home/user/AutomatenLab/materials/build/img/ds08/lol_n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295" y="3211830"/>
            <a:ext cx="4937760" cy="11658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ε-Übergang: optionales Vorzeichen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{+, -, 0, 1}   ·   ε ist KEIN Eingabezeichen</a:t>
            </a:r>
            <a:endParaRPr lang="en-US" sz="1800" dirty="0"/>
          </a:p>
        </p:txBody>
      </p:sp>
      <p:pic>
        <p:nvPicPr>
          <p:cNvPr id="4" name="Image 0" descr="/home/user/AutomatenLab/materials/build/img/ds08/vorzeich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4440"/>
            <a:ext cx="11094415" cy="30577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Schon vor dem ersten Zeichen sind S0 und S1 aktiv: {S0, S1}.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 und DEA sind gleich mächtig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Beobachtung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gibt nur endlich viele Mengen aktiver Zustände.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Menge wird ein Zustand des DEA.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Verfahren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Startmenge → Folgemengen für jedes Zeichen → bis nichts Neues entsteht.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Endzustände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Mengen, die einen NEA-Endzustand enthalten.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„endet auf ab“</a:t>
            </a:r>
            <a:endParaRPr lang="en-US" sz="3200" dirty="0"/>
          </a:p>
        </p:txBody>
      </p:sp>
      <p:pic>
        <p:nvPicPr>
          <p:cNvPr id="3" name="Image 0" descr="/home/user/AutomatenLab/materials/build/img/ds08/endet_ab_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093" y="1463040"/>
            <a:ext cx="10923509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dem NEA S0 –a→ S1 –b→ S2 (mit Schleife a, b in S0) entsteht dieser DEA mit 3 Zuständen.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8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AB08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AB08, Merkblatt M06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Parallelwelten (Mengen aktiver Zustände).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Spamfilter „GRATIS“ entwerfen.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ε-Übergänge – Vorzeichen und ODER-Baustein.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Teilmengenkonstruktion (App-Modus „Teilmengen“).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Parallelwelten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Parallelwelten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Parallelwelten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deinen Spamfilter: Gib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GRAGRATIS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 und beobachte die Spielfiguren. Im Modus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Rätsel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sagst du vorher, wo die Figuren stehen.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https://automatenlab.frankjuchim.de/#/parallelwelten?aufgabe=4&amp;modus=sim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Nichtdeterminismus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5393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97377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darf für ein Zeichen mehrere (oder keine) Folgezustände haben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ε-Übergänge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benutzen.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Weg in einen Endzustand gibt.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ist kein Eingabezeichen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ε-Übergänge lesen nichts.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und DEA sind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 mächtig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(Teilmengenkonstruktion) – NEA sind oft kleiner und leichter zu entwerfen.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Ausblick: 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(Level 9) ist nichtdeterministisch – gleiche Akzeptanzidee.</a:t>
            </a:r>
            <a:endParaRPr lang="en-US" sz="2200" dirty="0"/>
          </a:p>
        </p:txBody>
      </p:sp>
      <p:pic>
        <p:nvPicPr>
          <p:cNvPr id="6" name="Image 1" descr="/home/user/AutomatenLab/materials/build/img/ds08/o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335" y="2708086"/>
            <a:ext cx="3474720" cy="21276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 aktiver Zustände darstellen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Akzeptanz: mindestens ein Weg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ε-Übergänge, ε ∉ Σ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Gleichmächtigkeit NEA – DEA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über {0, 1}: Bitfolgen, die mit 01 beginnen ODER auf 10 enden (ODER-Baustein mit ε). Verarbeitung von 0110 und 1010 als Mengenfolge darstellen.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Raten erlaubt</dc:title>
  <dc:subject>PptxGenJS Presentation</dc:subject>
  <dc:creator>Frank Juchim</dc:creator>
  <cp:lastModifiedBy>Frank Juchim</cp:lastModifiedBy>
  <cp:revision>1</cp:revision>
  <dcterms:created xsi:type="dcterms:W3CDTF">2026-10-14T16:08:10Z</dcterms:created>
  <dcterms:modified xsi:type="dcterms:W3CDTF">2026-10-14T16:08:10Z</dcterms:modified>
</cp:coreProperties>
</file>