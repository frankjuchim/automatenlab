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Start" id="{54f3d513-a86a-cc4c-40fd-52e71111454c}">
          <p14:sldIdLst>
            <p14:sldId id="256"/>
          </p14:sldIdLst>
        </p14:section>
        <p14:section name="Einstieg" id="{947d9552-6dc9-3ccd-df0c-c028ae3120ee}">
          <p14:sldIdLst>
            <p14:sldId id="257"/>
            <p14:sldId id="258"/>
            <p14:sldId id="259"/>
          </p14:sldIdLst>
        </p14:section>
        <p14:section name="Erarbeitung" id="{b26e7778-d58b-b6a2-93fd-d05157508054}">
          <p14:sldIdLst>
            <p14:sldId id="260"/>
            <p14:sldId id="261"/>
            <p14:sldId id="262"/>
            <p14:sldId id="263"/>
            <p14:sldId id="264"/>
            <p14:sldId id="265"/>
            <p14:sldId id="266"/>
            <p14:sldId id="267"/>
          </p14:sldIdLst>
        </p14:section>
        <p14:section name="Übung" id="{82af396a-f357-80fc-bf9b-618fbc7bf387}">
          <p14:sldIdLst>
            <p14:sldId id="268"/>
            <p14:sldId id="269"/>
            <p14:sldId id="270"/>
          </p14:sldIdLst>
        </p14:section>
        <p14:section name="Sicherung" id="{2442b10c-e918-c892-49c7-4a4feadd62fd}">
          <p14:sldIdLst>
            <p14:sldId id="271"/>
            <p14:sldId id="272"/>
          </p14:sldIdLst>
        </p14:section>
        <p14:section name="Abschluss" id="{0cec37f1-01d4-ec9a-3ff4-72329ddc362d}">
          <p14:sldIdLst>
            <p14:sldId id="273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Level 8 ist eine Brücke: Nichtdeterminismus brauchen wir für den Kellerautomaten (Level 9/10) und für Grammatiken (Level 12).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Frage: Funktioniert der rechte Entwurf? Was ist in S0 bei L „falsch“? → Es gibt zwei Pfeile mit 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Vorschläge sammeln. Überleitung zum Spiel „Parallelwelten“.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Rollen: Vorleser, Spielzieher, Protokollant, Prüfer. Wortkarten: LLOL, LOOL, XLOLO, LOLOL, OLLO.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[NUR LEHRKRAFT] Nach dem letzten L liegt eine Münze auf S3 ⇒ akzeptiert. Die Mengen sind die Zustände, in denen der NEA „gleichzeitig“ ist.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[NUR LEHRKRAFT] Keine Münze auf S3 ⇒ abgelehnt. Beim zweiten O scheidet die Münze aus S2 aus; S0 bleibt immer belegt.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Formal: δ: Q × (Σ ∪ {ε}) → Teilmengen von Q. Ein DEA ist ein Spezialfall eines NEA.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+101: {S0, S1} –+→ {S1} –1→ {S2} –0→ {S2} –1→ {S2} ⇒ akzeptiert. 10: {S0, S1} –1→ {S2} –0→ {S2} ⇒ akzeptiert. Häufiger Fehler aus alten Materialien: „ε ist Teil des Eingabealphabets“ – falsch.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Teilmengenkonstruktion als eA-Vertiefung. Preis: Ein NEA mit n Zuständen kann einen DEA mit bis zu 2^n Zuständen ergeben (drittletztes Zeichen 1: 4 → 8).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[NUR LEHRKRAFT] Tabelle gemeinsam: {S0}: a → {S0,S1}, b → {S0}; {S0,S1}: a → {S0,S1}, b → {S0,S2}; {S0,S2}: a → {S0,S1}, b → {S0}. Endzustand: {S0,S2}.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Kern für alle: Aufgabe 2. Kontrolle der Entwürfe mit der App (Aufgabe 4 = GRATIS).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Weitere Deep-Links: ?aufgabe=5 (Vorzeichen, ε), ?aufgabe=2&amp;modus=teilmengen (Teilmengenkonstruktion).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EL">
    <p:bg>
      <p:bgPr>
        <a:solidFill>
          <a:srgbClr val="0E645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2011680"/>
            <a:ext cx="877824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8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48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BSCHNITT">
    <p:bg>
      <p:bgPr>
        <a:solidFill>
          <a:srgbClr val="0A4A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3017520" y="2377440"/>
            <a:ext cx="8412480" cy="12801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NHAL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3" name="Text 0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Level 8 · Welt B · Grenzen &amp; Keller · Zusatz (über das KC hinaus)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B67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UFTRAG">
    <p:bg>
      <p:bgPr>
        <a:solidFill>
          <a:srgbClr val="F1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3" name="Text 0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Level 8 · Welt B · Grenzen &amp; Keller · Zusatz (über das KC hinaus)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B67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B67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slideLayout" Target="../slideLayouts/slideLayout5.xml"/><Relationship Id="rId5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slideLayout" Target="../slideLayouts/slideLayout5.xml"/><Relationship Id="rId6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123444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3D9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Informatik · Zusatz  ·  Level 8  ·  Welt B: Grenzen &amp; Keller</a:t>
            </a:r>
            <a:endParaRPr lang="en-US" sz="16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640080" y="2011680"/>
            <a:ext cx="87782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8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Raten erlaubt</a:t>
            </a:r>
            <a:endParaRPr lang="en-US" sz="48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3794760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D7EA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Nichtdeterministische endliche Automaten (NEA) als Brücke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640080" y="4709160"/>
            <a:ext cx="8961120" cy="1143000"/>
          </a:xfrm>
          <a:prstGeom prst="roundRect">
            <a:avLst>
              <a:gd name="adj" fmla="val 9600"/>
            </a:avLst>
          </a:prstGeom>
          <a:solidFill>
            <a:srgbClr val="0A4A3F"/>
          </a:solidFill>
          <a:ln w="12700">
            <a:solidFill>
              <a:srgbClr val="0A4A3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68680" y="4828032"/>
            <a:ext cx="85953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3D9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Kernfrage</a:t>
            </a:r>
            <a:endParaRPr lang="en-US" sz="1400" dirty="0"/>
          </a:p>
          <a:p>
            <a:pPr indent="0" marL="0">
              <a:buNone/>
            </a:pPr>
            <a:r>
              <a:rPr lang="en-US" sz="2000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Was ändert sich, wenn ein Automat mehrere Möglichkeiten hat?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10058400" y="1280160"/>
            <a:ext cx="1005840" cy="1005840"/>
          </a:xfrm>
          <a:prstGeom prst="ellipse">
            <a:avLst/>
          </a:prstGeom>
          <a:solidFill>
            <a:srgbClr val="0E6455"/>
          </a:solidFill>
          <a:ln w="31750">
            <a:solidFill>
              <a:srgbClr val="D7EAE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0058400" y="1280160"/>
            <a:ext cx="1005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S0</a:t>
            </a:r>
            <a:endParaRPr lang="en-US" sz="2000" dirty="0"/>
          </a:p>
        </p:txBody>
      </p:sp>
      <p:sp>
        <p:nvSpPr>
          <p:cNvPr id="9" name="Shape 7"/>
          <p:cNvSpPr/>
          <p:nvPr/>
        </p:nvSpPr>
        <p:spPr>
          <a:xfrm>
            <a:off x="10881360" y="2743200"/>
            <a:ext cx="1005840" cy="1005840"/>
          </a:xfrm>
          <a:prstGeom prst="ellipse">
            <a:avLst/>
          </a:prstGeom>
          <a:solidFill>
            <a:srgbClr val="0E6455"/>
          </a:solidFill>
          <a:ln w="31750">
            <a:solidFill>
              <a:srgbClr val="D7EAE6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0881360" y="2743200"/>
            <a:ext cx="1005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S1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10058400" y="4206240"/>
            <a:ext cx="1005840" cy="1005840"/>
          </a:xfrm>
          <a:prstGeom prst="ellipse">
            <a:avLst/>
          </a:prstGeom>
          <a:solidFill>
            <a:srgbClr val="0E6455"/>
          </a:solidFill>
          <a:ln w="31750">
            <a:solidFill>
              <a:srgbClr val="F3D9B5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0149840" y="4297680"/>
            <a:ext cx="822960" cy="822960"/>
          </a:xfrm>
          <a:prstGeom prst="ellipse">
            <a:avLst/>
          </a:prstGeom>
          <a:solidFill>
            <a:srgbClr val="0E6455"/>
          </a:solidFill>
          <a:ln w="19050">
            <a:solidFill>
              <a:srgbClr val="F3D9B5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10058400" y="4206240"/>
            <a:ext cx="1005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S2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10835640" y="2194560"/>
            <a:ext cx="411480" cy="566928"/>
          </a:xfrm>
          <a:prstGeom prst="line">
            <a:avLst/>
          </a:prstGeom>
          <a:noFill/>
          <a:ln w="25400">
            <a:solidFill>
              <a:srgbClr val="D7EAE6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 flipH="1">
            <a:off x="10835640" y="3657600"/>
            <a:ext cx="411480" cy="566928"/>
          </a:xfrm>
          <a:prstGeom prst="line">
            <a:avLst/>
          </a:prstGeom>
          <a:noFill/>
          <a:ln w="25400">
            <a:solidFill>
              <a:srgbClr val="D7EAE6"/>
            </a:solidFill>
            <a:prstDash val="solid"/>
            <a:tailEnd type="triangle"/>
          </a:ln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0120" y="2148840"/>
            <a:ext cx="1737360" cy="1737360"/>
          </a:xfrm>
          <a:prstGeom prst="ellipse">
            <a:avLst/>
          </a:prstGeom>
          <a:solidFill>
            <a:srgbClr val="B26A0F"/>
          </a:solidFill>
          <a:ln w="12700">
            <a:solidFill>
              <a:srgbClr val="B26A0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71600" y="2560320"/>
            <a:ext cx="914400" cy="91440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3017520" y="178308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F3D9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Einstieg</a:t>
            </a:r>
            <a:endParaRPr lang="en-US" sz="2000" dirty="0"/>
          </a:p>
        </p:txBody>
      </p:sp>
      <p:sp>
        <p:nvSpPr>
          <p:cNvPr id="5" name="Text 0"/>
          <p:cNvSpPr/>
          <p:nvPr>
            <p:ph idx="100" type="title" hasCustomPrompt="1"/>
          </p:nvPr>
        </p:nvSpPr>
        <p:spPr>
          <a:xfrm>
            <a:off x="3017520" y="23774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LOL – geht das einfacher?</a:t>
            </a:r>
            <a:endParaRPr lang="en-US" sz="4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Zwei Automaten, eine Sprache: „enthält LOL“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63040"/>
            <a:ext cx="531860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0E645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DEA aus Level 1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057400"/>
            <a:ext cx="5318608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54000" indent="-254000">
              <a:spcAft>
                <a:spcPts val="800"/>
              </a:spcAft>
              <a:buSzPct val="100000"/>
              <a:buChar char="▪"/>
            </a:pPr>
            <a:r>
              <a:rPr lang="en-US" sz="20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genau ein Folgezustand je Zeichen</a:t>
            </a:r>
            <a:endParaRPr lang="en-US" sz="2000" dirty="0"/>
          </a:p>
          <a:p>
            <a:pPr marL="254000" indent="-254000">
              <a:spcAft>
                <a:spcPts val="800"/>
              </a:spcAft>
              <a:buSzPct val="100000"/>
              <a:buChar char="▪"/>
            </a:pPr>
            <a:r>
              <a:rPr lang="en-US" sz="20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Rücksprünge gut überlegen</a:t>
            </a:r>
            <a:endParaRPr lang="en-US" sz="2000" dirty="0"/>
          </a:p>
        </p:txBody>
      </p:sp>
      <p:pic>
        <p:nvPicPr>
          <p:cNvPr id="5" name="Image 0" descr="/home/user/AutomatenLab/materials/build/img/ds08/lol_de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4160520"/>
            <a:ext cx="5318608" cy="168344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6324448" y="1463040"/>
            <a:ext cx="531860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B26A0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Neuer Entwurf</a:t>
            </a:r>
            <a:endParaRPr lang="en-US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6324448" y="2057400"/>
            <a:ext cx="5318608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54000" indent="-254000">
              <a:spcAft>
                <a:spcPts val="800"/>
              </a:spcAft>
              <a:buSzPct val="100000"/>
              <a:buChar char="▪"/>
            </a:pPr>
            <a:r>
              <a:rPr lang="en-US" sz="20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nur die Kette L – O – L</a:t>
            </a:r>
            <a:endParaRPr lang="en-US" sz="2000" dirty="0"/>
          </a:p>
          <a:p>
            <a:pPr marL="254000" indent="-254000">
              <a:spcAft>
                <a:spcPts val="800"/>
              </a:spcAft>
              <a:buSzPct val="100000"/>
              <a:buChar char="▪"/>
            </a:pPr>
            <a:r>
              <a:rPr lang="en-US" sz="20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plus Schleifen in S0 und S3</a:t>
            </a:r>
            <a:endParaRPr lang="en-US" sz="2000" dirty="0"/>
          </a:p>
        </p:txBody>
      </p:sp>
      <p:pic>
        <p:nvPicPr>
          <p:cNvPr id="8" name="Image 1" descr="/home/user/AutomatenLab/materials/build/img/ds08/lol_nea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24448" y="4160520"/>
            <a:ext cx="5318608" cy="1255782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B67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548640"/>
            <a:ext cx="822960" cy="82296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48640" y="1600200"/>
            <a:ext cx="11094415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A4A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 S0 gibt es für L zwei Pfeile. Was soll der Automat tun?</a:t>
            </a:r>
            <a:endParaRPr lang="en-US" sz="36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411480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Idee: Er </a:t>
            </a:r>
            <a:r>
              <a:rPr lang="en-US" sz="2200" b="1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rät</a:t>
            </a:r>
            <a:r>
              <a:rPr lang="en-US" sz="22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ob hier LOL beginnt – oder verfolgt </a:t>
            </a:r>
            <a:r>
              <a:rPr lang="en-US" sz="2200" b="1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beide</a:t>
            </a:r>
            <a:r>
              <a:rPr lang="en-US" sz="22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Möglichkeiten gleichzeitig.</a:t>
            </a:r>
            <a:endParaRPr lang="en-US" sz="2200" dirty="0"/>
          </a:p>
        </p:txBody>
      </p:sp>
      <p:sp>
        <p:nvSpPr>
          <p:cNvPr id="6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B67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0120" y="2148840"/>
            <a:ext cx="1737360" cy="1737360"/>
          </a:xfrm>
          <a:prstGeom prst="ellipse">
            <a:avLst/>
          </a:prstGeom>
          <a:solidFill>
            <a:srgbClr val="B26A0F"/>
          </a:solidFill>
          <a:ln w="12700">
            <a:solidFill>
              <a:srgbClr val="B26A0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71600" y="2560320"/>
            <a:ext cx="914400" cy="91440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3017520" y="178308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F3D9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Erarbeitung</a:t>
            </a:r>
            <a:endParaRPr lang="en-US" sz="2000" dirty="0"/>
          </a:p>
        </p:txBody>
      </p:sp>
      <p:sp>
        <p:nvSpPr>
          <p:cNvPr id="5" name="Text 0"/>
          <p:cNvSpPr/>
          <p:nvPr>
            <p:ph idx="100" type="title" hasCustomPrompt="1"/>
          </p:nvPr>
        </p:nvSpPr>
        <p:spPr>
          <a:xfrm>
            <a:off x="3017520" y="23774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Parallelwelten</a:t>
            </a:r>
            <a:endParaRPr lang="en-US" sz="4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Spiel: Parallelwelten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325880"/>
            <a:ext cx="1316736" cy="502920"/>
          </a:xfrm>
          <a:prstGeom prst="roundRect">
            <a:avLst>
              <a:gd name="adj" fmla="val 49091"/>
            </a:avLst>
          </a:prstGeom>
          <a:solidFill>
            <a:srgbClr val="FFFFFF"/>
          </a:solidFill>
          <a:ln w="12700">
            <a:solidFill>
              <a:srgbClr val="C9D3D6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088" y="1435608"/>
            <a:ext cx="274320" cy="27432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051560" y="1325880"/>
            <a:ext cx="72237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min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2093976" y="1325880"/>
            <a:ext cx="2052828" cy="502920"/>
          </a:xfrm>
          <a:prstGeom prst="roundRect">
            <a:avLst>
              <a:gd name="adj" fmla="val 49091"/>
            </a:avLst>
          </a:prstGeom>
          <a:solidFill>
            <a:srgbClr val="FFFFFF"/>
          </a:solidFill>
          <a:ln w="12700">
            <a:solidFill>
              <a:srgbClr val="C9D3D6"/>
            </a:solidFill>
            <a:prstDash val="solid"/>
          </a:ln>
        </p:spPr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49424" y="1435608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2596896" y="1325880"/>
            <a:ext cx="145846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Vierergruppen</a:t>
            </a:r>
            <a:endParaRPr lang="en-US" sz="1600" dirty="0"/>
          </a:p>
        </p:txBody>
      </p:sp>
      <p:sp>
        <p:nvSpPr>
          <p:cNvPr id="9" name="Shape 5"/>
          <p:cNvSpPr/>
          <p:nvPr/>
        </p:nvSpPr>
        <p:spPr>
          <a:xfrm>
            <a:off x="4375404" y="1325880"/>
            <a:ext cx="3735324" cy="502920"/>
          </a:xfrm>
          <a:prstGeom prst="roundRect">
            <a:avLst>
              <a:gd name="adj" fmla="val 49091"/>
            </a:avLst>
          </a:prstGeom>
          <a:solidFill>
            <a:srgbClr val="FFFFFF"/>
          </a:solidFill>
          <a:ln w="12700">
            <a:solidFill>
              <a:srgbClr val="C9D3D6"/>
            </a:solidFill>
            <a:prstDash val="solid"/>
          </a:ln>
        </p:spPr>
      </p:sp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30852" y="1435608"/>
            <a:ext cx="274320" cy="274320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4878324" y="1325880"/>
            <a:ext cx="314096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Spielplan, Münzen, Wortkarten</a:t>
            </a:r>
            <a:endParaRPr lang="en-US" sz="1600" dirty="0"/>
          </a:p>
        </p:txBody>
      </p:sp>
      <p:sp>
        <p:nvSpPr>
          <p:cNvPr id="12" name="Text 7"/>
          <p:cNvSpPr txBox="1"/>
          <p:nvPr/>
        </p:nvSpPr>
        <p:spPr>
          <a:xfrm>
            <a:off x="548640" y="2148840"/>
            <a:ext cx="11094415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Eine Münze startet auf </a:t>
            </a:r>
            <a:r>
              <a:rPr lang="en-US" sz="22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S0</a:t>
            </a: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2200" dirty="0"/>
          </a:p>
          <a:p>
            <a:pPr marL="342900" indent="-342900">
              <a:spcAft>
                <a:spcPts val="10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Bei jedem Zeichen zieht </a:t>
            </a:r>
            <a:r>
              <a:rPr lang="en-US" sz="22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jede</a:t>
            </a: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Münze entlang </a:t>
            </a:r>
            <a:r>
              <a:rPr lang="en-US" sz="22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aller</a:t>
            </a: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passenden Pfeile – bei zwei Pfeilen </a:t>
            </a:r>
            <a:r>
              <a:rPr lang="en-US" sz="22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verdoppelt</a:t>
            </a: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sie sich.</a:t>
            </a:r>
            <a:endParaRPr lang="en-US" sz="2200" dirty="0"/>
          </a:p>
          <a:p>
            <a:pPr marL="342900" indent="-342900">
              <a:spcAft>
                <a:spcPts val="10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Kein passender Pfeil? Die Münze </a:t>
            </a:r>
            <a:r>
              <a:rPr lang="en-US" sz="22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scheidet aus</a:t>
            </a: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2200" dirty="0"/>
          </a:p>
          <a:p>
            <a:pPr marL="342900" indent="-342900">
              <a:spcAft>
                <a:spcPts val="10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 Ende: Liegt </a:t>
            </a:r>
            <a:r>
              <a:rPr lang="en-US" sz="22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mindestens eine</a:t>
            </a: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Münze auf S3? Dann </a:t>
            </a:r>
            <a:r>
              <a:rPr lang="en-US" sz="22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akzeptiert</a:t>
            </a: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2200" dirty="0"/>
          </a:p>
          <a:p>
            <a:pPr marL="342900" indent="-342900">
              <a:spcAft>
                <a:spcPts val="10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Protokolliert nach jedem Zeichen die </a:t>
            </a:r>
            <a:r>
              <a:rPr lang="en-US" sz="22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Menge</a:t>
            </a: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der belegten Zustände.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B67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Protokoll: LLOL – akzeptiert</a:t>
            </a:r>
            <a:endParaRPr lang="en-US" sz="32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11091672" cy="914400"/>
        </p:xfrm>
        <a:graphic>
          <a:graphicData uri="http://schemas.openxmlformats.org/drawingml/2006/table">
            <a:tbl>
              <a:tblPr/>
              <a:tblGrid>
                <a:gridCol w="2404872"/>
                <a:gridCol w="1737360"/>
                <a:gridCol w="1737360"/>
                <a:gridCol w="1737360"/>
                <a:gridCol w="1737360"/>
                <a:gridCol w="1737360"/>
              </a:tblGrid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gelesen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645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Start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645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645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645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645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6455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b="1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aktive Zustände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7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{S0}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{S0, S1}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{S0, S1}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{S0, S2}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{S0, S1, S3}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pic>
        <p:nvPicPr>
          <p:cNvPr id="5" name="Image 0" descr="/home/user/AutomatenLab/materials/build/img/ds08/lol_ne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981048" y="2926080"/>
            <a:ext cx="8229600" cy="19431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B67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Protokoll: LOOL – abgelehnt</a:t>
            </a:r>
            <a:endParaRPr lang="en-US" sz="32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11091672" cy="914400"/>
        </p:xfrm>
        <a:graphic>
          <a:graphicData uri="http://schemas.openxmlformats.org/drawingml/2006/table">
            <a:tbl>
              <a:tblPr/>
              <a:tblGrid>
                <a:gridCol w="2404872"/>
                <a:gridCol w="1737360"/>
                <a:gridCol w="1737360"/>
                <a:gridCol w="1737360"/>
                <a:gridCol w="1737360"/>
                <a:gridCol w="1737360"/>
              </a:tblGrid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gelesen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645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Start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645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645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645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645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6455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b="1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aktive Zustände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7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{S0}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{S0, S1}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{S0, S2}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{S0}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dirty="0">
                          <a:solidFill>
                            <a:srgbClr val="1F2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{S0, S1}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pic>
        <p:nvPicPr>
          <p:cNvPr id="5" name="Image 0" descr="/home/user/AutomatenLab/materials/build/img/ds08/lol_ne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981048" y="2926080"/>
            <a:ext cx="8229600" cy="19431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B67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Nichtdeterministischer endlicher Automat (NEA)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17320"/>
            <a:ext cx="5790895" cy="4754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54000" indent="-254000">
              <a:spcAft>
                <a:spcPts val="800"/>
              </a:spcAft>
              <a:buSzPct val="100000"/>
              <a:buChar char="▪"/>
            </a:pP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Wie ein DEA: Σ, Zustände, Startzustand, Endzustände</a:t>
            </a:r>
            <a:endParaRPr lang="en-US" sz="2200" dirty="0"/>
          </a:p>
          <a:p>
            <a:pPr marL="254000" indent="-254000">
              <a:spcAft>
                <a:spcPts val="800"/>
              </a:spcAft>
              <a:buSzPct val="100000"/>
              <a:buChar char="▪"/>
            </a:pP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Aber: Zu einem Zustand und einem Zeichen gibt es </a:t>
            </a:r>
            <a:r>
              <a:rPr lang="en-US" sz="22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beliebig viele</a:t>
            </a: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Folgezustände (auch </a:t>
            </a:r>
            <a:r>
              <a:rPr lang="en-US" sz="22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keinen</a:t>
            </a: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</a:t>
            </a:r>
            <a:endParaRPr lang="en-US" sz="2200" dirty="0"/>
          </a:p>
          <a:p>
            <a:pPr marL="254000" indent="-254000">
              <a:spcAft>
                <a:spcPts val="800"/>
              </a:spcAft>
              <a:buSzPct val="100000"/>
              <a:buChar char="▪"/>
            </a:pP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Zusätzlich erlaubt: </a:t>
            </a:r>
            <a:r>
              <a:rPr lang="en-US" sz="22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ε-Übergänge</a:t>
            </a: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(ohne Lesen eines Zeichens)</a:t>
            </a:r>
            <a:endParaRPr lang="en-US" sz="2200" dirty="0"/>
          </a:p>
          <a:p>
            <a:pPr marL="254000" indent="-254000">
              <a:spcAft>
                <a:spcPts val="800"/>
              </a:spcAft>
              <a:buSzPct val="100000"/>
              <a:buChar char="▪"/>
            </a:pPr>
            <a:r>
              <a:rPr lang="en-US" sz="22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Akzeptanz:</a:t>
            </a: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Es gibt </a:t>
            </a:r>
            <a:r>
              <a:rPr lang="en-US" sz="22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mindestens einen</a:t>
            </a: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Weg, der nach dem letzten Zeichen in einem Endzustand endet</a:t>
            </a:r>
            <a:endParaRPr lang="en-US" sz="2200" dirty="0"/>
          </a:p>
          <a:p>
            <a:pPr marL="254000" indent="-254000">
              <a:spcAft>
                <a:spcPts val="800"/>
              </a:spcAft>
              <a:buSzPct val="100000"/>
              <a:buChar char="▪"/>
            </a:pP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Simulation: </a:t>
            </a:r>
            <a:r>
              <a:rPr lang="en-US" sz="22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Menge aktiver Zustände</a:t>
            </a: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nach jedem Zeichen</a:t>
            </a:r>
            <a:endParaRPr lang="en-US" sz="2200" dirty="0"/>
          </a:p>
        </p:txBody>
      </p:sp>
      <p:pic>
        <p:nvPicPr>
          <p:cNvPr id="4" name="Image 0" descr="/home/user/AutomatenLab/materials/build/img/ds08/lol_ne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05295" y="3211830"/>
            <a:ext cx="4937760" cy="116586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B67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ε-Übergang: optionales Vorzeichen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280160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Σ = {+, -, 0, 1}   ·   ε ist KEIN Eingabezeichen</a:t>
            </a:r>
            <a:endParaRPr lang="en-US" sz="1800" dirty="0"/>
          </a:p>
        </p:txBody>
      </p:sp>
      <p:pic>
        <p:nvPicPr>
          <p:cNvPr id="4" name="Image 0" descr="/home/user/AutomatenLab/materials/build/img/ds08/vorzeiche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334440"/>
            <a:ext cx="11094415" cy="3057799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598932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i="1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Schon vor dem ersten Zeichen sind S0 und S1 aktiv: {S0, S1}.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B67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NEA und DEA sind gleich mächtig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2567864" cy="4297680"/>
          </a:xfrm>
          <a:prstGeom prst="roundRect">
            <a:avLst>
              <a:gd name="adj" fmla="val 3561"/>
            </a:avLst>
          </a:prstGeom>
          <a:solidFill>
            <a:srgbClr val="F1F7F6"/>
          </a:solidFill>
          <a:ln w="12700">
            <a:solidFill>
              <a:srgbClr val="E4F0EE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22960" y="1737360"/>
            <a:ext cx="731520" cy="731520"/>
          </a:xfrm>
          <a:prstGeom prst="ellipse">
            <a:avLst/>
          </a:prstGeom>
          <a:solidFill>
            <a:srgbClr val="0E6455"/>
          </a:solidFill>
          <a:ln w="12700">
            <a:solidFill>
              <a:srgbClr val="0E6455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0120" y="1874520"/>
            <a:ext cx="457200" cy="45720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822960" y="2651760"/>
            <a:ext cx="20192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0A4A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Beobachtung</a:t>
            </a:r>
            <a:endParaRPr lang="en-US" sz="21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3383280"/>
            <a:ext cx="2019224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gibt nur endlich viele Mengen aktiver Zustände.</a:t>
            </a:r>
            <a:endParaRPr lang="en-US" sz="2000" dirty="0"/>
          </a:p>
        </p:txBody>
      </p:sp>
      <p:sp>
        <p:nvSpPr>
          <p:cNvPr id="8" name="Shape 5"/>
          <p:cNvSpPr/>
          <p:nvPr/>
        </p:nvSpPr>
        <p:spPr>
          <a:xfrm>
            <a:off x="3390824" y="1463040"/>
            <a:ext cx="2567864" cy="4297680"/>
          </a:xfrm>
          <a:prstGeom prst="roundRect">
            <a:avLst>
              <a:gd name="adj" fmla="val 3561"/>
            </a:avLst>
          </a:prstGeom>
          <a:solidFill>
            <a:srgbClr val="F1F7F6"/>
          </a:solidFill>
          <a:ln w="12700">
            <a:solidFill>
              <a:srgbClr val="E4F0EE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3665144" y="1737360"/>
            <a:ext cx="731520" cy="731520"/>
          </a:xfrm>
          <a:prstGeom prst="ellipse">
            <a:avLst/>
          </a:prstGeom>
          <a:solidFill>
            <a:srgbClr val="B26A0F"/>
          </a:solidFill>
          <a:ln w="12700">
            <a:solidFill>
              <a:srgbClr val="B26A0F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2304" y="1874520"/>
            <a:ext cx="457200" cy="45720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3665144" y="2651760"/>
            <a:ext cx="20192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0A4A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Idee</a:t>
            </a:r>
            <a:endParaRPr lang="en-US" sz="2100" dirty="0"/>
          </a:p>
        </p:txBody>
      </p:sp>
      <p:sp>
        <p:nvSpPr>
          <p:cNvPr id="12" name="Text 8"/>
          <p:cNvSpPr txBox="1"/>
          <p:nvPr/>
        </p:nvSpPr>
        <p:spPr>
          <a:xfrm>
            <a:off x="3665144" y="3383280"/>
            <a:ext cx="2019224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Jede Menge wird ein Zustand des DEA.</a:t>
            </a:r>
            <a:endParaRPr lang="en-US" sz="2000" dirty="0"/>
          </a:p>
        </p:txBody>
      </p:sp>
      <p:sp>
        <p:nvSpPr>
          <p:cNvPr id="13" name="Shape 9"/>
          <p:cNvSpPr/>
          <p:nvPr/>
        </p:nvSpPr>
        <p:spPr>
          <a:xfrm>
            <a:off x="6233008" y="1463040"/>
            <a:ext cx="2567864" cy="4297680"/>
          </a:xfrm>
          <a:prstGeom prst="roundRect">
            <a:avLst>
              <a:gd name="adj" fmla="val 3561"/>
            </a:avLst>
          </a:prstGeom>
          <a:solidFill>
            <a:srgbClr val="F1F7F6"/>
          </a:solidFill>
          <a:ln w="12700">
            <a:solidFill>
              <a:srgbClr val="E4F0EE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6507328" y="1737360"/>
            <a:ext cx="731520" cy="731520"/>
          </a:xfrm>
          <a:prstGeom prst="ellipse">
            <a:avLst/>
          </a:prstGeom>
          <a:solidFill>
            <a:srgbClr val="0E6455"/>
          </a:solidFill>
          <a:ln w="12700">
            <a:solidFill>
              <a:srgbClr val="0E6455"/>
            </a:solidFill>
            <a:prstDash val="solid"/>
          </a:ln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4488" y="1874520"/>
            <a:ext cx="457200" cy="45720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6507328" y="2651760"/>
            <a:ext cx="20192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0A4A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Verfahren</a:t>
            </a:r>
            <a:endParaRPr lang="en-US" sz="2100" dirty="0"/>
          </a:p>
        </p:txBody>
      </p:sp>
      <p:sp>
        <p:nvSpPr>
          <p:cNvPr id="17" name="Text 12"/>
          <p:cNvSpPr txBox="1"/>
          <p:nvPr/>
        </p:nvSpPr>
        <p:spPr>
          <a:xfrm>
            <a:off x="6507328" y="3383280"/>
            <a:ext cx="2019224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Startmenge → Folgemengen für jedes Zeichen → bis nichts Neues entsteht.</a:t>
            </a:r>
            <a:endParaRPr lang="en-US" sz="2000" dirty="0"/>
          </a:p>
        </p:txBody>
      </p:sp>
      <p:sp>
        <p:nvSpPr>
          <p:cNvPr id="18" name="Shape 13"/>
          <p:cNvSpPr/>
          <p:nvPr/>
        </p:nvSpPr>
        <p:spPr>
          <a:xfrm>
            <a:off x="9075191" y="1463040"/>
            <a:ext cx="2567864" cy="4297680"/>
          </a:xfrm>
          <a:prstGeom prst="roundRect">
            <a:avLst>
              <a:gd name="adj" fmla="val 3561"/>
            </a:avLst>
          </a:prstGeom>
          <a:solidFill>
            <a:srgbClr val="F1F7F6"/>
          </a:solidFill>
          <a:ln w="12700">
            <a:solidFill>
              <a:srgbClr val="E4F0EE"/>
            </a:solidFill>
            <a:prstDash val="solid"/>
          </a:ln>
        </p:spPr>
      </p:sp>
      <p:sp>
        <p:nvSpPr>
          <p:cNvPr id="19" name="Shape 14"/>
          <p:cNvSpPr/>
          <p:nvPr/>
        </p:nvSpPr>
        <p:spPr>
          <a:xfrm>
            <a:off x="9349511" y="1737360"/>
            <a:ext cx="731520" cy="731520"/>
          </a:xfrm>
          <a:prstGeom prst="ellipse">
            <a:avLst/>
          </a:prstGeom>
          <a:solidFill>
            <a:srgbClr val="B26A0F"/>
          </a:solidFill>
          <a:ln w="12700">
            <a:solidFill>
              <a:srgbClr val="B26A0F"/>
            </a:solidFill>
            <a:prstDash val="solid"/>
          </a:ln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86671" y="1874520"/>
            <a:ext cx="457200" cy="457200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9349511" y="2651760"/>
            <a:ext cx="20192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0A4A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Endzustände</a:t>
            </a:r>
            <a:endParaRPr lang="en-US" sz="2100" dirty="0"/>
          </a:p>
        </p:txBody>
      </p:sp>
      <p:sp>
        <p:nvSpPr>
          <p:cNvPr id="22" name="Text 16"/>
          <p:cNvSpPr txBox="1"/>
          <p:nvPr/>
        </p:nvSpPr>
        <p:spPr>
          <a:xfrm>
            <a:off x="9349511" y="3383280"/>
            <a:ext cx="2019224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Alle Mengen, die einen NEA-Endzustand enthalten.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B67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Beispiel: „endet auf ab“</a:t>
            </a:r>
            <a:endParaRPr lang="en-US" sz="3200" dirty="0"/>
          </a:p>
        </p:txBody>
      </p:sp>
      <p:pic>
        <p:nvPicPr>
          <p:cNvPr id="3" name="Image 0" descr="/home/user/AutomatenLab/materials/build/img/ds08/endet_ab_de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34093" y="1463040"/>
            <a:ext cx="10923509" cy="448056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548640" y="598932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i="1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Aus dem NEA S0 –a→ S1 –b→ S2 (mit Schleife a, b in S0) entsteht dieser DEA mit 3 Zuständen.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B67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0120" y="2148840"/>
            <a:ext cx="1737360" cy="1737360"/>
          </a:xfrm>
          <a:prstGeom prst="ellipse">
            <a:avLst/>
          </a:prstGeom>
          <a:solidFill>
            <a:srgbClr val="B26A0F"/>
          </a:solidFill>
          <a:ln w="12700">
            <a:solidFill>
              <a:srgbClr val="B26A0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71600" y="2560320"/>
            <a:ext cx="914400" cy="91440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3017520" y="178308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F3D9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Übung</a:t>
            </a:r>
            <a:endParaRPr lang="en-US" sz="2000" dirty="0"/>
          </a:p>
        </p:txBody>
      </p:sp>
      <p:sp>
        <p:nvSpPr>
          <p:cNvPr id="5" name="Text 0"/>
          <p:cNvSpPr/>
          <p:nvPr>
            <p:ph idx="100" type="title" hasCustomPrompt="1"/>
          </p:nvPr>
        </p:nvSpPr>
        <p:spPr>
          <a:xfrm>
            <a:off x="3017520" y="23774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Arbeitsblatt Level 8</a:t>
            </a:r>
            <a:endParaRPr lang="en-US" sz="44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Auftrag: AB08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325880"/>
            <a:ext cx="1316736" cy="502920"/>
          </a:xfrm>
          <a:prstGeom prst="roundRect">
            <a:avLst>
              <a:gd name="adj" fmla="val 49091"/>
            </a:avLst>
          </a:prstGeom>
          <a:solidFill>
            <a:srgbClr val="FFFFFF"/>
          </a:solidFill>
          <a:ln w="12700">
            <a:solidFill>
              <a:srgbClr val="C9D3D6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088" y="1435608"/>
            <a:ext cx="274320" cy="27432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051560" y="1325880"/>
            <a:ext cx="72237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 min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2093976" y="1325880"/>
            <a:ext cx="2368296" cy="502920"/>
          </a:xfrm>
          <a:prstGeom prst="roundRect">
            <a:avLst>
              <a:gd name="adj" fmla="val 49091"/>
            </a:avLst>
          </a:prstGeom>
          <a:solidFill>
            <a:srgbClr val="FFFFFF"/>
          </a:solidFill>
          <a:ln w="12700">
            <a:solidFill>
              <a:srgbClr val="C9D3D6"/>
            </a:solidFill>
            <a:prstDash val="solid"/>
          </a:ln>
        </p:spPr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49424" y="1435608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2596896" y="1325880"/>
            <a:ext cx="177393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Einzel → Partner</a:t>
            </a:r>
            <a:endParaRPr lang="en-US" sz="1600" dirty="0"/>
          </a:p>
        </p:txBody>
      </p:sp>
      <p:sp>
        <p:nvSpPr>
          <p:cNvPr id="9" name="Shape 5"/>
          <p:cNvSpPr/>
          <p:nvPr/>
        </p:nvSpPr>
        <p:spPr>
          <a:xfrm>
            <a:off x="4690872" y="1325880"/>
            <a:ext cx="2683764" cy="502920"/>
          </a:xfrm>
          <a:prstGeom prst="roundRect">
            <a:avLst>
              <a:gd name="adj" fmla="val 49091"/>
            </a:avLst>
          </a:prstGeom>
          <a:solidFill>
            <a:srgbClr val="FFFFFF"/>
          </a:solidFill>
          <a:ln w="12700">
            <a:solidFill>
              <a:srgbClr val="C9D3D6"/>
            </a:solidFill>
            <a:prstDash val="solid"/>
          </a:ln>
        </p:spPr>
      </p:sp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0" y="1435608"/>
            <a:ext cx="274320" cy="274320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5193792" y="1325880"/>
            <a:ext cx="208940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AB08, Merkblatt M06</a:t>
            </a:r>
            <a:endParaRPr lang="en-US" sz="1600" dirty="0"/>
          </a:p>
        </p:txBody>
      </p:sp>
      <p:sp>
        <p:nvSpPr>
          <p:cNvPr id="12" name="Text 7"/>
          <p:cNvSpPr txBox="1"/>
          <p:nvPr/>
        </p:nvSpPr>
        <p:spPr>
          <a:xfrm>
            <a:off x="548640" y="2148840"/>
            <a:ext cx="7985455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Font typeface="+mj-lt"/>
              <a:buAutoNum type="arabicPeriod" startAt="1"/>
            </a:pPr>
            <a:r>
              <a:rPr lang="en-US" sz="22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Aufgabe 1</a:t>
            </a: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Parallelwelten (Mengen aktiver Zustände).</a:t>
            </a:r>
            <a:endParaRPr lang="en-US" sz="2200" dirty="0"/>
          </a:p>
          <a:p>
            <a:pPr marL="342900" indent="-342900">
              <a:spcAft>
                <a:spcPts val="1000"/>
              </a:spcAft>
              <a:buSzPct val="100000"/>
              <a:buFont typeface="+mj-lt"/>
              <a:buAutoNum type="arabicPeriod" startAt="1"/>
            </a:pPr>
            <a:r>
              <a:rPr lang="en-US" sz="22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Aufgabe 2</a:t>
            </a: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Spamfilter „GRATIS“ entwerfen.</a:t>
            </a:r>
            <a:endParaRPr lang="en-US" sz="2200" dirty="0"/>
          </a:p>
          <a:p>
            <a:pPr marL="342900" indent="-342900">
              <a:spcAft>
                <a:spcPts val="1000"/>
              </a:spcAft>
              <a:buSzPct val="100000"/>
              <a:buFont typeface="+mj-lt"/>
              <a:buAutoNum type="arabicPeriod" startAt="1"/>
            </a:pPr>
            <a:r>
              <a:rPr lang="en-US" sz="22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Aufgabe 3</a:t>
            </a: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ε-Übergänge – Vorzeichen und ODER-Baustein.</a:t>
            </a:r>
            <a:endParaRPr lang="en-US" sz="2200" dirty="0"/>
          </a:p>
          <a:p>
            <a:pPr marL="342900" indent="-342900">
              <a:spcAft>
                <a:spcPts val="10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Profis: </a:t>
            </a:r>
            <a:r>
              <a:rPr lang="en-US" sz="22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Aufgabe 4</a:t>
            </a: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Teilmengenkonstruktion (App-Modus „Teilmengen“).</a:t>
            </a:r>
            <a:endParaRPr lang="en-US" sz="2200" dirty="0"/>
          </a:p>
        </p:txBody>
      </p:sp>
      <p:sp>
        <p:nvSpPr>
          <p:cNvPr id="13" name="Shape 8"/>
          <p:cNvSpPr/>
          <p:nvPr/>
        </p:nvSpPr>
        <p:spPr>
          <a:xfrm>
            <a:off x="8808415" y="2148840"/>
            <a:ext cx="2834640" cy="3566160"/>
          </a:xfrm>
          <a:prstGeom prst="roundRect">
            <a:avLst>
              <a:gd name="adj" fmla="val 3871"/>
            </a:avLst>
          </a:prstGeom>
          <a:solidFill>
            <a:srgbClr val="FFFFFF"/>
          </a:solidFill>
          <a:ln w="19050">
            <a:solidFill>
              <a:srgbClr val="0E6455"/>
            </a:solidFill>
            <a:prstDash val="dash"/>
          </a:ln>
        </p:spPr>
      </p:sp>
      <p:pic>
        <p:nvPicPr>
          <p:cNvPr id="1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11335" y="2377440"/>
            <a:ext cx="1828800" cy="1828800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8945575" y="4389120"/>
            <a:ext cx="25603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B26A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AutomatenLab</a:t>
            </a:r>
            <a:endParaRPr lang="en-US" sz="1500" dirty="0"/>
          </a:p>
          <a:p>
            <a:pPr algn="ctr" indent="0" marL="0">
              <a:buNone/>
            </a:pPr>
            <a:r>
              <a:rPr lang="en-US" sz="1600" b="1" dirty="0">
                <a:solidFill>
                  <a:srgbClr val="0A4A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Parallelwelten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B67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Parallelwelten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554480"/>
            <a:ext cx="3840480" cy="4206240"/>
          </a:xfrm>
          <a:prstGeom prst="roundRect">
            <a:avLst>
              <a:gd name="adj" fmla="val 3571"/>
            </a:avLst>
          </a:prstGeom>
          <a:solidFill>
            <a:srgbClr val="FFFFFF"/>
          </a:solidFill>
          <a:ln w="19050">
            <a:solidFill>
              <a:srgbClr val="0E6455"/>
            </a:solidFill>
            <a:prstDash val="dash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7280" y="1828800"/>
            <a:ext cx="2743200" cy="274320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480060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4846320" y="1737360"/>
            <a:ext cx="6796735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B26A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AutomatenLab</a:t>
            </a:r>
            <a:endParaRPr lang="en-US" sz="1800" dirty="0"/>
          </a:p>
          <a:p>
            <a:pPr indent="0" marL="0">
              <a:buNone/>
            </a:pPr>
            <a:r>
              <a:rPr lang="en-US" sz="3400" b="1" dirty="0">
                <a:solidFill>
                  <a:srgbClr val="0A4A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Parallelwelten</a:t>
            </a:r>
            <a:endParaRPr lang="en-US" sz="1800" dirty="0"/>
          </a:p>
          <a:p>
            <a:pPr indent="0" marL="0">
              <a:buNone/>
            </a:pPr>
            <a:r>
              <a:rPr lang="en-US" sz="1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800" dirty="0"/>
          </a:p>
          <a:p>
            <a:pPr indent="0" marL="0">
              <a:buNone/>
            </a:pP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Teste deinen Spamfilter: Gib </a:t>
            </a:r>
            <a:r>
              <a:rPr lang="en-US" sz="22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GRAGRATIS</a:t>
            </a: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ein und beobachte die Spielfiguren. Im Modus </a:t>
            </a:r>
            <a:r>
              <a:rPr lang="en-US" sz="22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Rätsel</a:t>
            </a: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sagst du vorher, wo die Figuren stehen.</a:t>
            </a:r>
            <a:endParaRPr lang="en-US" sz="1800" dirty="0"/>
          </a:p>
        </p:txBody>
      </p:sp>
      <p:sp>
        <p:nvSpPr>
          <p:cNvPr id="7" name="Text 4"/>
          <p:cNvSpPr txBox="1"/>
          <p:nvPr/>
        </p:nvSpPr>
        <p:spPr>
          <a:xfrm>
            <a:off x="4846320" y="530352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7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https://automatenlab.frankjuchim.de/#/parallelwelten?aufgabe=4&amp;modus=sim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B67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0120" y="2148840"/>
            <a:ext cx="1737360" cy="1737360"/>
          </a:xfrm>
          <a:prstGeom prst="ellipse">
            <a:avLst/>
          </a:prstGeom>
          <a:solidFill>
            <a:srgbClr val="B26A0F"/>
          </a:solidFill>
          <a:ln w="12700">
            <a:solidFill>
              <a:srgbClr val="B26A0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71600" y="2560320"/>
            <a:ext cx="914400" cy="91440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3017520" y="178308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F3D9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Sicherung</a:t>
            </a:r>
            <a:endParaRPr lang="en-US" sz="2000" dirty="0"/>
          </a:p>
        </p:txBody>
      </p:sp>
      <p:sp>
        <p:nvSpPr>
          <p:cNvPr id="5" name="Text 0"/>
          <p:cNvSpPr/>
          <p:nvPr>
            <p:ph idx="100" type="title" hasCustomPrompt="1"/>
          </p:nvPr>
        </p:nvSpPr>
        <p:spPr>
          <a:xfrm>
            <a:off x="3017520" y="23774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Was wir heute gelernt haben</a:t>
            </a:r>
            <a:endParaRPr lang="en-US" sz="44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Merke: Nichtdeterminismus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7253935" cy="4709160"/>
          </a:xfrm>
          <a:prstGeom prst="roundRect">
            <a:avLst>
              <a:gd name="adj" fmla="val 1942"/>
            </a:avLst>
          </a:prstGeom>
          <a:solidFill>
            <a:srgbClr val="F8ECDB"/>
          </a:solidFill>
          <a:ln w="19050">
            <a:solidFill>
              <a:srgbClr val="B26A0F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1645920"/>
            <a:ext cx="502920" cy="50292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554480" y="1645920"/>
            <a:ext cx="5973775" cy="4297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54000" indent="-254000">
              <a:spcAft>
                <a:spcPts val="800"/>
              </a:spcAft>
              <a:buSzPct val="100000"/>
              <a:buChar char="▪"/>
            </a:pP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Ein </a:t>
            </a:r>
            <a:r>
              <a:rPr lang="en-US" sz="22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NEA</a:t>
            </a: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darf für ein Zeichen mehrere (oder keine) Folgezustände haben und </a:t>
            </a:r>
            <a:r>
              <a:rPr lang="en-US" sz="22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ε-Übergänge</a:t>
            </a: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benutzen.</a:t>
            </a:r>
            <a:endParaRPr lang="en-US" sz="2200" dirty="0"/>
          </a:p>
          <a:p>
            <a:pPr marL="254000" indent="-254000">
              <a:spcAft>
                <a:spcPts val="800"/>
              </a:spcAft>
              <a:buSzPct val="100000"/>
              <a:buChar char="▪"/>
            </a:pP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 </a:t>
            </a:r>
            <a:r>
              <a:rPr lang="en-US" sz="22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akzeptiert</a:t>
            </a: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wenn es </a:t>
            </a:r>
            <a:r>
              <a:rPr lang="en-US" sz="22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mindestens einen</a:t>
            </a: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Weg in einen Endzustand gibt.</a:t>
            </a:r>
            <a:endParaRPr lang="en-US" sz="2200" dirty="0"/>
          </a:p>
          <a:p>
            <a:pPr marL="254000" indent="-254000">
              <a:spcAft>
                <a:spcPts val="800"/>
              </a:spcAft>
              <a:buSzPct val="100000"/>
              <a:buChar char="▪"/>
            </a:pPr>
            <a:r>
              <a:rPr lang="en-US" sz="22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ε ist kein Eingabezeichen</a:t>
            </a: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– ε-Übergänge lesen nichts.</a:t>
            </a:r>
            <a:endParaRPr lang="en-US" sz="2200" dirty="0"/>
          </a:p>
          <a:p>
            <a:pPr marL="254000" indent="-254000">
              <a:spcAft>
                <a:spcPts val="800"/>
              </a:spcAft>
              <a:buSzPct val="100000"/>
              <a:buChar char="▪"/>
            </a:pP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NEA und DEA sind </a:t>
            </a:r>
            <a:r>
              <a:rPr lang="en-US" sz="22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gleich mächtig</a:t>
            </a: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(Teilmengenkonstruktion) – NEA sind oft kleiner und leichter zu entwerfen.</a:t>
            </a:r>
            <a:endParaRPr lang="en-US" sz="2200" dirty="0"/>
          </a:p>
          <a:p>
            <a:pPr marL="254000" indent="-254000">
              <a:spcAft>
                <a:spcPts val="800"/>
              </a:spcAft>
              <a:buSzPct val="100000"/>
              <a:buChar char="▪"/>
            </a:pP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Ausblick: Der </a:t>
            </a:r>
            <a:r>
              <a:rPr lang="en-US" sz="2200" b="1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Kellerautomat</a:t>
            </a:r>
            <a:r>
              <a:rPr lang="en-US" sz="2200" dirty="0">
                <a:solidFill>
                  <a:srgbClr val="1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(Level 9) ist nichtdeterministisch – gleiche Akzeptanzidee.</a:t>
            </a:r>
            <a:endParaRPr lang="en-US" sz="2200" dirty="0"/>
          </a:p>
        </p:txBody>
      </p:sp>
      <p:pic>
        <p:nvPicPr>
          <p:cNvPr id="6" name="Image 1" descr="/home/user/AutomatenLab/materials/build/img/ds08/ode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68335" y="2708086"/>
            <a:ext cx="3474720" cy="2127628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B67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731520"/>
            <a:ext cx="10058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Zum Mitnehmen</a:t>
            </a:r>
            <a:endParaRPr lang="en-US" sz="40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737360"/>
            <a:ext cx="1051560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54000" indent="-254000">
              <a:spcAft>
                <a:spcPts val="800"/>
              </a:spcAft>
              <a:buSzPct val="100000"/>
              <a:buChar char="▪"/>
            </a:pPr>
            <a:r>
              <a:rPr lang="en-US" sz="2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Mengen aktiver Zustände darstellen</a:t>
            </a:r>
            <a:endParaRPr lang="en-US" sz="2200" dirty="0"/>
          </a:p>
          <a:p>
            <a:pPr marL="254000" indent="-254000">
              <a:spcAft>
                <a:spcPts val="800"/>
              </a:spcAft>
              <a:buSzPct val="100000"/>
              <a:buChar char="▪"/>
            </a:pPr>
            <a:r>
              <a:rPr lang="en-US" sz="2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Akzeptanz: mindestens ein Weg</a:t>
            </a:r>
            <a:endParaRPr lang="en-US" sz="2200" dirty="0"/>
          </a:p>
          <a:p>
            <a:pPr marL="254000" indent="-254000">
              <a:spcAft>
                <a:spcPts val="800"/>
              </a:spcAft>
              <a:buSzPct val="100000"/>
              <a:buChar char="▪"/>
            </a:pPr>
            <a:r>
              <a:rPr lang="en-US" sz="2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ε-Übergänge, ε ∉ Σ</a:t>
            </a:r>
            <a:endParaRPr lang="en-US" sz="2200" dirty="0"/>
          </a:p>
          <a:p>
            <a:pPr marL="254000" indent="-254000">
              <a:spcAft>
                <a:spcPts val="800"/>
              </a:spcAft>
              <a:buSzPct val="100000"/>
              <a:buChar char="▪"/>
            </a:pPr>
            <a:r>
              <a:rPr lang="en-US" sz="2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Gleichmächtigkeit NEA – DEA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640080" y="4846320"/>
            <a:ext cx="10911535" cy="1280160"/>
          </a:xfrm>
          <a:prstGeom prst="roundRect">
            <a:avLst>
              <a:gd name="adj" fmla="val 8571"/>
            </a:avLst>
          </a:prstGeom>
          <a:solidFill>
            <a:srgbClr val="0A4A3F"/>
          </a:solidFill>
          <a:ln w="12700">
            <a:solidFill>
              <a:srgbClr val="0A4A3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14400" y="4956048"/>
            <a:ext cx="1036289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3D9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Hausaufgabe</a:t>
            </a:r>
            <a:endParaRPr lang="en-US" sz="1500" dirty="0"/>
          </a:p>
          <a:p>
            <a:pPr indent="0" marL="0">
              <a:buNone/>
            </a:pPr>
            <a:r>
              <a:rPr lang="en-US" sz="1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NEA über {0, 1}: Bitfolgen, die mit 01 beginnen ODER auf 10 enden (ODER-Baustein mit ε). Verarbeitung von 0110 und 1010 als Mengenfolge darstellen.</a:t>
            </a:r>
            <a:endParaRPr lang="en-US" sz="1500" dirty="0"/>
          </a:p>
        </p:txBody>
      </p:sp>
      <p:sp>
        <p:nvSpPr>
          <p:cNvPr id="6" name="Text 0"/>
          <p:cNvSpPr/>
          <p:nvPr>
            <p:ph idx="100" type="title" hasCustomPrompt="1"/>
          </p:nvPr>
        </p:nvSpPr>
        <p:spPr>
          <a:xfrm>
            <a:off x="640080" y="2011680"/>
            <a:ext cx="87782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endParaRPr lang="en-US" sz="4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Automaten LK">
  <a:themeElements>
    <a:clrScheme name="Automaten LK">
      <a:dk1>
        <a:srgbClr val="1F2A2E"/>
      </a:dk1>
      <a:lt1>
        <a:srgbClr val="FFFFFF"/>
      </a:lt1>
      <a:dk2>
        <a:srgbClr val="0E6455"/>
      </a:dk2>
      <a:lt2>
        <a:srgbClr val="E4F0EE"/>
      </a:lt2>
      <a:accent1>
        <a:srgbClr val="0E6455"/>
      </a:accent1>
      <a:accent2>
        <a:srgbClr val="B26A0F"/>
      </a:accent2>
      <a:accent3>
        <a:srgbClr val="3E8E7E"/>
      </a:accent3>
      <a:accent4>
        <a:srgbClr val="D9A45B"/>
      </a:accent4>
      <a:accent5>
        <a:srgbClr val="5B6770"/>
      </a:accent5>
      <a:accent6>
        <a:srgbClr val="A83232"/>
      </a:accent6>
      <a:hlink>
        <a:srgbClr val="0E6455"/>
      </a:hlink>
      <a:folHlink>
        <a:srgbClr val="0A4A3F"/>
      </a:folHlink>
    </a:clrScheme>
    <a:fontScheme name="Automaten LK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Max-Planck-Gymnasium Delmenhorst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Raten erlaubt</dc:title>
  <dc:subject>PptxGenJS Presentation</dc:subject>
  <dc:creator>Frank Juchim</dc:creator>
  <cp:lastModifiedBy>Frank Juchim</cp:lastModifiedBy>
  <cp:revision>1</cp:revision>
  <dcterms:created xsi:type="dcterms:W3CDTF">2026-10-14T07:05:21Z</dcterms:created>
  <dcterms:modified xsi:type="dcterms:W3CDTF">2026-10-14T07:05:21Z</dcterms:modified>
</cp:coreProperties>
</file>