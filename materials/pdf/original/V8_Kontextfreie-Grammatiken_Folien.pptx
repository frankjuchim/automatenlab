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Einstieg
„Jeder Compiler prüft Klammern. Reguläre Grammatiken schaffen das nicht – kontextfreie schon.“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[0:20–1:15] Paare erzeugen
„Das S in der Mitte erzeugt bei jedem Schritt ein a links und ein b rechts – genau das, was der DEA nicht konnte.“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[1:15–2:05] Der Bausteinkasten
„Mit diesen vier Bausteinen löst du fast jede Abi-Aufgabe zu kontextfreien Grammatiken.“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[2:05–3:15] Mehrdeutigkeit
„Mit a = 2: einmal 6, einmal 8 – der Baum entscheidet, was gerechnet wird.“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[3:15–4:10] Live: zwei Bäume
Beim ersten Schritt einmal E+E, einmal E*E wählen – „hier trennen sich die Bäume“.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[4:10–4:50] Die Chomsky-Hierarchie
„Jede reguläre Sprache ist auch kontextfrei – aber nicht umgekehrt.“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[4:50–5:25] Jetzt du
„Welcher Baustein passt?“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[5:25–5:50] Zusammenfassung
Hinweis auf Video 9 (Abi-Check).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B574A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8  ·  Kontextfreie Grammatiken  ·  automatenlab.frankjuchim.de  ·  CC BY-SA 4.0 Frank Juchim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F1F7F6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AKZENT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8  ·  Kontextfreie Grammatiken  ·  automatenlab.frankjuchim.de  ·  CC BY-SA 4.0 Frank Juchim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E4EEEC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DUNKEL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83D34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Erklärvideo 8  ·  Maschinen, die Sprache verstehen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Kontextfreie Grammatiken und Mehrdeutigkeit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40080" y="3977640"/>
            <a:ext cx="7772400" cy="1463040"/>
          </a:xfrm>
          <a:prstGeom prst="roundRect">
            <a:avLst>
              <a:gd name="adj" fmla="val 75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114800"/>
            <a:ext cx="7315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Leitfrage</a:t>
            </a:r>
            <a:endParaRPr lang="en-US" sz="1500" dirty="0"/>
          </a:p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können kontextfreie Grammatiken, was reguläre nicht können – und wo lauert die Falle?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automatenlab.frankjuchim.de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056132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857232" y="233172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48672" y="2423160"/>
            <a:ext cx="777240" cy="77724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57232" y="2331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10122408" y="1389888"/>
            <a:ext cx="420624" cy="0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652760" y="1874520"/>
            <a:ext cx="256032" cy="47548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Paare erzeugen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377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37719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→ aSb | ab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aSb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aaSbb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aaabbb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Jedes S erzeugt ein a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 b.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4640580" y="1325880"/>
            <a:ext cx="377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Ableitungsbaum</a:t>
            </a:r>
            <a:endParaRPr lang="en-US" sz="2200" dirty="0"/>
          </a:p>
        </p:txBody>
      </p:sp>
      <p:pic>
        <p:nvPicPr>
          <p:cNvPr id="6" name="Image 0" descr="/home/user/AutomatenLab/materials/build/img/ds13/baum_anb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0580" y="2352635"/>
            <a:ext cx="3771900" cy="306713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KONTEXTFREI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ein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Nichtterminal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beliebig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Bausteinkasten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Baustein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erzeugt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→ aSb | ab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r>
                        <a:rPr lang="en-US" sz="2100" baseline="30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(n ≥ 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Klammern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→ (S)S | 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korrekte Klammerausdrücke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Spiegel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→ 0S0 | 1S1 | 0 | 1 | 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Palindrome über {0, 1}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→ aA | 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beliebig viele 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Klammern ableiten: (())()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(S)S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((S)S)S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(()S)S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(())S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(())(S)S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(())()S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(())()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TIPP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Immer das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linkeste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Nichtterminal ersetzen (Linksableitung).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Mehrdeutig: zwei Bäume für a+a*a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377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+ (a ∗ a)</a:t>
            </a:r>
            <a:endParaRPr lang="en-US" sz="2200" dirty="0"/>
          </a:p>
        </p:txBody>
      </p:sp>
      <p:pic>
        <p:nvPicPr>
          <p:cNvPr id="4" name="Image 0" descr="/home/user/AutomatenLab/materials/build/img/ds13/term_mehrdeutig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07255"/>
            <a:ext cx="3771900" cy="250068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640580" y="1325880"/>
            <a:ext cx="377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(a + a) ∗ a</a:t>
            </a:r>
            <a:endParaRPr lang="en-US" sz="2200" dirty="0"/>
          </a:p>
        </p:txBody>
      </p:sp>
      <p:pic>
        <p:nvPicPr>
          <p:cNvPr id="6" name="Image 1" descr="/home/user/AutomatenLab/materials/build/img/ds13/term_mehrdeutig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2407255"/>
            <a:ext cx="3771900" cy="2500689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→ E+E | E∗E | (E) | 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Wort,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Ableitungsbäume ⇒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mehrdeutig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ist das ein Problem?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Baum =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Bedeutung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Was wird zuerst gerechnet?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 = 2: 2 + (2 · 2) = 6, aber (2 + 2) · 2 = 8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 brauchen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eindeutige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Grammatiken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Lösung: Ebenen für den Vorrang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5532120"/>
            <a:ext cx="7863840" cy="822960"/>
          </a:xfrm>
          <a:prstGeom prst="roundRect">
            <a:avLst>
              <a:gd name="adj" fmla="val 1111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562356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→ E+T | T      T → T∗F | F      F → (E) | a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im AutomatenLab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108960" cy="420624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45920"/>
            <a:ext cx="2468880" cy="2468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251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Ableitungs-Rallye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023360" y="1325880"/>
            <a:ext cx="4389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machen gleich: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Baum-Modus: zwei Bäume für a+a*a bauen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unterscheiden sie sich?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automatenlab.frankjuchim.de/#/rallye?aufgabe=13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Chomsky-Hierarchie</a:t>
            </a:r>
            <a:endParaRPr lang="en-US" sz="3200" dirty="0"/>
          </a:p>
        </p:txBody>
      </p:sp>
      <p:pic>
        <p:nvPicPr>
          <p:cNvPr id="3" name="Image 0" descr="/home/user/AutomatenLab/materials/build/img/ds14/chomsk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939" y="1325880"/>
            <a:ext cx="6605241" cy="5029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ZUORDNUNG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3: DEA / NEA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2: Kellerautomat (NKA)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1/0: Turingmaschine (Ausblick)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Pausiere jetzt!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3258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Gib eine Grammatik für alle Palindrome über {0, 1} an. Ist sie regulär?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560320"/>
            <a:ext cx="77724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Palindrom: vorwärts wie rückwärts gleich, z. B. 0110, 101, ε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GEHT’S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anhalten,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Papier lösen,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weiter: Die Auflösung kommt sofort.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Auflösung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→ 0S0 | 1S1 | 0 | 1 | ε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rechtsregulär: Terminal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vom Nichtterminal (0S0).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Auch die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Sprache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ist nicht regulär (Schubfach: Präfixe 0</a:t>
            </a:r>
            <a:r>
              <a:rPr lang="en-US" sz="2300" baseline="30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Fortsetzung 0</a:t>
            </a:r>
            <a:r>
              <a:rPr lang="en-US" sz="2300" baseline="30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2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nimmst du mit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772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Kontextfrei: links genau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Nichtterminal.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Bausteine: Paare, Klammern, Spiegel, Folgen.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Mehrdeutig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ein Wort mit zwei Ableitungsbäumen.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3 ⊂ Typ 2: DEA ⊂ Kellerautomat.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Nächstes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9: Abi-Check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Nachlesen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Merkblatt M10 – Kontextfreie Grammatiken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778240" y="502920"/>
            <a:ext cx="3200400" cy="379476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778240" y="640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ÜBEN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1005840"/>
            <a:ext cx="2103120" cy="2103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915400" y="32004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Chomsky-Sortierer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Chomsky-Sortierer: 10 Karten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Video 8 – Kontextfreie Grammatiken und Mehrdeutigkeit</dc:title>
  <dc:subject>PptxGenJS Presentation</dc:subject>
  <dc:creator>Frank Juchim</dc:creator>
  <cp:lastModifiedBy>Frank Juchim</cp:lastModifiedBy>
  <cp:revision>1</cp:revision>
  <dcterms:created xsi:type="dcterms:W3CDTF">2026-10-14T16:08:35Z</dcterms:created>
  <dcterms:modified xsi:type="dcterms:W3CDTF">2026-10-14T16:08:35Z</dcterms:modified>
</cp:coreProperties>
</file>