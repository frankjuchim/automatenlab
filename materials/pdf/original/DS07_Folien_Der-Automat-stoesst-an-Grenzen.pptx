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1934b3d-4e8e-902b-c951-5dcbb6f8b524}">
          <p14:sldIdLst>
            <p14:sldId id="256"/>
          </p14:sldIdLst>
        </p14:section>
        <p14:section name="Einstieg" id="{e44b8c16-dcc6-c509-ad9a-62b064273b01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3ddd4c7f-458e-ebb6-eef2-cccca614d0a6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71b32746-48b7-1c49-7c2f-2c6fdb8321f0}">
          <p14:sldIdLst>
            <p14:sldId id="268"/>
            <p14:sldId id="269"/>
            <p14:sldId id="270"/>
          </p14:sldIdLst>
        </p14:section>
        <p14:section name="Sicherung" id="{fc6921ca-78bf-42b8-ded0-5b1be3942a46}">
          <p14:sldIdLst>
            <p14:sldId id="271"/>
            <p14:sldId id="272"/>
          </p14:sldIdLst>
        </p14:section>
        <p14:section name="Abschluss" id="{267e67c2-bba8-7732-928a-c7f58f9e8ed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in Welt B „Grenzen &amp; Keller“. Bisher: Für jedes Problem haben wir einen DEA gebaut. Heute: Gibt es Probleme, an denen jeder DEA scheitert?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Rollenspiel „Finger-Türsteher“: Fingerzahl = Personen im Club. Bei unmöglicher Bewegung ruft die Türsteherin „Alarm!“. Klasse liest Wortkarten Zeichen für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Bedeutung der Zustände formulieren lassen. Frage: Wie viele Zustände bei 50 Plätzen? (52 inkl. Fehlerzustand)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EEEEAAAA: Der vierte Gast ist einer zu viel – Fehlerzustand, obwohl der Club am Ende wieder leer wäre.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Vermutungen sammeln und an der Tafel festhalten („unendlich viele“). Noch nicht auflösen – erst nach dem App-Spiel.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Partnerarbeit, ca. 15 Minuten. Leitfrage auf die Tafel: Welche Wörter funktionieren IMMER, egal wie viele Zustände der Automat 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aabb: S0 –a→ S1 –a→ S2 –b→ S3 –b→ S4. aaabb: S0 –a→ S1 –a→ S2 –a→ S2 –b→ S3 –b→ S4 – akzeptiert, obwohl nicht in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aaa und aaaaa landen im selben Zustand. Ab jetzt kann der Automat die beiden Präfixe nie mehr unterscheiden – egal was folgt.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an der Tafel formulieren; Musterformulierung steht im Merkblatt M05. Betonen: Das Argument funktioniert für JEDES k – deshalb hilft auch ein Zustand mehr nicht (Bonusfrage in der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Merksatz: Ein DEA kann nur endlich viele verschiedene „Erinnerungen“ haben. Sobald eine Größe beliebig groß werden kann UND für die Entscheidung exakt gebraucht wird, scheitert 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15 Minuten: Fallen L1 (endlich), L4 (modulo), L6 (Tiefe ≤ 3), L8 (ab = ba ist regulär!).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Auflösung der Fallen nach der Zwischensicherung zeigen. L8 ist die Profi-Falle: Ausprobieren mit abab (ab 2×, ba 1×) und aba (je 1×).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Welt B · Grenzen &amp; Keller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 · Welt B · Grenzen &amp; Keller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7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Automat stößt an Grenzen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endlicher Automaten und das Schubfachprinzip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Gibt es Probleme, die kein endlicher Automat lösen kann – und wie kann man das begründen?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Türsteher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Club fasst 3 Personen. Der Türsteher darf sich die Personenzahl nur mit den Fingern einer Hand merken. Ist der Club am Ende leer?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jemand kommt herein, A = jemand geht hinaus. Karten: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EEEAAA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EEEEAAAA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AEEA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Türsteher als 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{E, A}   ·   Si: „Es sind gerade i Personen im Club.“</a:t>
            </a:r>
            <a:endParaRPr lang="en-US" sz="1800" dirty="0"/>
          </a:p>
        </p:txBody>
      </p:sp>
      <p:pic>
        <p:nvPicPr>
          <p:cNvPr id="4" name="Image 0" descr="/home/user/AutomatenLab/materials/build/img/ds07/tue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0040"/>
            <a:ext cx="11094415" cy="1426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 (Alarm).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Verarbeitungen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–A→ S1 –A→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EEEAAA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–E→ S3 –A→ S2 –A→ S1 –A→ 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EEEEAAAA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–E→ S1 –E→ S2 –E→ S3 –E→ 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AEEA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Fehlerzustand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wenn der Club keine Kapazitätsgrenze mehr hat?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Finger – also Zustände – bräuchte der Türsteher dann?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Überliste den Automaten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Automat mit k Zuständen behauptet,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{aⁿbⁿ | n ≥ 1}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 erkennen. Finde ein Wort, bei dem er sich irrt! Stufen 1–3, Ergebnisse 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eintragen.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https://automatenlab.frankjuchim.de/#/ueberliste?stufe=1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hast du gewonnen?</a:t>
            </a:r>
            <a:endParaRPr lang="en-US" sz="3200" dirty="0"/>
          </a:p>
        </p:txBody>
      </p:sp>
      <p:pic>
        <p:nvPicPr>
          <p:cNvPr id="3" name="Image 0" descr="/home/user/AutomatenLab/materials/build/img/ds07/zaehler_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4879"/>
            <a:ext cx="11094415" cy="25168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Nach aa und nach aaa ist der Automat im selben Zustand S2 – mit bb dahinter akzeptiert er beide.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Schubfachprinzip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+ 1 Gegenstände in k Schubfächer ⇒ mindestens ein Fach enthält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Gegenstände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Gegenstände = Präfixe a, aa, aaa, …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Schubfächer = Zustände des 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k = 4</a:t>
            </a:r>
            <a:endParaRPr lang="en-US" sz="2200" dirty="0"/>
          </a:p>
        </p:txBody>
      </p:sp>
      <p:pic>
        <p:nvPicPr>
          <p:cNvPr id="6" name="Image 0" descr="/home/user/AutomatenLab/materials/build/img/ds07/schubf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346" y="2057400"/>
            <a:ext cx="4974811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DEA für aⁿbⁿ – in 5 Schritten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Annahme: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DEA mit k Zuständen erkennt L.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Präfixe: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a², …, aᵏ⁺¹ (k + 1 Wörter)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Schubfach: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Zwei davon, aⁱ und aʲ (i &lt; j), enden im selben Zustand.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Fortsetzung: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beide bⁱ anhängen ⇒ wieder derselbe Zustand.</a:t>
            </a:r>
            <a:endParaRPr lang="en-US" sz="26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Widerspruch: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aⁱbⁱ ∈ L, aʲbⁱ ∉ L – der Zustand müsste End- und Nicht-Endzustand sein. Also gibt es </a:t>
            </a:r>
            <a:r>
              <a:rPr lang="en-US" sz="2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 für 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Beschränkt vs. unbeschränkt zählen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möglich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mit höchstens 3 Personen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Klammertiefe höchstens 3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modulo 3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endliche Sprachen, z. B. aⁿbⁿ mit n ≤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DEA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ohne Kapazitätsgrenze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 beliebiger Tiefe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viele a wie b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für alle n ≥ 1, Palindrome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7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Merkblatt M05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Entscheidungstabelle – Vorsicht, Fallen!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Begründen wie im Abitur (Klammern, Prüfnummern, Codes).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(Mealy-Grenze).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App-Stufen 4–5 und Bonus „Warum hilft k + 1 nicht?“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Überliste den Automaten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Fallen in der Entscheidungstabelle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Endlich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mit n ≤ 3: nur drei Wörter – jede endliche Sprache hat einen DEA.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(Anzahl a − Anzahl b) durch 3 teilbar: nur den Rest 0, 1, 2 merken.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Obergrenze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Klammertiefe ≤ 3: wie der Türsteher mit 3 Plätzen.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Täuschung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„ab“ so oft wie „ba“: gleich genau dann, wenn erstes = letztes Zeichen.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Grenzen endlicher Automaten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368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61566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hat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viele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er kann nur endlich viele verschiedene Situationen unterscheiden.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Beschränktes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Zählen (bis zu einer festen Grenze, modulo k) geht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Zählen und Vergleichen nicht.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mit dem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Schubfach-Argument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 + 1 Präfixe → zwei im selben Zustand → gleiche Fortsetzung → Widerspruch.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haben diese Grenze: Die Zustandszahl wächst mit dem Preis.</a:t>
            </a:r>
            <a:endParaRPr lang="en-US" sz="2200" dirty="0"/>
          </a:p>
        </p:txBody>
      </p:sp>
      <p:pic>
        <p:nvPicPr>
          <p:cNvPr id="6" name="Image 1" descr="/home/user/AutomatenLab/materials/build/img/ds07/schubf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95389"/>
            <a:ext cx="3291840" cy="27530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Türsteher: beschränkt vs. unbeschränkt zählen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Schubfach-Argument in 5 Schritten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erkennen: endlich, modulo, Obergrenze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 Level 9: Ein Notizblock ohne Grenze – der Kellerautomat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AB07, Aufgabe 3 vervollständigen; für eine nicht reguläre Sprache das Schubfach-Argument in 5 Schritten ausformulieren (M05 als Vorlage).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Automat stößt an Grenzen</dc:title>
  <dc:subject>PptxGenJS Presentation</dc:subject>
  <dc:creator>Frank Juchim</dc:creator>
  <cp:lastModifiedBy>Frank Juchim</cp:lastModifiedBy>
  <cp:revision>1</cp:revision>
  <dcterms:created xsi:type="dcterms:W3CDTF">2026-10-14T07:05:18Z</dcterms:created>
  <dcterms:modified xsi:type="dcterms:W3CDTF">2026-10-14T07:05:18Z</dcterms:modified>
</cp:coreProperties>
</file>