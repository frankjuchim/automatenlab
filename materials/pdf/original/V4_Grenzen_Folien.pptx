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[0:00–0:20] Einstieg
„Heute beweisen wir, dass es Sprachen gibt, die kein endlicher Automat erkennt – mit einem Argument aus der Sockenschublade.“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[0:20–1:00] Die Sprache aⁿbⁿ
„Der Automat müsste sich die Anzahl der a merken – und die kann beliebig groß werden.“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[1:00–1:55] Versuch: ein Zähler
„A2 heißt: mindestens zwei a – ab dem dritten a vergisst er mitzuzählen.“
„Mehr Zustände verschieben das Problem nur.“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[1:55–3:05] Live: Überliste den Automaten
„Zustand nach jedem Präfix zeigen“ an; „Ab aa bleibt er in A2 – zwei Präfixe, ein Zustand.“
Stufe 5: aaaaaaaaaaabbbbbbbbbb (11 a, 10 b) eingeben.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[3:05–4:25] Das Schubfachprinzip
„5 Socken in 4 Schubladen – mindestens eine Schublade hat zwei.“
Tabelle Zeile für Zeile; betonen: dieselbe Fortsetzung an beide Präfixe.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[4:25–5:10] So schreibst du es im Abi
„Bei ‚Entscheiden Sie begründet‘ mit wenigen BE reicht die Kurzform – aber immer mit Sachbezug.“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[5:10–5:35] Was geht – was nicht?
„Modulo und Obergrenzen sind kein Problem.“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[5:35–6:05] Jetzt du
„Kurz begründen: beschränkt oder unbeschränkt?“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[6:05–6:30] Zusammenfassung
„Was fehlt, ist Gedächtnis – das bekommt der Automat im nächsten Video.“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_TITEL">
    <p:bg>
      <p:bgPr>
        <a:solidFill>
          <a:srgbClr val="0E645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4572000"/>
            <a:ext cx="3200400" cy="2057400"/>
          </a:xfrm>
          <a:prstGeom prst="rect">
            <a:avLst/>
          </a:prstGeom>
          <a:solidFill>
            <a:srgbClr val="0B574A"/>
          </a:solidFill>
          <a:ln/>
        </p:spPr>
      </p:sp>
      <p:sp>
        <p:nvSpPr>
          <p:cNvPr id="3" name="Shape 1"/>
          <p:cNvSpPr/>
          <p:nvPr/>
        </p:nvSpPr>
        <p:spPr>
          <a:xfrm>
            <a:off x="8778240" y="4572000"/>
            <a:ext cx="320040" cy="0"/>
          </a:xfrm>
          <a:prstGeom prst="line">
            <a:avLst/>
          </a:prstGeom>
          <a:noFill/>
          <a:ln w="31750">
            <a:solidFill>
              <a:srgbClr val="F3D9B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778240" y="4572000"/>
            <a:ext cx="0" cy="320040"/>
          </a:xfrm>
          <a:prstGeom prst="line">
            <a:avLst/>
          </a:prstGeom>
          <a:noFill/>
          <a:ln w="31750">
            <a:solidFill>
              <a:srgbClr val="F3D9B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658600" y="4572000"/>
            <a:ext cx="320040" cy="0"/>
          </a:xfrm>
          <a:prstGeom prst="line">
            <a:avLst/>
          </a:prstGeom>
          <a:noFill/>
          <a:ln w="31750">
            <a:solidFill>
              <a:srgbClr val="F3D9B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978640" y="4572000"/>
            <a:ext cx="0" cy="320040"/>
          </a:xfrm>
          <a:prstGeom prst="line">
            <a:avLst/>
          </a:prstGeom>
          <a:noFill/>
          <a:ln w="31750">
            <a:solidFill>
              <a:srgbClr val="F3D9B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778240" y="6629400"/>
            <a:ext cx="320040" cy="0"/>
          </a:xfrm>
          <a:prstGeom prst="line">
            <a:avLst/>
          </a:prstGeom>
          <a:noFill/>
          <a:ln w="31750">
            <a:solidFill>
              <a:srgbClr val="F3D9B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778240" y="6309360"/>
            <a:ext cx="0" cy="320040"/>
          </a:xfrm>
          <a:prstGeom prst="line">
            <a:avLst/>
          </a:prstGeom>
          <a:noFill/>
          <a:ln w="31750">
            <a:solidFill>
              <a:srgbClr val="F3D9B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658600" y="6629400"/>
            <a:ext cx="320040" cy="0"/>
          </a:xfrm>
          <a:prstGeom prst="line">
            <a:avLst/>
          </a:prstGeom>
          <a:noFill/>
          <a:ln w="31750">
            <a:solidFill>
              <a:srgbClr val="F3D9B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978640" y="6309360"/>
            <a:ext cx="0" cy="320040"/>
          </a:xfrm>
          <a:prstGeom prst="line">
            <a:avLst/>
          </a:prstGeom>
          <a:noFill/>
          <a:ln w="31750">
            <a:solidFill>
              <a:srgbClr val="F3D9B5"/>
            </a:solidFill>
            <a:prstDash val="solid"/>
          </a:ln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_INHAL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3" name="Text 0"/>
          <p:cNvSpPr/>
          <p:nvPr/>
        </p:nvSpPr>
        <p:spPr>
          <a:xfrm>
            <a:off x="548640" y="640080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4  ·  Grenzen endlicher Automaten  ·  automatenlab.frankjuchim.de</a:t>
            </a:r>
            <a:endParaRPr lang="en-US" sz="1200" dirty="0"/>
          </a:p>
        </p:txBody>
      </p:sp>
      <p:sp>
        <p:nvSpPr>
          <p:cNvPr id="4" name="Shape 1"/>
          <p:cNvSpPr/>
          <p:nvPr/>
        </p:nvSpPr>
        <p:spPr>
          <a:xfrm>
            <a:off x="8778240" y="4572000"/>
            <a:ext cx="3200400" cy="2057400"/>
          </a:xfrm>
          <a:prstGeom prst="rect">
            <a:avLst/>
          </a:prstGeom>
          <a:solidFill>
            <a:srgbClr val="F1F7F6"/>
          </a:solidFill>
          <a:ln/>
        </p:spPr>
      </p:sp>
      <p:sp>
        <p:nvSpPr>
          <p:cNvPr id="5" name="Shape 2"/>
          <p:cNvSpPr/>
          <p:nvPr/>
        </p:nvSpPr>
        <p:spPr>
          <a:xfrm>
            <a:off x="8778240" y="4572000"/>
            <a:ext cx="320040" cy="0"/>
          </a:xfrm>
          <a:prstGeom prst="line">
            <a:avLst/>
          </a:prstGeom>
          <a:noFill/>
          <a:ln w="31750">
            <a:solidFill>
              <a:srgbClr val="9FC3BC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8778240" y="4572000"/>
            <a:ext cx="0" cy="320040"/>
          </a:xfrm>
          <a:prstGeom prst="line">
            <a:avLst/>
          </a:prstGeom>
          <a:noFill/>
          <a:ln w="31750">
            <a:solidFill>
              <a:srgbClr val="9FC3BC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1658600" y="4572000"/>
            <a:ext cx="320040" cy="0"/>
          </a:xfrm>
          <a:prstGeom prst="line">
            <a:avLst/>
          </a:prstGeom>
          <a:noFill/>
          <a:ln w="31750">
            <a:solidFill>
              <a:srgbClr val="9FC3B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1978640" y="4572000"/>
            <a:ext cx="0" cy="320040"/>
          </a:xfrm>
          <a:prstGeom prst="line">
            <a:avLst/>
          </a:prstGeom>
          <a:noFill/>
          <a:ln w="31750">
            <a:solidFill>
              <a:srgbClr val="9FC3BC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8778240" y="6629400"/>
            <a:ext cx="320040" cy="0"/>
          </a:xfrm>
          <a:prstGeom prst="line">
            <a:avLst/>
          </a:prstGeom>
          <a:noFill/>
          <a:ln w="31750">
            <a:solidFill>
              <a:srgbClr val="9FC3B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8778240" y="6309360"/>
            <a:ext cx="0" cy="320040"/>
          </a:xfrm>
          <a:prstGeom prst="line">
            <a:avLst/>
          </a:prstGeom>
          <a:noFill/>
          <a:ln w="31750">
            <a:solidFill>
              <a:srgbClr val="9FC3BC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1658600" y="6629400"/>
            <a:ext cx="320040" cy="0"/>
          </a:xfrm>
          <a:prstGeom prst="line">
            <a:avLst/>
          </a:prstGeom>
          <a:noFill/>
          <a:ln w="31750">
            <a:solidFill>
              <a:srgbClr val="9FC3BC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1978640" y="6309360"/>
            <a:ext cx="0" cy="320040"/>
          </a:xfrm>
          <a:prstGeom prst="line">
            <a:avLst/>
          </a:prstGeom>
          <a:noFill/>
          <a:ln w="31750">
            <a:solidFill>
              <a:srgbClr val="9FC3BC"/>
            </a:solidFill>
            <a:prstDash val="solid"/>
          </a:ln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_AKZENT">
    <p:bg>
      <p:bgPr>
        <a:solidFill>
          <a:srgbClr val="F1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3" name="Text 0"/>
          <p:cNvSpPr/>
          <p:nvPr/>
        </p:nvSpPr>
        <p:spPr>
          <a:xfrm>
            <a:off x="548640" y="640080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4  ·  Grenzen endlicher Automaten  ·  automatenlab.frankjuchim.de</a:t>
            </a:r>
            <a:endParaRPr lang="en-US" sz="1200" dirty="0"/>
          </a:p>
        </p:txBody>
      </p:sp>
      <p:sp>
        <p:nvSpPr>
          <p:cNvPr id="4" name="Shape 1"/>
          <p:cNvSpPr/>
          <p:nvPr/>
        </p:nvSpPr>
        <p:spPr>
          <a:xfrm>
            <a:off x="8778240" y="4572000"/>
            <a:ext cx="3200400" cy="2057400"/>
          </a:xfrm>
          <a:prstGeom prst="rect">
            <a:avLst/>
          </a:prstGeom>
          <a:solidFill>
            <a:srgbClr val="E4EEEC"/>
          </a:solidFill>
          <a:ln/>
        </p:spPr>
      </p:sp>
      <p:sp>
        <p:nvSpPr>
          <p:cNvPr id="5" name="Shape 2"/>
          <p:cNvSpPr/>
          <p:nvPr/>
        </p:nvSpPr>
        <p:spPr>
          <a:xfrm>
            <a:off x="8778240" y="4572000"/>
            <a:ext cx="320040" cy="0"/>
          </a:xfrm>
          <a:prstGeom prst="line">
            <a:avLst/>
          </a:prstGeom>
          <a:noFill/>
          <a:ln w="31750">
            <a:solidFill>
              <a:srgbClr val="9FC3BC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8778240" y="4572000"/>
            <a:ext cx="0" cy="320040"/>
          </a:xfrm>
          <a:prstGeom prst="line">
            <a:avLst/>
          </a:prstGeom>
          <a:noFill/>
          <a:ln w="31750">
            <a:solidFill>
              <a:srgbClr val="9FC3BC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1658600" y="4572000"/>
            <a:ext cx="320040" cy="0"/>
          </a:xfrm>
          <a:prstGeom prst="line">
            <a:avLst/>
          </a:prstGeom>
          <a:noFill/>
          <a:ln w="31750">
            <a:solidFill>
              <a:srgbClr val="9FC3B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1978640" y="4572000"/>
            <a:ext cx="0" cy="320040"/>
          </a:xfrm>
          <a:prstGeom prst="line">
            <a:avLst/>
          </a:prstGeom>
          <a:noFill/>
          <a:ln w="31750">
            <a:solidFill>
              <a:srgbClr val="9FC3BC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8778240" y="6629400"/>
            <a:ext cx="320040" cy="0"/>
          </a:xfrm>
          <a:prstGeom prst="line">
            <a:avLst/>
          </a:prstGeom>
          <a:noFill/>
          <a:ln w="31750">
            <a:solidFill>
              <a:srgbClr val="9FC3B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8778240" y="6309360"/>
            <a:ext cx="0" cy="320040"/>
          </a:xfrm>
          <a:prstGeom prst="line">
            <a:avLst/>
          </a:prstGeom>
          <a:noFill/>
          <a:ln w="31750">
            <a:solidFill>
              <a:srgbClr val="9FC3BC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1658600" y="6629400"/>
            <a:ext cx="320040" cy="0"/>
          </a:xfrm>
          <a:prstGeom prst="line">
            <a:avLst/>
          </a:prstGeom>
          <a:noFill/>
          <a:ln w="31750">
            <a:solidFill>
              <a:srgbClr val="9FC3BC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1978640" y="6309360"/>
            <a:ext cx="0" cy="320040"/>
          </a:xfrm>
          <a:prstGeom prst="line">
            <a:avLst/>
          </a:prstGeom>
          <a:noFill/>
          <a:ln w="31750">
            <a:solidFill>
              <a:srgbClr val="9FC3BC"/>
            </a:solidFill>
            <a:prstDash val="solid"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_DUNKEL">
    <p:bg>
      <p:bgPr>
        <a:solidFill>
          <a:srgbClr val="0A4A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4572000"/>
            <a:ext cx="3200400" cy="2057400"/>
          </a:xfrm>
          <a:prstGeom prst="rect">
            <a:avLst/>
          </a:prstGeom>
          <a:solidFill>
            <a:srgbClr val="083D34"/>
          </a:solidFill>
          <a:ln/>
        </p:spPr>
      </p:sp>
      <p:sp>
        <p:nvSpPr>
          <p:cNvPr id="3" name="Shape 1"/>
          <p:cNvSpPr/>
          <p:nvPr/>
        </p:nvSpPr>
        <p:spPr>
          <a:xfrm>
            <a:off x="8778240" y="4572000"/>
            <a:ext cx="320040" cy="0"/>
          </a:xfrm>
          <a:prstGeom prst="line">
            <a:avLst/>
          </a:prstGeom>
          <a:noFill/>
          <a:ln w="31750">
            <a:solidFill>
              <a:srgbClr val="F3D9B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778240" y="4572000"/>
            <a:ext cx="0" cy="320040"/>
          </a:xfrm>
          <a:prstGeom prst="line">
            <a:avLst/>
          </a:prstGeom>
          <a:noFill/>
          <a:ln w="31750">
            <a:solidFill>
              <a:srgbClr val="F3D9B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658600" y="4572000"/>
            <a:ext cx="320040" cy="0"/>
          </a:xfrm>
          <a:prstGeom prst="line">
            <a:avLst/>
          </a:prstGeom>
          <a:noFill/>
          <a:ln w="31750">
            <a:solidFill>
              <a:srgbClr val="F3D9B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978640" y="4572000"/>
            <a:ext cx="0" cy="320040"/>
          </a:xfrm>
          <a:prstGeom prst="line">
            <a:avLst/>
          </a:prstGeom>
          <a:noFill/>
          <a:ln w="31750">
            <a:solidFill>
              <a:srgbClr val="F3D9B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778240" y="6629400"/>
            <a:ext cx="320040" cy="0"/>
          </a:xfrm>
          <a:prstGeom prst="line">
            <a:avLst/>
          </a:prstGeom>
          <a:noFill/>
          <a:ln w="31750">
            <a:solidFill>
              <a:srgbClr val="F3D9B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778240" y="6309360"/>
            <a:ext cx="0" cy="320040"/>
          </a:xfrm>
          <a:prstGeom prst="line">
            <a:avLst/>
          </a:prstGeom>
          <a:noFill/>
          <a:ln w="31750">
            <a:solidFill>
              <a:srgbClr val="F3D9B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658600" y="6629400"/>
            <a:ext cx="320040" cy="0"/>
          </a:xfrm>
          <a:prstGeom prst="line">
            <a:avLst/>
          </a:prstGeom>
          <a:noFill/>
          <a:ln w="31750">
            <a:solidFill>
              <a:srgbClr val="F3D9B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978640" y="6309360"/>
            <a:ext cx="0" cy="320040"/>
          </a:xfrm>
          <a:prstGeom prst="line">
            <a:avLst/>
          </a:prstGeom>
          <a:noFill/>
          <a:ln w="31750">
            <a:solidFill>
              <a:srgbClr val="F3D9B5"/>
            </a:solidFill>
            <a:prstDash val="solid"/>
          </a:ln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91440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3D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Erklärvideo 4  ·  Maschinen, die Sprache verstehen</a:t>
            </a:r>
            <a:endParaRPr lang="en-US" sz="1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463040"/>
            <a:ext cx="78638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Grenzen: Was ein endlicher Automat nicht kann</a:t>
            </a:r>
            <a:endParaRPr lang="en-US" sz="4600" dirty="0"/>
          </a:p>
        </p:txBody>
      </p:sp>
      <p:sp>
        <p:nvSpPr>
          <p:cNvPr id="4" name="Shape 2"/>
          <p:cNvSpPr/>
          <p:nvPr/>
        </p:nvSpPr>
        <p:spPr>
          <a:xfrm>
            <a:off x="640080" y="3977640"/>
            <a:ext cx="7772400" cy="1463040"/>
          </a:xfrm>
          <a:prstGeom prst="roundRect">
            <a:avLst>
              <a:gd name="adj" fmla="val 7500"/>
            </a:avLst>
          </a:prstGeom>
          <a:solidFill>
            <a:srgbClr val="0A4A3F"/>
          </a:solidFill>
          <a:ln w="12700">
            <a:solidFill>
              <a:srgbClr val="0A4A3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4114800"/>
            <a:ext cx="73152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3D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Leitfrage</a:t>
            </a:r>
            <a:endParaRPr lang="en-US" sz="1500" dirty="0"/>
          </a:p>
          <a:p>
            <a:pPr indent="0" marL="0">
              <a:buNone/>
            </a:pPr>
            <a:r>
              <a:rPr lang="en-US" sz="23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Gibt es Sprachen, für die man </a:t>
            </a:r>
            <a:r>
              <a:rPr lang="en-US" sz="23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keinen</a:t>
            </a:r>
            <a:r>
              <a:rPr lang="en-US" sz="23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DEA bauen kann – egal wie viele Zustände er hat?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6035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BFD9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automatenlab.frankjuchim.de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9144000" y="914400"/>
            <a:ext cx="960120" cy="960120"/>
          </a:xfrm>
          <a:prstGeom prst="ellipse">
            <a:avLst/>
          </a:prstGeom>
          <a:solidFill>
            <a:srgbClr val="0E6455"/>
          </a:solidFill>
          <a:ln w="31750">
            <a:solidFill>
              <a:srgbClr val="D7EAE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144000" y="91440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S0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10561320" y="914400"/>
            <a:ext cx="960120" cy="960120"/>
          </a:xfrm>
          <a:prstGeom prst="ellipse">
            <a:avLst/>
          </a:prstGeom>
          <a:solidFill>
            <a:srgbClr val="0E6455"/>
          </a:solidFill>
          <a:ln w="31750">
            <a:solidFill>
              <a:srgbClr val="D7EAE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0561320" y="91440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S1</a:t>
            </a:r>
            <a:endParaRPr lang="en-US" sz="1900" dirty="0"/>
          </a:p>
        </p:txBody>
      </p:sp>
      <p:sp>
        <p:nvSpPr>
          <p:cNvPr id="11" name="Shape 9"/>
          <p:cNvSpPr/>
          <p:nvPr/>
        </p:nvSpPr>
        <p:spPr>
          <a:xfrm>
            <a:off x="9857232" y="2331720"/>
            <a:ext cx="960120" cy="960120"/>
          </a:xfrm>
          <a:prstGeom prst="ellipse">
            <a:avLst/>
          </a:prstGeom>
          <a:solidFill>
            <a:srgbClr val="0E6455"/>
          </a:solidFill>
          <a:ln w="31750">
            <a:solidFill>
              <a:srgbClr val="F3D9B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948672" y="2423160"/>
            <a:ext cx="777240" cy="777240"/>
          </a:xfrm>
          <a:prstGeom prst="ellipse">
            <a:avLst/>
          </a:prstGeom>
          <a:solidFill>
            <a:srgbClr val="0E6455"/>
          </a:solidFill>
          <a:ln w="19050">
            <a:solidFill>
              <a:srgbClr val="F3D9B5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857232" y="233172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S2</a:t>
            </a:r>
            <a:endParaRPr lang="en-US" sz="1900" dirty="0"/>
          </a:p>
        </p:txBody>
      </p:sp>
      <p:sp>
        <p:nvSpPr>
          <p:cNvPr id="14" name="Shape 12"/>
          <p:cNvSpPr/>
          <p:nvPr/>
        </p:nvSpPr>
        <p:spPr>
          <a:xfrm>
            <a:off x="10122408" y="1389888"/>
            <a:ext cx="420624" cy="0"/>
          </a:xfrm>
          <a:prstGeom prst="line">
            <a:avLst/>
          </a:prstGeom>
          <a:noFill/>
          <a:ln w="25400">
            <a:solidFill>
              <a:srgbClr val="D7EAE6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 flipH="1">
            <a:off x="10652760" y="1874520"/>
            <a:ext cx="256032" cy="475488"/>
          </a:xfrm>
          <a:prstGeom prst="line">
            <a:avLst/>
          </a:prstGeom>
          <a:noFill/>
          <a:ln w="25400">
            <a:solidFill>
              <a:srgbClr val="D7EAE6"/>
            </a:solidFill>
            <a:prstDash val="solid"/>
            <a:tailEnd type="triangle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Die Sprache aⁿbⁿ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0"/>
            <a:ext cx="7863840" cy="5029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spcAft>
                <a:spcPts val="1000"/>
              </a:spcAft>
              <a:buSzPct val="100000"/>
              <a:buChar char="▪"/>
            </a:pPr>
            <a:r>
              <a:rPr lang="en-US" sz="24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 = {a</a:t>
            </a:r>
            <a:r>
              <a:rPr lang="en-US" sz="2400" baseline="300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r>
              <a:rPr lang="en-US" sz="24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r>
              <a:rPr lang="en-US" sz="2400" baseline="300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r>
              <a:rPr lang="en-US" sz="24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| n ≥ 1}: erst n-mal a, dann </a:t>
            </a:r>
            <a:r>
              <a:rPr lang="en-US" sz="24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genauso oft</a:t>
            </a:r>
            <a:r>
              <a:rPr lang="en-US" sz="24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</a:t>
            </a:r>
            <a:endParaRPr lang="en-US" sz="2400" dirty="0"/>
          </a:p>
          <a:p>
            <a:pPr marL="279400" indent="-279400">
              <a:spcAft>
                <a:spcPts val="1000"/>
              </a:spcAft>
              <a:buSzPct val="100000"/>
              <a:buChar char="▪"/>
            </a:pPr>
            <a:r>
              <a:rPr lang="en-US" sz="24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gehören dazu: ab, aabb, aaabbb</a:t>
            </a:r>
            <a:endParaRPr lang="en-US" sz="2400" dirty="0"/>
          </a:p>
          <a:p>
            <a:pPr marL="279400" indent="-279400">
              <a:spcAft>
                <a:spcPts val="1000"/>
              </a:spcAft>
              <a:buSzPct val="100000"/>
              <a:buChar char="▪"/>
            </a:pPr>
            <a:r>
              <a:rPr lang="en-US" sz="24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gehören nicht dazu: aab, abab, ba</a:t>
            </a:r>
            <a:endParaRPr lang="en-US" sz="2400" dirty="0"/>
          </a:p>
          <a:p>
            <a:pPr marL="279400" indent="-279400">
              <a:spcAft>
                <a:spcPts val="1000"/>
              </a:spcAft>
              <a:buSzPct val="100000"/>
              <a:buChar char="▪"/>
            </a:pPr>
            <a:r>
              <a:rPr lang="en-US" sz="24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Steckt überall: Klammern, HTML-Tags, „gleich viele rein wie raus“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8778240" y="1325880"/>
            <a:ext cx="3200400" cy="2971800"/>
          </a:xfrm>
          <a:prstGeom prst="roundRect">
            <a:avLst>
              <a:gd name="adj" fmla="val 3077"/>
            </a:avLst>
          </a:prstGeom>
          <a:solidFill>
            <a:srgbClr val="F1F7F6"/>
          </a:solidFill>
          <a:ln w="12700">
            <a:solidFill>
              <a:srgbClr val="E4F0E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979408" y="1490472"/>
            <a:ext cx="27980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0E6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FRAGE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8979408" y="1901952"/>
            <a:ext cx="279806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9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 müsste sich ein Automat merken?</a:t>
            </a:r>
            <a:endParaRPr lang="en-US" sz="19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9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die </a:t>
            </a:r>
            <a:r>
              <a:rPr lang="en-US" sz="19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Anzahl</a:t>
            </a:r>
            <a:r>
              <a:rPr lang="en-US" sz="19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der a</a:t>
            </a:r>
            <a:endParaRPr lang="en-US" sz="1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Versuch: ein Zähler mit 5 Zuständen</a:t>
            </a:r>
            <a:endParaRPr lang="en-US" sz="3200" dirty="0"/>
          </a:p>
        </p:txBody>
      </p:sp>
      <p:pic>
        <p:nvPicPr>
          <p:cNvPr id="3" name="Image 0" descr="/home/user/AutomatenLab/materials/build/img/video/zaehler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20388"/>
            <a:ext cx="7863840" cy="1805543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5943600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00" i="1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Alle nicht eingezeichneten Übergänge führen in einen Fehlerzustand.</a:t>
            </a:r>
            <a:endParaRPr lang="en-US" sz="1900" dirty="0"/>
          </a:p>
        </p:txBody>
      </p:sp>
      <p:sp>
        <p:nvSpPr>
          <p:cNvPr id="5" name="Shape 2"/>
          <p:cNvSpPr/>
          <p:nvPr/>
        </p:nvSpPr>
        <p:spPr>
          <a:xfrm>
            <a:off x="548640" y="4617720"/>
            <a:ext cx="7863840" cy="1280160"/>
          </a:xfrm>
          <a:prstGeom prst="roundRect">
            <a:avLst>
              <a:gd name="adj" fmla="val 7143"/>
            </a:avLst>
          </a:prstGeom>
          <a:solidFill>
            <a:srgbClr val="F8ECDB"/>
          </a:solidFill>
          <a:ln w="12700">
            <a:solidFill>
              <a:srgbClr val="B26A0F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7240" y="4709160"/>
            <a:ext cx="7406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9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aaabb: S0 –a→ A1 –a→ A2 –a→ A2 –b→ B1 –b→ B0 ⇒ </a:t>
            </a:r>
            <a:r>
              <a:rPr lang="en-US" sz="19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akzeptiert</a:t>
            </a:r>
            <a:r>
              <a:rPr lang="en-US" sz="19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obwohl aaabb ∉ L</a:t>
            </a:r>
            <a:endParaRPr lang="en-US" sz="19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9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aaabbb: … B0 –b→ Fehlerzustand ⇒ </a:t>
            </a:r>
            <a:r>
              <a:rPr lang="en-US" sz="19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abgelehnt</a:t>
            </a:r>
            <a:r>
              <a:rPr lang="en-US" sz="19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obwohl aaabbb ∈ L</a:t>
            </a:r>
            <a:endParaRPr lang="en-US" sz="1900" dirty="0"/>
          </a:p>
        </p:txBody>
      </p:sp>
      <p:sp>
        <p:nvSpPr>
          <p:cNvPr id="7" name="Shape 4"/>
          <p:cNvSpPr/>
          <p:nvPr/>
        </p:nvSpPr>
        <p:spPr>
          <a:xfrm>
            <a:off x="8778240" y="1325880"/>
            <a:ext cx="3200400" cy="2971800"/>
          </a:xfrm>
          <a:prstGeom prst="roundRect">
            <a:avLst>
              <a:gd name="adj" fmla="val 3077"/>
            </a:avLst>
          </a:prstGeom>
          <a:solidFill>
            <a:srgbClr val="F1F7F6"/>
          </a:solidFill>
          <a:ln w="12700">
            <a:solidFill>
              <a:srgbClr val="E4F0EE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979408" y="1490472"/>
            <a:ext cx="27980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0E6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 ZÄHLT BIS 2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8979408" y="1901952"/>
            <a:ext cx="279806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A1, A2: ein a bzw. mindestens zwei a</a:t>
            </a:r>
            <a:endParaRPr lang="en-US" sz="18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B1: noch ein b nötig</a:t>
            </a:r>
            <a:endParaRPr lang="en-US" sz="18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B0: fertig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im AutomatenLab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3108960" cy="4206240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12700">
            <a:solidFill>
              <a:srgbClr val="0E6455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645920"/>
            <a:ext cx="2468880" cy="246888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85800" y="4251960"/>
            <a:ext cx="2834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B26A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AutomatenLab</a:t>
            </a:r>
            <a:endParaRPr lang="en-US" sz="15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0A4A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Überliste den Automaten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4023360" y="1325880"/>
            <a:ext cx="438912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E6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 machen gleich:</a:t>
            </a:r>
            <a:endParaRPr lang="en-US" sz="2000" dirty="0"/>
          </a:p>
          <a:p>
            <a:pPr marL="279400" indent="-279400">
              <a:spcAft>
                <a:spcPts val="1000"/>
              </a:spcAft>
              <a:buSzPct val="100000"/>
              <a:buChar char="▪"/>
            </a:pP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„Zustand nach jedem Präfix zeigen“ einschalten</a:t>
            </a:r>
            <a:endParaRPr lang="en-US" sz="2000" dirty="0"/>
          </a:p>
          <a:p>
            <a:pPr marL="279400" indent="-279400">
              <a:spcAft>
                <a:spcPts val="1000"/>
              </a:spcAft>
              <a:buSzPct val="100000"/>
              <a:buChar char="▪"/>
            </a:pP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a, aa, aaa … – wann bleibt der Zustand gleich?</a:t>
            </a:r>
            <a:endParaRPr lang="en-US" sz="2000" dirty="0"/>
          </a:p>
          <a:p>
            <a:pPr marL="279400" indent="-279400">
              <a:spcAft>
                <a:spcPts val="1000"/>
              </a:spcAft>
              <a:buSzPct val="100000"/>
              <a:buChar char="▪"/>
            </a:pP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 Automaten mit einem Wort überlisten</a:t>
            </a:r>
            <a:endParaRPr lang="en-US" sz="2000" dirty="0"/>
          </a:p>
          <a:p>
            <a:pPr marL="279400" indent="-279400">
              <a:spcAft>
                <a:spcPts val="1000"/>
              </a:spcAft>
              <a:buSzPct val="100000"/>
              <a:buChar char="▪"/>
            </a:pP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Stufe 5: 21 Zustände – ein Wort genügt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571500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0A4A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automatenlab.frankjuchim.de/#/ueberliste?stufe=1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 Schubfachprinzip</a:t>
            </a:r>
            <a:endParaRPr lang="en-US" sz="3200" dirty="0"/>
          </a:p>
        </p:txBody>
      </p:sp>
      <p:pic>
        <p:nvPicPr>
          <p:cNvPr id="3" name="Image 0" descr="/home/user/AutomatenLab/materials/build/img/ds07/schubfac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943188"/>
            <a:ext cx="3771900" cy="3154505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4640580" y="1325880"/>
            <a:ext cx="3771900" cy="5029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spcAft>
                <a:spcPts val="600"/>
              </a:spcAft>
              <a:buSzPct val="100000"/>
              <a:buChar char="▪"/>
            </a:pP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Socken, 4 Schubladen ⇒ eine Schublade hat zwei</a:t>
            </a:r>
            <a:endParaRPr lang="en-US" sz="2200" dirty="0"/>
          </a:p>
          <a:p>
            <a:pPr marL="279400" indent="-279400">
              <a:spcAft>
                <a:spcPts val="600"/>
              </a:spcAft>
              <a:buSzPct val="100000"/>
              <a:buChar char="▪"/>
            </a:pP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 Zustände, aber </a:t>
            </a:r>
            <a:r>
              <a:rPr lang="en-US" sz="22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 + 1</a:t>
            </a: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Präfixe a, a</a:t>
            </a:r>
            <a:r>
              <a:rPr lang="en-US" sz="2200" baseline="300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…, a</a:t>
            </a:r>
            <a:r>
              <a:rPr lang="en-US" sz="2200" baseline="300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k+1</a:t>
            </a:r>
            <a:endParaRPr lang="en-US" sz="2200" dirty="0"/>
          </a:p>
          <a:p>
            <a:pPr marL="279400" indent="-279400">
              <a:spcAft>
                <a:spcPts val="600"/>
              </a:spcAft>
              <a:buSzPct val="100000"/>
              <a:buChar char="▪"/>
            </a:pP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⇒ zwei Präfixe a</a:t>
            </a:r>
            <a:r>
              <a:rPr lang="en-US" sz="2200" baseline="300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und a</a:t>
            </a:r>
            <a:r>
              <a:rPr lang="en-US" sz="2200" baseline="300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</a:t>
            </a: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(i &lt; j) enden im </a:t>
            </a:r>
            <a:r>
              <a:rPr lang="en-US" sz="22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selben Zustand</a:t>
            </a:r>
            <a:endParaRPr lang="en-US" sz="2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Der Beweis in 5 Schritten</a:t>
            </a:r>
            <a:endParaRPr lang="en-US" sz="32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786384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3291840"/>
                <a:gridCol w="27432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Schritt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4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Was du tust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4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für a</a:t>
                      </a:r>
                      <a:r>
                        <a:rPr lang="en-US" sz="2100" b="1" baseline="30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</a:t>
                      </a:r>
                      <a:r>
                        <a:rPr lang="en-US" sz="2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</a:t>
                      </a:r>
                      <a:r>
                        <a:rPr lang="en-US" sz="2100" b="1" baseline="30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45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1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Annahme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1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DEA mit k Zuständen erkennt 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1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DEA A mit k Zuständen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1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Präfixe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1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 + 1 Präfixe wählen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1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a, a</a:t>
                      </a:r>
                      <a:r>
                        <a:rPr lang="en-US" sz="2100" baseline="300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r>
                        <a:rPr lang="en-US" sz="21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, …, a</a:t>
                      </a:r>
                      <a:r>
                        <a:rPr lang="en-US" sz="2100" baseline="300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k+1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1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Schubfach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1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zwei Präfixe im selben Zustand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1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r>
                        <a:rPr lang="en-US" sz="2100" baseline="300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</a:t>
                      </a:r>
                      <a:r>
                        <a:rPr lang="en-US" sz="21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und a</a:t>
                      </a:r>
                      <a:r>
                        <a:rPr lang="en-US" sz="2100" baseline="300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</a:t>
                      </a:r>
                      <a:r>
                        <a:rPr lang="en-US" sz="21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(i &lt; j)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1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Fortsetzung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1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 beide dieselbe anhängen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1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r>
                        <a:rPr lang="en-US" sz="2100" baseline="300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</a:t>
                      </a:r>
                      <a:r>
                        <a:rPr lang="en-US" sz="21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</a:t>
                      </a:r>
                      <a:r>
                        <a:rPr lang="en-US" sz="2100" baseline="300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</a:t>
                      </a:r>
                      <a:r>
                        <a:rPr lang="en-US" sz="21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und a</a:t>
                      </a:r>
                      <a:r>
                        <a:rPr lang="en-US" sz="2100" baseline="300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</a:t>
                      </a:r>
                      <a:r>
                        <a:rPr lang="en-US" sz="21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</a:t>
                      </a:r>
                      <a:r>
                        <a:rPr lang="en-US" sz="2100" baseline="300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1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Widerspruch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1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eins in L, eins nicht – gleiche Antwort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1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r>
                        <a:rPr lang="en-US" sz="2100" baseline="300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</a:t>
                      </a:r>
                      <a:r>
                        <a:rPr lang="en-US" sz="21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</a:t>
                      </a:r>
                      <a:r>
                        <a:rPr lang="en-US" sz="2100" baseline="300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</a:t>
                      </a:r>
                      <a:r>
                        <a:rPr lang="en-US" sz="21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∈ L, a</a:t>
                      </a:r>
                      <a:r>
                        <a:rPr lang="en-US" sz="2100" baseline="300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</a:t>
                      </a:r>
                      <a:r>
                        <a:rPr lang="en-US" sz="21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</a:t>
                      </a:r>
                      <a:r>
                        <a:rPr lang="en-US" sz="2100" baseline="300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</a:t>
                      </a:r>
                      <a:r>
                        <a:rPr lang="en-US" sz="21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∉ 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Abi: Kurzform oder Langform?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37719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E64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Kurzform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874520"/>
            <a:ext cx="377190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9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„Ein endlicher Automat hat nur endlich viele Zustände und kann sich nur endlich viele Werte merken. Er müsste sich die Anzahl der a merken, die </a:t>
            </a:r>
            <a:r>
              <a:rPr lang="en-US" sz="19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beliebig groß</a:t>
            </a:r>
            <a:r>
              <a:rPr lang="en-US" sz="19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werden kann. Also gibt es keinen DEA.“</a:t>
            </a:r>
            <a:endParaRPr lang="en-US" sz="1900" dirty="0"/>
          </a:p>
        </p:txBody>
      </p:sp>
      <p:sp>
        <p:nvSpPr>
          <p:cNvPr id="5" name="Text 3"/>
          <p:cNvSpPr txBox="1"/>
          <p:nvPr/>
        </p:nvSpPr>
        <p:spPr>
          <a:xfrm>
            <a:off x="4640580" y="1325880"/>
            <a:ext cx="37719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B26A0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Langform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4640580" y="1874520"/>
            <a:ext cx="377190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9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„Begründen Sie, dass kein endlicher Automat …“</a:t>
            </a:r>
            <a:endParaRPr lang="en-US" sz="19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9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Schubfach-Argument: k Zustände, k + 1 Präfixe, gleiche Fortsetzung, Widerspruch.</a:t>
            </a:r>
            <a:endParaRPr lang="en-US" sz="19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9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Musterformulierung: M05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8778240" y="1325880"/>
            <a:ext cx="3200400" cy="2971800"/>
          </a:xfrm>
          <a:prstGeom prst="roundRect">
            <a:avLst>
              <a:gd name="adj" fmla="val 3077"/>
            </a:avLst>
          </a:prstGeom>
          <a:solidFill>
            <a:srgbClr val="F8ECDB"/>
          </a:solidFill>
          <a:ln w="12700">
            <a:solidFill>
              <a:srgbClr val="B26A0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979408" y="1490472"/>
            <a:ext cx="27980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B26A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IMMER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8979408" y="1901952"/>
            <a:ext cx="279806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9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 </a:t>
            </a:r>
            <a:r>
              <a:rPr lang="en-US" sz="19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Sachzusammenhang</a:t>
            </a:r>
            <a:r>
              <a:rPr lang="en-US" sz="19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nennen: Was müsste unbeschränkt gezählt werden?</a:t>
            </a:r>
            <a:endParaRPr lang="en-US" sz="1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DEA möglich oder nicht?</a:t>
            </a:r>
            <a:endParaRPr lang="en-US" sz="32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7863840" cy="914400"/>
        </p:xfrm>
        <a:graphic>
          <a:graphicData uri="http://schemas.openxmlformats.org/drawingml/2006/table">
            <a:tbl>
              <a:tblPr/>
              <a:tblGrid>
                <a:gridCol w="3931920"/>
                <a:gridCol w="39319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DEA möglich (beschränkt)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4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Kein DEA (unbeschränkt)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45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1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Zählen bis zu einer festen Grenze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1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Zählen ohne Grenze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1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Zählen modulo k (gerade Anzahl a)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1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zwei Anzahlen vergleichen (a</a:t>
                      </a:r>
                      <a:r>
                        <a:rPr lang="en-US" sz="2100" baseline="300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</a:t>
                      </a:r>
                      <a:r>
                        <a:rPr lang="en-US" sz="21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</a:t>
                      </a:r>
                      <a:r>
                        <a:rPr lang="en-US" sz="2100" baseline="300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</a:t>
                      </a:r>
                      <a:r>
                        <a:rPr lang="en-US" sz="21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1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endliche Sprachen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1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Palindrome, Klammern beliebiger Tiefe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Pausiere jetzt!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868680" cy="868680"/>
          </a:xfrm>
          <a:prstGeom prst="ellipse">
            <a:avLst/>
          </a:prstGeom>
          <a:solidFill>
            <a:srgbClr val="B26A0F"/>
          </a:solidFill>
          <a:ln w="12700">
            <a:solidFill>
              <a:srgbClr val="B26A0F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554480"/>
            <a:ext cx="502920" cy="5029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645920" y="1325880"/>
            <a:ext cx="6766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A4A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DEA möglich – ja oder nein?</a:t>
            </a:r>
            <a:endParaRPr lang="en-US" sz="25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2560320"/>
            <a:ext cx="7772400" cy="3794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spcAft>
                <a:spcPts val="1000"/>
              </a:spcAft>
              <a:buSzPct val="100000"/>
              <a:buChar char="▪"/>
            </a:pPr>
            <a:r>
              <a:rPr lang="en-US" sz="23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Anzahl der a ist gerade</a:t>
            </a:r>
            <a:endParaRPr lang="en-US" sz="2300" dirty="0"/>
          </a:p>
          <a:p>
            <a:pPr marL="279400" indent="-279400">
              <a:spcAft>
                <a:spcPts val="1000"/>
              </a:spcAft>
              <a:buSzPct val="100000"/>
              <a:buChar char="▪"/>
            </a:pPr>
            <a:r>
              <a:rPr lang="en-US" sz="23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gleich viele a wie b</a:t>
            </a:r>
            <a:endParaRPr lang="en-US" sz="2300" dirty="0"/>
          </a:p>
          <a:p>
            <a:pPr marL="279400" indent="-279400">
              <a:spcAft>
                <a:spcPts val="1000"/>
              </a:spcAft>
              <a:buSzPct val="100000"/>
              <a:buChar char="▪"/>
            </a:pPr>
            <a:r>
              <a:rPr lang="en-US" sz="23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höchstens drei a</a:t>
            </a:r>
            <a:endParaRPr lang="en-US" sz="2300" dirty="0"/>
          </a:p>
          <a:p>
            <a:pPr marL="279400" indent="-279400">
              <a:spcAft>
                <a:spcPts val="1000"/>
              </a:spcAft>
              <a:buSzPct val="100000"/>
              <a:buChar char="▪"/>
            </a:pPr>
            <a:r>
              <a:rPr lang="en-US" sz="23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korrekt geklammerte Ausdrücke</a:t>
            </a:r>
            <a:endParaRPr lang="en-US" sz="2300" dirty="0"/>
          </a:p>
        </p:txBody>
      </p:sp>
      <p:sp>
        <p:nvSpPr>
          <p:cNvPr id="7" name="Shape 4"/>
          <p:cNvSpPr/>
          <p:nvPr/>
        </p:nvSpPr>
        <p:spPr>
          <a:xfrm>
            <a:off x="8778240" y="1325880"/>
            <a:ext cx="3200400" cy="2971800"/>
          </a:xfrm>
          <a:prstGeom prst="roundRect">
            <a:avLst>
              <a:gd name="adj" fmla="val 3077"/>
            </a:avLst>
          </a:prstGeom>
          <a:solidFill>
            <a:srgbClr val="F8ECDB"/>
          </a:solidFill>
          <a:ln w="12700">
            <a:solidFill>
              <a:srgbClr val="B26A0F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979408" y="1490472"/>
            <a:ext cx="27980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B26A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GEHT’S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8979408" y="1901952"/>
            <a:ext cx="279806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9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anhalten,</a:t>
            </a:r>
            <a:endParaRPr lang="en-US" sz="19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9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auf Papier lösen,</a:t>
            </a:r>
            <a:endParaRPr lang="en-US" sz="19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9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dann weiter: Die Auflösung kommt sofort.</a:t>
            </a:r>
            <a:endParaRPr lang="en-US" sz="1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Auflösung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7863840" cy="5029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spcAft>
                <a:spcPts val="1000"/>
              </a:spcAft>
              <a:buSzPct val="100000"/>
              <a:buChar char="▪"/>
            </a:pPr>
            <a:r>
              <a:rPr lang="en-US" sz="23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gerade Anzahl a: </a:t>
            </a:r>
            <a:r>
              <a:rPr lang="en-US" sz="23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</a:t>
            </a:r>
            <a:r>
              <a:rPr lang="en-US" sz="23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(modulo 2, zwei Zustände)</a:t>
            </a:r>
            <a:endParaRPr lang="en-US" sz="2300" dirty="0"/>
          </a:p>
          <a:p>
            <a:pPr marL="279400" indent="-279400">
              <a:spcAft>
                <a:spcPts val="1000"/>
              </a:spcAft>
              <a:buSzPct val="100000"/>
              <a:buChar char="▪"/>
            </a:pPr>
            <a:r>
              <a:rPr lang="en-US" sz="23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gleich viele a wie b: </a:t>
            </a:r>
            <a:r>
              <a:rPr lang="en-US" sz="23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nein</a:t>
            </a:r>
            <a:r>
              <a:rPr lang="en-US" sz="23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(Differenz unbeschränkt)</a:t>
            </a:r>
            <a:endParaRPr lang="en-US" sz="2300" dirty="0"/>
          </a:p>
          <a:p>
            <a:pPr marL="279400" indent="-279400">
              <a:spcAft>
                <a:spcPts val="1000"/>
              </a:spcAft>
              <a:buSzPct val="100000"/>
              <a:buChar char="▪"/>
            </a:pPr>
            <a:r>
              <a:rPr lang="en-US" sz="23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höchstens drei a: </a:t>
            </a:r>
            <a:r>
              <a:rPr lang="en-US" sz="23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</a:t>
            </a:r>
            <a:r>
              <a:rPr lang="en-US" sz="23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(Zählen bis 3, dann Fehlerzustand)</a:t>
            </a:r>
            <a:endParaRPr lang="en-US" sz="2300" dirty="0"/>
          </a:p>
          <a:p>
            <a:pPr marL="279400" indent="-279400">
              <a:spcAft>
                <a:spcPts val="1000"/>
              </a:spcAft>
              <a:buSzPct val="100000"/>
              <a:buChar char="▪"/>
            </a:pPr>
            <a:r>
              <a:rPr lang="en-US" sz="23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Klammern: </a:t>
            </a:r>
            <a:r>
              <a:rPr lang="en-US" sz="23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nein</a:t>
            </a:r>
            <a:r>
              <a:rPr lang="en-US" sz="23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(Tiefe unbeschränkt)</a:t>
            </a:r>
            <a:endParaRPr lang="en-US" sz="2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 nimmst du mit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371600"/>
            <a:ext cx="777240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spcAft>
                <a:spcPts val="800"/>
              </a:spcAft>
              <a:buSzPct val="100000"/>
              <a:buChar char="▪"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 DEA hat </a:t>
            </a: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endlich viele</a:t>
            </a: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Zustände = endlich viele Erinnerungen.</a:t>
            </a:r>
            <a:endParaRPr lang="en-US" sz="2200" dirty="0"/>
          </a:p>
          <a:p>
            <a:pPr marL="279400" indent="-279400">
              <a:spcAft>
                <a:spcPts val="800"/>
              </a:spcAft>
              <a:buSzPct val="100000"/>
              <a:buChar char="▪"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Unbeschränkt zählen oder vergleichen ⇒ </a:t>
            </a: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kein DEA</a:t>
            </a: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2200" dirty="0"/>
          </a:p>
          <a:p>
            <a:pPr marL="279400" indent="-279400">
              <a:spcAft>
                <a:spcPts val="800"/>
              </a:spcAft>
              <a:buSzPct val="100000"/>
              <a:buChar char="▪"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Beweis: </a:t>
            </a: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Schubfachprinzip</a:t>
            </a: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(k + 1 Präfixe, k Zustände).</a:t>
            </a:r>
            <a:endParaRPr lang="en-US" sz="2200" dirty="0"/>
          </a:p>
          <a:p>
            <a:pPr marL="279400" indent="-279400">
              <a:spcAft>
                <a:spcPts val="800"/>
              </a:spcAft>
              <a:buSzPct val="100000"/>
              <a:buChar char="▪"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Ausweg: mehr Gedächtnis → </a:t>
            </a: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Kellerautomat</a:t>
            </a: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640080" y="4160520"/>
            <a:ext cx="3749040" cy="2194560"/>
          </a:xfrm>
          <a:prstGeom prst="roundRect">
            <a:avLst>
              <a:gd name="adj" fmla="val 5000"/>
            </a:avLst>
          </a:prstGeom>
          <a:solidFill>
            <a:srgbClr val="0A4A3F"/>
          </a:solidFill>
          <a:ln w="12700">
            <a:solidFill>
              <a:srgbClr val="3E8E7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4343400"/>
            <a:ext cx="32918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3D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 Nächstes</a:t>
            </a:r>
            <a:endParaRPr lang="en-US" sz="1500" dirty="0"/>
          </a:p>
          <a:p>
            <a:pPr indent="0" marL="0">
              <a:buNone/>
            </a:pPr>
            <a:r>
              <a:rPr lang="en-US" sz="21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Video 5: Kellerautomaten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663440" y="4160520"/>
            <a:ext cx="3749040" cy="2194560"/>
          </a:xfrm>
          <a:prstGeom prst="roundRect">
            <a:avLst>
              <a:gd name="adj" fmla="val 5000"/>
            </a:avLst>
          </a:prstGeom>
          <a:solidFill>
            <a:srgbClr val="0A4A3F"/>
          </a:solidFill>
          <a:ln w="12700">
            <a:solidFill>
              <a:srgbClr val="3E8E7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892040" y="4343400"/>
            <a:ext cx="32918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3D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Zum Nachlesen</a:t>
            </a:r>
            <a:endParaRPr lang="en-US" sz="1500" dirty="0"/>
          </a:p>
          <a:p>
            <a:pPr indent="0" marL="0">
              <a:buNone/>
            </a:pPr>
            <a:r>
              <a:rPr lang="en-US" sz="21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Merkblatt M05 – Grenzen endlicher Automaten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8778240" y="502920"/>
            <a:ext cx="3200400" cy="379476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778240" y="6400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spc="100" kern="0" dirty="0">
                <a:solidFill>
                  <a:srgbClr val="B26A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WEITER ÜBEN</a:t>
            </a:r>
            <a:endParaRPr lang="en-US" sz="140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26880" y="1005840"/>
            <a:ext cx="2103120" cy="2103120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8915400" y="3200400"/>
            <a:ext cx="2926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A4A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Überliste den Automaten</a:t>
            </a:r>
            <a:endParaRPr lang="en-US" sz="18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Stufe 3: Der Klammer-Prüfer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utomaten LK">
  <a:themeElements>
    <a:clrScheme name="Automaten LK">
      <a:dk1>
        <a:srgbClr val="1F2A2E"/>
      </a:dk1>
      <a:lt1>
        <a:srgbClr val="FFFFFF"/>
      </a:lt1>
      <a:dk2>
        <a:srgbClr val="0E6455"/>
      </a:dk2>
      <a:lt2>
        <a:srgbClr val="E4F0EE"/>
      </a:lt2>
      <a:accent1>
        <a:srgbClr val="0E6455"/>
      </a:accent1>
      <a:accent2>
        <a:srgbClr val="B26A0F"/>
      </a:accent2>
      <a:accent3>
        <a:srgbClr val="3E8E7E"/>
      </a:accent3>
      <a:accent4>
        <a:srgbClr val="D9A45B"/>
      </a:accent4>
      <a:accent5>
        <a:srgbClr val="5B6770"/>
      </a:accent5>
      <a:accent6>
        <a:srgbClr val="A83232"/>
      </a:accent6>
      <a:hlink>
        <a:srgbClr val="0E6455"/>
      </a:hlink>
      <a:folHlink>
        <a:srgbClr val="0A4A3F"/>
      </a:folHlink>
    </a:clrScheme>
    <a:fontScheme name="Automaten LK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Video 4 – Grenzen: Was ein endlicher Automat nicht kann</dc:title>
  <dc:subject>PptxGenJS Presentation</dc:subject>
  <dc:creator>Frank Juchim</dc:creator>
  <cp:lastModifiedBy>Frank Juchim</cp:lastModifiedBy>
  <cp:revision>1</cp:revision>
  <dcterms:created xsi:type="dcterms:W3CDTF">2026-10-14T12:22:25Z</dcterms:created>
  <dcterms:modified xsi:type="dcterms:W3CDTF">2026-10-14T12:22:25Z</dcterms:modified>
</cp:coreProperties>
</file>