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2348375a-eb65-d30a-9485-18fac3cc531a}">
          <p14:sldIdLst>
            <p14:sldId id="256"/>
          </p14:sldIdLst>
        </p14:section>
        <p14:section name="Einstieg" id="{e9d7c44e-5895-8d51-f8be-81a5a4bc45e4}">
          <p14:sldIdLst>
            <p14:sldId id="257"/>
            <p14:sldId id="258"/>
            <p14:sldId id="259"/>
          </p14:sldIdLst>
        </p14:section>
        <p14:section name="Erarbeitung" id="{f2b5c6ee-5273-6e39-f5dc-2a4b01f97835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Übung" id="{272b80de-10b4-1f05-a96f-65ca292fcf4b}">
          <p14:sldIdLst>
            <p14:sldId id="268"/>
            <p14:sldId id="269"/>
            <p14:sldId id="270"/>
          </p14:sldIdLst>
        </p14:section>
        <p14:section name="Sicherung" id="{ce35173b-95e0-63a1-9093-da046a7a6514}">
          <p14:sldIdLst>
            <p14:sldId id="271"/>
            <p14:sldId id="272"/>
            <p14:sldId id="273"/>
          </p14:sldIdLst>
        </p14:section>
        <p14:section name="Abschluss" id="{bd9c85f6-24eb-abd6-627c-814aa34303bf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3: vom Lesen zum Bauen. Ziel: ein verlässlicher Bauplan statt Ausprobieren.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Think-Pair-Share. Erwartete Antworten: „Anzahl a“ (→ nur gerade/ungerade nötig!), „letztes Zeichen“ (→ nur: war es b?).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Hier wird die Produkt-Idee vorbereitet. Wir konstruieren den Automaten gleich mit dem 5-Schritte-Vorgehen.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Präfix: Bei falschem Anfang Fehlerzustand (Hinweis!). Teilwort: Endzustand mit Schleife. Endung: Zustand = „wie viel vom Muster passt am Ende gerade“ – jedes Zeichen kann alles noch ändern.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Zählen geht nur beschränkt: genau/mindestens n braucht n+1 Zustände (plus ggf. Fehler); modulo k braucht k Zustände. Unbeschränktes Zählen → Level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Produkt: S0 = (gerade, nein), S1 = (gerade, ja), S2 = (ungerade, nein), S3 = (ungerade, ja). Komplement: aus „enthält ab“ – S2 war Endzustand, jetzt S0 und S1.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Gemeinsam am Einstiegsbeispiel durchführen. Schritt 3 betonen: für JEDEN Zustand JEDES Zeichen.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Für Interessierte: S2 und S3 verhalten sich gleich (bei ungerader Anzahl a ist das Ende egal) – zusammenfassen lernen wir in Level 5 (Vertiefung).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Ergebnisse stimmen mit der Sprachbeschreibung überein. ε: S0 ist kein Endzustand – richtig, denn ε endet nicht auf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Bild: korrektes Komplement von „beginnt mit ab“ mit explizitem S3 (ehemaliger Fehlerzustand).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Zwischenstopp nach ca. 20 Minuten: häufigster Fehler in Aufgabe 2 (S3 –b→ S0) mit Gegenbeispiel ababa besprechen.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Deep-Links für einzelne Challenges: #/baukasten?aufgabe=&lt;id&gt;; Stufen: ?stufe=1|2|3.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Dieses Antwortmuster kommt im Abitur regelmäßig (2022 eA C b: 30 vs. 03; 2024 eA B c). In der Vertiefung Level 5 (Minimierung) wird daraus das Unterscheiden von Zuständen.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0E64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">
    <p:bg>
      <p:bgPr>
        <a:solidFill>
          <a:srgbClr val="0A4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3 · Welt A · Endliche Automaten · gA und 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985455" y="64739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BY-SA 4.0 · Frank Juchim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UFTRAG">
    <p:bg>
      <p:bgPr>
        <a:solidFill>
          <a:srgbClr val="F1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3 · Welt A · Endliche Automaten · gA und 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985455" y="64739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BY-SA 4.0 · Frank Juchim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Informatik gA und eA  ·  Level 3  ·  Welt A: Endliche Automaten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Bauplan gesucht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9476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D7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 systematisch entwickeln – Bausteine und Vorgehen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4709160"/>
            <a:ext cx="8961120" cy="1143000"/>
          </a:xfrm>
          <a:prstGeom prst="roundRect">
            <a:avLst>
              <a:gd name="adj" fmla="val 9600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828032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Kernfrage</a:t>
            </a:r>
            <a:endParaRPr lang="en-US" sz="1400" dirty="0"/>
          </a:p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entwickle ich systematisch einen Automaten für eine gegebene Sprache?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58400" y="128016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0" y="1280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0881360" y="274320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881360" y="27432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058400" y="420624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F3D9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49840" y="4297680"/>
            <a:ext cx="822960" cy="822960"/>
          </a:xfrm>
          <a:prstGeom prst="ellipse">
            <a:avLst/>
          </a:prstGeom>
          <a:solidFill>
            <a:srgbClr val="0E6455"/>
          </a:solidFill>
          <a:ln w="19050">
            <a:solidFill>
              <a:srgbClr val="F3D9B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0" y="42062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835640" y="219456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10835640" y="365760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muss sich der Automat merken?</a:t>
            </a:r>
            <a:endParaRPr lang="en-US" sz="4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600200"/>
            <a:ext cx="110944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DEA soll alle Wörter über {a, b} akzeptieren, die eine gerade Anzahl a enthalten UND auf b enden.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muss er sich </a:t>
            </a:r>
            <a:r>
              <a:rPr lang="en-US" sz="2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mindestens</a:t>
            </a: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merken? Erst allein (1 min), dann zu zweit (2 min).</a:t>
            </a:r>
            <a:endParaRPr lang="en-US" sz="22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Zwei Erinnerungen – vier Paare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567864" cy="3913632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Erinnerung 1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383280"/>
            <a:ext cx="20192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Anzahl a bisher: </a:t>
            </a: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gerade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oder </a:t>
            </a: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ungerade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3390824" y="1463040"/>
            <a:ext cx="2567864" cy="3913632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65144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304" y="187452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65144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Erinnerung 2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3665144" y="3383280"/>
            <a:ext cx="20192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Zuletzt gelesenes Zeichen war </a:t>
            </a: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ja oder nein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6233008" y="1463040"/>
            <a:ext cx="2567864" cy="3913632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507328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488" y="187452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07328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Zustände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6507328" y="3383280"/>
            <a:ext cx="20192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Jedes </a:t>
            </a: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Paar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von Erinnerungen ist ein Zustand: 2 · 2 = 4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9075191" y="1463040"/>
            <a:ext cx="2567864" cy="3913632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349511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6671" y="187452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49511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Endzustand</a:t>
            </a:r>
            <a:endParaRPr lang="en-US" sz="2100" dirty="0"/>
          </a:p>
        </p:txBody>
      </p:sp>
      <p:sp>
        <p:nvSpPr>
          <p:cNvPr id="22" name="Text 16"/>
          <p:cNvSpPr txBox="1"/>
          <p:nvPr/>
        </p:nvSpPr>
        <p:spPr>
          <a:xfrm>
            <a:off x="9349511" y="3383280"/>
            <a:ext cx="20192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das Paar (gerade, ja)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Erarbeitung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Bausteine-Galerie</a:t>
            </a:r>
            <a:endParaRPr lang="en-US" sz="4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Bausteine I: Anfang, Mitte, Ende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325880"/>
            <a:ext cx="11094415" cy="1524000"/>
          </a:xfrm>
          <a:prstGeom prst="roundRect">
            <a:avLst>
              <a:gd name="adj" fmla="val 4800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463040"/>
            <a:ext cx="402336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Festes Präfix</a:t>
            </a:r>
            <a:endParaRPr lang="en-US" sz="2100" dirty="0"/>
          </a:p>
          <a:p>
            <a:pPr indent="0" marL="0"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beginnt mit „ab“ – falscher Anfang → Fehlerzustand</a:t>
            </a:r>
            <a:endParaRPr lang="en-US" sz="2100" dirty="0"/>
          </a:p>
        </p:txBody>
      </p:sp>
      <p:pic>
        <p:nvPicPr>
          <p:cNvPr id="6" name="Image 0" descr="/home/user/AutomatenLab/materials/build/img/ds03/b_praef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96375" y="1417320"/>
            <a:ext cx="4405185" cy="134112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3032760"/>
            <a:ext cx="11094415" cy="1524000"/>
          </a:xfrm>
          <a:prstGeom prst="roundRect">
            <a:avLst>
              <a:gd name="adj" fmla="val 4800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3169920"/>
            <a:ext cx="402336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Teilwort enthalten</a:t>
            </a:r>
            <a:endParaRPr lang="en-US" sz="2100" dirty="0"/>
          </a:p>
          <a:p>
            <a:pPr indent="0" marL="0"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enthält „ab“ – gefunden ist gefunden</a:t>
            </a:r>
            <a:endParaRPr lang="en-US" sz="2100" dirty="0"/>
          </a:p>
        </p:txBody>
      </p:sp>
      <p:pic>
        <p:nvPicPr>
          <p:cNvPr id="9" name="Image 1" descr="/home/user/AutomatenLab/materials/build/img/ds03/b_teilwo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6375" y="3124200"/>
            <a:ext cx="4405185" cy="134112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48640" y="4739640"/>
            <a:ext cx="11094415" cy="1524000"/>
          </a:xfrm>
          <a:prstGeom prst="roundRect">
            <a:avLst>
              <a:gd name="adj" fmla="val 4800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777240" y="4876800"/>
            <a:ext cx="402336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Endung</a:t>
            </a:r>
            <a:endParaRPr lang="en-US" sz="2100" dirty="0"/>
          </a:p>
          <a:p>
            <a:pPr indent="0" marL="0"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endet auf „ab“ – kein Fehlerzustand, Rückkanten!</a:t>
            </a:r>
            <a:endParaRPr lang="en-US" sz="2100" dirty="0"/>
          </a:p>
        </p:txBody>
      </p:sp>
      <p:pic>
        <p:nvPicPr>
          <p:cNvPr id="12" name="Image 2" descr="/home/user/AutomatenLab/materials/build/img/ds03/b_endu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2679" y="4831080"/>
            <a:ext cx="3512577" cy="13411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Bausteine II: Zählen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325880"/>
            <a:ext cx="11094415" cy="1524000"/>
          </a:xfrm>
          <a:prstGeom prst="roundRect">
            <a:avLst>
              <a:gd name="adj" fmla="val 4800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463040"/>
            <a:ext cx="402336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genau n</a:t>
            </a:r>
            <a:endParaRPr lang="en-US" sz="2100" dirty="0"/>
          </a:p>
          <a:p>
            <a:pPr indent="0" marL="0"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 zwei a – das dritte a → Fehlerzustand</a:t>
            </a:r>
            <a:endParaRPr lang="en-US" sz="2100" dirty="0"/>
          </a:p>
        </p:txBody>
      </p:sp>
      <p:pic>
        <p:nvPicPr>
          <p:cNvPr id="6" name="Image 0" descr="/home/user/AutomatenLab/materials/build/img/ds03/b_gen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96375" y="1417320"/>
            <a:ext cx="4405185" cy="134112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3032760"/>
            <a:ext cx="11094415" cy="1524000"/>
          </a:xfrm>
          <a:prstGeom prst="roundRect">
            <a:avLst>
              <a:gd name="adj" fmla="val 4800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3169920"/>
            <a:ext cx="402336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mindestens n</a:t>
            </a:r>
            <a:endParaRPr lang="en-US" sz="2100" dirty="0"/>
          </a:p>
          <a:p>
            <a:pPr indent="0" marL="0"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mindestens zwei a – ab n bleibt man im Endzustand</a:t>
            </a:r>
            <a:endParaRPr lang="en-US" sz="2100" dirty="0"/>
          </a:p>
        </p:txBody>
      </p:sp>
      <p:pic>
        <p:nvPicPr>
          <p:cNvPr id="9" name="Image 1" descr="/home/user/AutomatenLab/materials/build/img/ds03/b_mindeste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6375" y="3124200"/>
            <a:ext cx="4405185" cy="134112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48640" y="4739640"/>
            <a:ext cx="11094415" cy="1524000"/>
          </a:xfrm>
          <a:prstGeom prst="roundRect">
            <a:avLst>
              <a:gd name="adj" fmla="val 4800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777240" y="4876800"/>
            <a:ext cx="402336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modulo k</a:t>
            </a:r>
            <a:endParaRPr lang="en-US" sz="2100" dirty="0"/>
          </a:p>
          <a:p>
            <a:pPr indent="0" marL="0"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Anzahl a durch 3 teilbar – Zustände im Kreis</a:t>
            </a:r>
            <a:endParaRPr lang="en-US" sz="2100" dirty="0"/>
          </a:p>
        </p:txBody>
      </p:sp>
      <p:pic>
        <p:nvPicPr>
          <p:cNvPr id="12" name="Image 2" descr="/home/user/AutomatenLab/materials/build/img/ds03/b_modul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3864" y="4831080"/>
            <a:ext cx="3410207" cy="13411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Bausteine III: Kombinieren und Umkehren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5410048" cy="4846320"/>
          </a:xfrm>
          <a:prstGeom prst="roundRect">
            <a:avLst>
              <a:gd name="adj" fmla="val 1509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554480"/>
            <a:ext cx="495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Produkt: Paare von Erinnerungen</a:t>
            </a:r>
            <a:endParaRPr lang="en-US" sz="21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05740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gerade Anzahl a UND endet auf b · Zustand = (Parität a, zuletzt b?)</a:t>
            </a:r>
            <a:endParaRPr lang="en-US" sz="1800" dirty="0"/>
          </a:p>
        </p:txBody>
      </p:sp>
      <p:pic>
        <p:nvPicPr>
          <p:cNvPr id="7" name="Image 0" descr="/home/user/AutomatenLab/materials/build/img/ds03/b_produk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4121" y="3246120"/>
            <a:ext cx="3759085" cy="27889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233008" y="1371600"/>
            <a:ext cx="5410048" cy="4846320"/>
          </a:xfrm>
          <a:prstGeom prst="roundRect">
            <a:avLst>
              <a:gd name="adj" fmla="val 1509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61608" y="1554480"/>
            <a:ext cx="495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Komplement: Endzustände tauschen</a:t>
            </a:r>
            <a:endParaRPr lang="en-US" sz="2100" dirty="0"/>
          </a:p>
        </p:txBody>
      </p:sp>
      <p:sp>
        <p:nvSpPr>
          <p:cNvPr id="10" name="Text 6"/>
          <p:cNvSpPr txBox="1"/>
          <p:nvPr/>
        </p:nvSpPr>
        <p:spPr>
          <a:xfrm>
            <a:off x="6461608" y="205740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enthält </a:t>
            </a: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„ab“ – nur bei </a:t>
            </a: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vollständigem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Automaten!</a:t>
            </a:r>
            <a:endParaRPr lang="en-US" sz="1800" dirty="0"/>
          </a:p>
        </p:txBody>
      </p:sp>
      <p:pic>
        <p:nvPicPr>
          <p:cNvPr id="11" name="Image 1" descr="/home/user/AutomatenLab/materials/build/img/ds03/b_komplem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5888" y="3890467"/>
            <a:ext cx="5044288" cy="150022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5-Schritte-Vorgehen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Erinnerungen sammeln: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muss sich der Automat über das bisher Gelesene merken?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Zustände festlegen: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 Erinnerung ein Zustand – Bedeutung notieren.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Übergänge eintragen: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für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Zustand und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jedes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Zeichen aus Σ.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Start- und Endzustände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bestimmen: Wo beginnt man? Welche Erinnerungen bedeuten „akzeptieren“?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Testen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mit Grenzfällen: ε, sehr kurze Wörter, Beispiel- und Gegenbeispielwörter.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Ergebnis: gerade Anzahl a UND endet auf b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= (gerade, nein) · S1 = (gerade, ja) · S2 = (ungerade, nein) · S3 = (ungerade, ja)</a:t>
            </a:r>
            <a:endParaRPr lang="en-US" sz="1800" dirty="0"/>
          </a:p>
        </p:txBody>
      </p:sp>
      <p:pic>
        <p:nvPicPr>
          <p:cNvPr id="4" name="Image 0" descr="/home/user/AutomatenLab/materials/build/img/ds03/b_produk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91940" y="1783080"/>
            <a:ext cx="5607815" cy="4160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Schritt 5: Testen mit Grenzfällen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58952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Zustandsfolge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soll?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 ⇒  abgelehnt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–b→ S1  ⇒  akzeptiert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–a→ S2 –b→ S3  ⇒  abgelehnt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–a→ S2 –a→ S0 –b→ S1  ⇒  akzeptiert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abab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–a→ S2 –b→ S3 –a→ S0 –b→ S1  ⇒  akzeptiert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aaba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–a→ S2 –a→ S0 –b→ S1 –a→ S2  ⇒  abgelehnt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Achtung: zwei typische Fallen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339535" cy="4709160"/>
          </a:xfrm>
          <a:prstGeom prst="roundRect">
            <a:avLst>
              <a:gd name="adj" fmla="val 1942"/>
            </a:avLst>
          </a:prstGeom>
          <a:solidFill>
            <a:srgbClr val="F8ECDB"/>
          </a:solidFill>
          <a:ln w="1905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645920"/>
            <a:ext cx="5059375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Neuanfang: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Bei „enthält“ und „endet auf“ kann ein „falsches“ Zeichen schon der Anfang eines neuen Treffers sein – nicht blind nach S0 springen.</a:t>
            </a:r>
            <a:endParaRPr lang="en-US" sz="2200" dirty="0"/>
          </a:p>
          <a:p>
            <a:pPr lvl="1" marL="4572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</a:t>
            </a:r>
            <a:r>
              <a:rPr lang="en-US" sz="20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ababa</a:t>
            </a:r>
            <a:r>
              <a:rPr lang="en-US" sz="2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muss für „endet auf aba“ akzeptiert werden.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Komplement: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Fehlerzustand vorher einzeichnen – er wird beim Tauschen zum Endzustand.</a:t>
            </a:r>
            <a:endParaRPr lang="en-US" sz="2200" dirty="0"/>
          </a:p>
        </p:txBody>
      </p:sp>
      <p:pic>
        <p:nvPicPr>
          <p:cNvPr id="6" name="Image 1" descr="/home/user/AutomatenLab/materials/build/img/ds03/a3_praefix_komplem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3935" y="2483984"/>
            <a:ext cx="4389120" cy="257583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Arbeitsblatt Level 3</a:t>
            </a:r>
            <a:endParaRPr lang="en-US" sz="4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Auftrag: AB03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236829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Einzel → Partner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690872" y="1325880"/>
            <a:ext cx="2683764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193792" y="1325880"/>
            <a:ext cx="20894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AB03, Merkblatt M02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79854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Aufgabe 1 (Bausteine anwenden)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Aufgaben 2–4 (Neuanfang, Komplement, Produkt)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Aufgabe 5 (Retro-Controller)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Baukasten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üben (verwandte Challenges, freier Modus) – Gegenbeispiele nutzen!</a:t>
            </a:r>
            <a:endParaRPr lang="en-US" sz="2200" dirty="0"/>
          </a:p>
        </p:txBody>
      </p:sp>
      <p:sp>
        <p:nvSpPr>
          <p:cNvPr id="13" name="Shape 8"/>
          <p:cNvSpPr/>
          <p:nvPr/>
        </p:nvSpPr>
        <p:spPr>
          <a:xfrm>
            <a:off x="8808415" y="2148840"/>
            <a:ext cx="2834640" cy="356616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335" y="2377440"/>
            <a:ext cx="1828800" cy="18288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945575" y="438912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Automaten-Baukasten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Automaten-Baukasten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840480" cy="42062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828800"/>
            <a:ext cx="2743200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00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846320" y="1737360"/>
            <a:ext cx="679673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800" dirty="0"/>
          </a:p>
          <a:p>
            <a:pPr indent="0" marL="0">
              <a:buNone/>
            </a:pPr>
            <a:r>
              <a:rPr lang="en-US" sz="34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Automaten-Baukasten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oder Tabelle bauen,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drücken. Ist dein Automat falsch, zeigt die App das kürzeste Wort, bei dem er sich irrt. Verwandte Challenges zu den Aufgaben 2–5: </a:t>
            </a:r>
            <a:r>
              <a:rPr lang="en-US" sz="22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endet-ab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2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komplement-aa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2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gerade-a-endet-b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2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konsole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5303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https://automatenlab.frankjuchim.de/#/baukasten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Abi-Check</a:t>
            </a:r>
            <a:endParaRPr lang="en-US" sz="4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Abi-Check: Zustände müssen verschieden sein</a:t>
            </a:r>
            <a:endParaRPr lang="en-US" sz="3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955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„Begründen Sie, dass sich der Automat nach x und y in verschiedenen Zuständen befinden muss.“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Beispiel Retro-Controller: x = X, y = 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Fortsetzung z finden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 = OE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Wirkung zeigen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XOE ist gültig (A/X da, zwei rote Tasten), OOE nicht (weder A noch X).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Schluss ziehen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 DEA im selben Zustand müsste beide Wörter gleich behandeln ⇒ verschiedene Zustände.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Merke: DEA entwickeln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09160"/>
          </a:xfrm>
          <a:prstGeom prst="roundRect">
            <a:avLst>
              <a:gd name="adj" fmla="val 1942"/>
            </a:avLst>
          </a:prstGeom>
          <a:solidFill>
            <a:srgbClr val="F8ECDB"/>
          </a:solidFill>
          <a:ln w="1905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645920"/>
            <a:ext cx="9814255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Erinnerungen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dann Zustände: Jeder Zustand hat eine klare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Bedeutung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Bausteine: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Präfix, Teilwort, Endung, Zählen (genau / mindestens / modulo).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Bedingungen: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Zustände =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Paare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von Erinnerungen; UND/ODER ändert nur die Endzustände.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Komplement: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vollständiger Automat, End- und Nicht-Endzustände tauschen.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Immer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ε, kurze Wörter, Gegenbeispiele.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Zum Mitnehmen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10515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Konstruktionsbausteine kennen und anwenden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Bedingungen mit Paaren von Erinnerungen kombinieren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Komplement korrekt bilden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 systematisch testen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4846320"/>
            <a:ext cx="10911535" cy="1280160"/>
          </a:xfrm>
          <a:prstGeom prst="roundRect">
            <a:avLst>
              <a:gd name="adj" fmla="val 8571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4956048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Hausaufgabe</a:t>
            </a:r>
            <a:endParaRPr lang="en-US" sz="15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Baukasten-Challenges „a-mod-3“ und „anfang-ende“ (Profis: „binaer-3“) + eigene Challenge für deine Sitznachbarin / deinen Sitznachbarn erfinden (mit Musterlösung).</a:t>
            </a:r>
            <a:endParaRPr lang="en-US" sz="15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tomaten LK">
  <a:themeElements>
    <a:clrScheme name="Automaten LK">
      <a:dk1>
        <a:srgbClr val="1F2A2E"/>
      </a:dk1>
      <a:lt1>
        <a:srgbClr val="FFFFFF"/>
      </a:lt1>
      <a:dk2>
        <a:srgbClr val="0E6455"/>
      </a:dk2>
      <a:lt2>
        <a:srgbClr val="E4F0EE"/>
      </a:lt2>
      <a:accent1>
        <a:srgbClr val="0E6455"/>
      </a:accent1>
      <a:accent2>
        <a:srgbClr val="B26A0F"/>
      </a:accent2>
      <a:accent3>
        <a:srgbClr val="3E8E7E"/>
      </a:accent3>
      <a:accent4>
        <a:srgbClr val="D9A45B"/>
      </a:accent4>
      <a:accent5>
        <a:srgbClr val="5B6770"/>
      </a:accent5>
      <a:accent6>
        <a:srgbClr val="A83232"/>
      </a:accent6>
      <a:hlink>
        <a:srgbClr val="0E6455"/>
      </a:hlink>
      <a:folHlink>
        <a:srgbClr val="0A4A3F"/>
      </a:folHlink>
    </a:clrScheme>
    <a:fontScheme name="Automaten 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Max-Planck-Gymnasium Delmenhorst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Bauplan gesucht</dc:title>
  <dc:subject>PptxGenJS Presentation</dc:subject>
  <dc:creator>Frank Juchim</dc:creator>
  <cp:lastModifiedBy>Frank Juchim</cp:lastModifiedBy>
  <cp:revision>1</cp:revision>
  <dcterms:created xsi:type="dcterms:W3CDTF">2026-10-14T16:07:58Z</dcterms:created>
  <dcterms:modified xsi:type="dcterms:W3CDTF">2026-10-14T16:07:58Z</dcterms:modified>
</cp:coreProperties>
</file>