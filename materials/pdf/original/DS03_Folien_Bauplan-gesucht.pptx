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bfef6d8-04e6-5f23-5313-90c77a498f29}">
          <p14:sldIdLst>
            <p14:sldId id="256"/>
          </p14:sldIdLst>
        </p14:section>
        <p14:section name="Einstieg" id="{4292ced9-14b0-ea3e-3ef3-7f218a594127}">
          <p14:sldIdLst>
            <p14:sldId id="257"/>
            <p14:sldId id="258"/>
            <p14:sldId id="259"/>
          </p14:sldIdLst>
        </p14:section>
        <p14:section name="Erarbeitung" id="{0cd5130e-123f-332e-9bbd-c9b2438b34a0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66242b31-3453-2a27-5ed1-d21ddc28693c}">
          <p14:sldIdLst>
            <p14:sldId id="268"/>
            <p14:sldId id="269"/>
            <p14:sldId id="270"/>
          </p14:sldIdLst>
        </p14:section>
        <p14:section name="Sicherung" id="{c5dcaa22-0cbf-54ff-8bee-d661c0fd137d}">
          <p14:sldIdLst>
            <p14:sldId id="271"/>
            <p14:sldId id="272"/>
            <p14:sldId id="273"/>
          </p14:sldIdLst>
        </p14:section>
        <p14:section name="Abschluss" id="{efeaaff5-a2c6-086a-ac88-f966d64dbf64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3: vom Lesen zum Bauen. Ziel: ein verlässlicher Bauplan statt Ausprobieren.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Think-Pair-Share. Erwartete Antworten: „Anzahl a“ (→ nur gerade/ungerade nötig!), „letztes Zeichen“ (→ nur: war es b?).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wird die Produkt-Idee vorbereitet. Wir konstruieren den Automaten gleich mit dem 5-Schritte-Vorgehen.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Präfix: Bei falschem Anfang Fehlerzustand (Hinweis!). Teilwort: Endzustand mit Schleife. Endung: Zustand = „wie viel vom Muster passt am Ende gerade“ – jedes Zeichen kann alles noch ändern.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Zählen geht nur beschränkt: genau/mindestens n braucht n+1 Zustände (plus ggf. Fehler); modulo k braucht k Zustände. Unbeschränktes Zählen → Level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Produkt: S0 = (gerade, nein), S1 = (gerade, ja), S2 = (ungerade, nein), S3 = (ungerade, ja). Komplement: aus „enthält ab“ – S2 war Endzustand, jetzt S0 und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am Einstiegsbeispiel durchführen. Schritt 3 betonen: für JEDEN Zustand JEDES Zeichen.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Interessierte: S2 und S3 verhalten sich gleich (bei ungerader Anzahl a ist das Ende egal) – zusammenfassen lernen wir in Level 5 (Vertiefung).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Ergebnisse stimmen mit der Sprachbeschreibung überein. ε: S0 ist kein Endzustand – richtig, denn ε endet nicht auf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Bild: korrektes Komplement von „beginnt mit ab“ mit explizitem S3 (ehemaliger Fehlerzustand).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Zwischenstopp nach ca. 20 Minuten: häufigster Fehler in Aufgabe 2 (S3 –b→ S0) mit Gegenbeispiel ababa besprechen.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Deep-Links für einzelne Challenges: #/baukasten?aufgabe=&lt;id&gt;; Stufen: ?stufe=1|2|3.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Dieses Antwortmuster kommt im Abitur regelmäßig (2022 eA C b: 30 vs. 03; 2024 eA B c). In der Vertiefung Level 5 (Minimierung) wird daraus das Unterscheiden von Zuständen.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Welt A · Endliche Automaten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Welt A · Endliche Automaten · gA und 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gA und eA  ·  Level 3  ·  Welt A: Endliche Automaten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Bauplan gesucht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systematisch entwickeln – Bausteine und Vorgehen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entwickle ich systematisch einen Automaten für eine gegebene Sprache?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muss sich der Automat merken?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DEA soll alle Wörter über {a, b} akzeptieren, die eine gerade Anzahl a enthalten UND auf b enden.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muss er sich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merken? Erst allein (1 min), dann zu zweit (2 min).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Erinnerungen – vier Paare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 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bisher: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ungerade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Erinnerung 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Zuletzt gelesenes Zeichen war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ja oder nein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Zustände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Erinnerungen ist ein Zustand: 2 · 2 = 4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Endzustand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das Paar (gerade, ja)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Bausteine-Galerie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I: Anfang, Mitte, Ende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Festes Präfix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beginnt mit „ab“ – falscher Anfang → Fehlerzustand</a:t>
            </a:r>
            <a:endParaRPr lang="en-US" sz="2100" dirty="0"/>
          </a:p>
        </p:txBody>
      </p:sp>
      <p:pic>
        <p:nvPicPr>
          <p:cNvPr id="6" name="Image 0" descr="/home/user/AutomatenLab/materials/build/img/ds03/b_prae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75" y="1417320"/>
            <a:ext cx="4405185" cy="1341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03276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16992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Teilwort enthalten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„ab“ – gefunden ist gefunden</a:t>
            </a:r>
            <a:endParaRPr lang="en-US" sz="2100" dirty="0"/>
          </a:p>
        </p:txBody>
      </p:sp>
      <p:pic>
        <p:nvPicPr>
          <p:cNvPr id="9" name="Image 1" descr="/home/user/AutomatenLab/materials/build/img/ds03/b_teilw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75" y="3124200"/>
            <a:ext cx="4405185" cy="1341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73964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487680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Endung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 auf „ab“ – kein Fehlerzustand, Rückkanten!</a:t>
            </a:r>
            <a:endParaRPr lang="en-US" sz="2100" dirty="0"/>
          </a:p>
        </p:txBody>
      </p:sp>
      <p:pic>
        <p:nvPicPr>
          <p:cNvPr id="12" name="Image 2" descr="/home/user/AutomatenLab/materials/build/img/ds03/b_endu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79" y="4831080"/>
            <a:ext cx="3512577" cy="1341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II: Zählen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genau 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zwei a – das dritte a → Fehlerzustand</a:t>
            </a:r>
            <a:endParaRPr lang="en-US" sz="2100" dirty="0"/>
          </a:p>
        </p:txBody>
      </p:sp>
      <p:pic>
        <p:nvPicPr>
          <p:cNvPr id="6" name="Image 0" descr="/home/user/AutomatenLab/materials/build/img/ds03/b_gen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6375" y="1417320"/>
            <a:ext cx="4405185" cy="1341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03276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316992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mindestens n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zwei a – ab n bleibt man im Endzustand</a:t>
            </a:r>
            <a:endParaRPr lang="en-US" sz="2100" dirty="0"/>
          </a:p>
        </p:txBody>
      </p:sp>
      <p:pic>
        <p:nvPicPr>
          <p:cNvPr id="9" name="Image 1" descr="/home/user/AutomatenLab/materials/build/img/ds03/b_mindeste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75" y="3124200"/>
            <a:ext cx="4405185" cy="1341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4739640"/>
            <a:ext cx="11094415" cy="1524000"/>
          </a:xfrm>
          <a:prstGeom prst="roundRect">
            <a:avLst>
              <a:gd name="adj" fmla="val 4800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4876800"/>
            <a:ext cx="402336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 k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a durch 3 teilbar – Zustände im Kreis</a:t>
            </a:r>
            <a:endParaRPr lang="en-US" sz="2100" dirty="0"/>
          </a:p>
        </p:txBody>
      </p:sp>
      <p:pic>
        <p:nvPicPr>
          <p:cNvPr id="12" name="Image 2" descr="/home/user/AutomatenLab/materials/build/img/ds03/b_modu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864" y="4831080"/>
            <a:ext cx="3410207" cy="1341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III: Kombinieren und Umkehren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544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Produkt: Paare von Erinnerungen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gerade Anzahl a UND endet auf b · Zustand = (Parität a, zuletzt b?)</a:t>
            </a:r>
            <a:endParaRPr lang="en-US" sz="1800" dirty="0"/>
          </a:p>
        </p:txBody>
      </p:sp>
      <p:pic>
        <p:nvPicPr>
          <p:cNvPr id="7" name="Image 0" descr="/home/user/AutomatenLab/materials/build/img/ds03/b_produ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121" y="3246120"/>
            <a:ext cx="3759085" cy="2788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33008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61608" y="155448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Komplement: Endzustände tauschen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461608" y="2057400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enthält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„ab“ – nur bei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vollständigem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Automaten!</a:t>
            </a:r>
            <a:endParaRPr lang="en-US" sz="1800" dirty="0"/>
          </a:p>
        </p:txBody>
      </p:sp>
      <p:pic>
        <p:nvPicPr>
          <p:cNvPr id="11" name="Image 1" descr="/home/user/AutomatenLab/materials/build/img/ds03/b_kompl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890467"/>
            <a:ext cx="5044288" cy="15002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5-Schritte-Vorgehen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Erinnerungen sammeln: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muss sich der Automat über das bisher Gelesene merken?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Zustände festlegen: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Erinnerung ein Zustand – Bedeutung notieren.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Übergänge eintragen: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Zustand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aus Σ.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Start- und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bestimmen: Wo beginnt man? Welche Erinnerungen bedeuten „akzeptieren“?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Grenzfällen: ε, sehr kurze Wörter, Beispiel- und Gegenbeispielwörter.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gerade Anzahl a UND endet auf 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(gerade, nein) · S1 = (gerade, ja) · S2 = (ungerade, nein) · S3 = (ungerade, ja)</a:t>
            </a:r>
            <a:endParaRPr lang="en-US" sz="1800" dirty="0"/>
          </a:p>
        </p:txBody>
      </p:sp>
      <p:pic>
        <p:nvPicPr>
          <p:cNvPr id="4" name="Image 0" descr="/home/user/AutomatenLab/materials/build/img/ds03/b_produ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940" y="1783080"/>
            <a:ext cx="5607815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Schritt 5: Testen mit Grenzfällen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5895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Zustandsfolge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–b→ S3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–a→ 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–b→ S3 –a→ S0 –b→ S1  ⇒  akzeptiert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–a→ S2 –a→ S0 –b→ S1 –a→ S2  ⇒  abgelehnt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Achtung: zwei typische Fallen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33953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0593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Neuanfang: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 „enthält“ und „endet auf“ kann ein „falsches“ Zeichen schon der Anfang eines neuen Treffers sein – nicht blind nach S0 springen.</a:t>
            </a:r>
            <a:endParaRPr lang="en-US" sz="22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n-US" sz="20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ababa</a:t>
            </a:r>
            <a:r>
              <a:rPr lang="en-US" sz="2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muss für „endet auf aba“ akzeptiert werden.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Fehlerzustand vorher einzeichnen – er wird beim Tauschen zum Endzustand.</a:t>
            </a:r>
            <a:endParaRPr lang="en-US" sz="2200" dirty="0"/>
          </a:p>
        </p:txBody>
      </p:sp>
      <p:pic>
        <p:nvPicPr>
          <p:cNvPr id="6" name="Image 1" descr="/home/user/AutomatenLab/materials/build/img/ds03/a3_praefix_kompl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2483984"/>
            <a:ext cx="4389120" cy="25758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3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AB03, Merkblatt M02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1 (Bausteine anwenden)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Aufgaben 2–4 (Neuanfang, Komplement, Produkt)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Aufgabe 5 (Retro-Controller)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üben (verwandte Challenges, freier Modus) – Gegenbeispiele nutzen!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Automaten-Baukasten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Automaten-Baukasten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oder Tabelle bauen,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drücken. Ist dein Automat falsch, zeigt die App das kürzeste Wort, bei dem er sich irrt. Verwandte Challenges zu den Aufgaben 2–5: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endet-ab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komplement-aa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gerade-a-endet-b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https://automatenlab.frankjuchim.de/#/baukasten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Zustände müssen verschieden sein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„Begründen Sie, dass sich der Automat nach x und y in verschiedenen Zuständen befinden muss.“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 Retro-Controller: x = X, y = 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Fortsetzung z finden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OE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Wirkung zeigen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XOE ist gültig (A/X da, zwei rote Tasten), OOE nicht (weder A noch X).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Schluss ziehen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DEA im selben Zustand müsste beide Wörter gleich behandeln ⇒ verschiedene Zustände.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DEA entwickeln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dann Zustände: Jeder Zustand hat eine klare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Präfix, Teilwort, Endung, Zählen (genau / mindestens / modulo).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Bedingungen: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Zustände =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Erinnerungen; UND/ODER ändert nur die Endzustände.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vollständiger Automat, End- und Nicht-Endzustände tauschen.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ε, kurze Wörter, Gegenbeispiele.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Konstruktionsbausteine kennen und anwenden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Bedingungen mit Paaren von Erinnerungen kombinieren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 korrekt bilden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 systematisch testen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Baukasten-Challenges „a-mod-3“ und „anfang-ende“ (Profis: „binaer-3“) + eigene Challenge für deine Sitznachbarin / deinen Sitznachbarn erfinden (mit Musterlösung).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Bauplan gesucht</dc:title>
  <dc:subject>PptxGenJS Presentation</dc:subject>
  <dc:creator>Frank Juchim</dc:creator>
  <cp:lastModifiedBy>Frank Juchim</cp:lastModifiedBy>
  <cp:revision>1</cp:revision>
  <dcterms:created xsi:type="dcterms:W3CDTF">2026-10-12T09:28:16Z</dcterms:created>
  <dcterms:modified xsi:type="dcterms:W3CDTF">2026-10-12T09:28:16Z</dcterms:modified>
</cp:coreProperties>
</file>