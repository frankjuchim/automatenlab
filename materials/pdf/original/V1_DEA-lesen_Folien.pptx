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[0:00–0:25] Einstieg
„Passwortprüfung, Barcode-Scanner, Getränkeautomat – alle prüfen Eingaben Zeichen für Zeichen und merken sich dabei erstaunlich wenig.“
„In sechs Minuten kannst du jeden DEA lesen – und für jedes Wort sagen: akzeptiert oder nicht, und warum.“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[0:25–1:25] Bausteine eines DEA
Mauszeiger/Laserpointer: Start-Pfeil, Doppelkreis, ein Übergang zeigen.
„Jeder Zustand ist eine Erinnerung: S1 heißt ‚zuletzt habe ich ein L gesehen‘.“
Deterministisch: aus jedem Zustand für jedes Zeichen genau ein Pfeil.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[1:25–2:45] Ein Wort verarbeiten
Pro Folie ein Zeichen: „Ich lese X – aus S0 gibt es einen X-Pfeil zurück nach S0.“
„Nach dem letzten Zeichen bin ich in S3 – ein Endzustand – also akzeptiert.“
LOOL: „Das zweite O zerstört den Anfang – zurück nach S0.“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[2:45–3:35] Der Fehlerzustand
„20 + 10 + 20 wären 50 ct – aus S3 gibt es keinen 20-Pfeil.“
„Im Abi steht dann: Alle nicht eingezeichneten Übergänge führen in einen Fehlerzustand. Wenn du ihn weglässt, schreib diesen Satz dazu.“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[3:35–4:45] Live im AutomatenLab
Arena: „Ohne Zeitlimit üben“ anhaken, Runde starten, laut mitdenken.
Detektiv: b, ab, ba, abb testen → Vermutung „endet auf b“ → Antwort wählen.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[4:45–5:30] Die Sprache beschreiben
„Das Wort ‚genau‘ ist wichtig: alle diese Wörter – und keine anderen.“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[5:30–6:00] Jetzt du
„Halte das Video an und entscheide für jedes Wort – mit Zustandsfolge.“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[6:00–6:25] Zusammenfassung
Auf Merkblatt M01 und die Arena verweisen; Ausblick: selbst einen Automaten bauen.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TITEL">
    <p:bg>
      <p:bgPr>
        <a:solidFill>
          <a:srgbClr val="0E6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0B574A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1  ·  DEA lesen  ·  automatenlab.frankjuchim.de  ·  CC BY-SA 4.0 Frank Juchim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F1F7F6"/>
          </a:solidFill>
          <a:ln/>
        </p:spPr>
      </p:sp>
      <p:sp>
        <p:nvSpPr>
          <p:cNvPr id="5" name="Shape 2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AKZENT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1  ·  DEA lesen  ·  automatenlab.frankjuchim.de  ·  CC BY-SA 4.0 Frank Juchim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E4EEEC"/>
          </a:solidFill>
          <a:ln/>
        </p:spPr>
      </p:sp>
      <p:sp>
        <p:nvSpPr>
          <p:cNvPr id="5" name="Shape 2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DUNKEL">
    <p:bg>
      <p:bgPr>
        <a:solidFill>
          <a:srgbClr val="0A4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083D34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Erklärvideo 1  ·  Maschinen, die Sprache verstehen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7863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ein Automat ein Wort prüft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640080" y="3977640"/>
            <a:ext cx="7772400" cy="1463040"/>
          </a:xfrm>
          <a:prstGeom prst="roundRect">
            <a:avLst>
              <a:gd name="adj" fmla="val 7500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4114800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Leitfrage</a:t>
            </a:r>
            <a:endParaRPr lang="en-US" sz="1500" dirty="0"/>
          </a:p>
          <a:p>
            <a:pPr indent="0" marL="0">
              <a:buNone/>
            </a:pPr>
            <a:r>
              <a:rPr lang="en-US" sz="2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entscheidet eine Maschine mit nur vier „Erinnerungen“, ob in einem Chat LOL vorkommt?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F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automatenlab.frankjuchim.de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0" y="91440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0" y="9144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10561320" y="91440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61320" y="9144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9857232" y="233172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F3D9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48672" y="2423160"/>
            <a:ext cx="777240" cy="777240"/>
          </a:xfrm>
          <a:prstGeom prst="ellipse">
            <a:avLst/>
          </a:prstGeom>
          <a:solidFill>
            <a:srgbClr val="0E6455"/>
          </a:solidFill>
          <a:ln w="19050">
            <a:solidFill>
              <a:srgbClr val="F3D9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857232" y="23317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10122408" y="1389888"/>
            <a:ext cx="420624" cy="0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10652760" y="1874520"/>
            <a:ext cx="256032" cy="47548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LOL-Erkenner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{L, O, X}</a:t>
            </a:r>
            <a:endParaRPr lang="en-US" sz="1900" dirty="0"/>
          </a:p>
        </p:txBody>
      </p:sp>
      <p:pic>
        <p:nvPicPr>
          <p:cNvPr id="4" name="Image 0" descr="/home/user/AutomatenLab/materials/build/img/video/l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51723"/>
            <a:ext cx="7863840" cy="253179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436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Akzeptiert alle Wörter, in denen LOL vorkommt.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BAUSTEINE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▪"/>
            </a:pP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Eingabealphabet</a:t>
            </a:r>
            <a:endParaRPr lang="en-US" sz="1800" dirty="0"/>
          </a:p>
          <a:p>
            <a:pPr marL="279400" indent="-279400">
              <a:spcAft>
                <a:spcPts val="600"/>
              </a:spcAft>
              <a:buSzPct val="100000"/>
              <a:buChar char="▪"/>
            </a:pP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Zustände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S0 … S3</a:t>
            </a:r>
            <a:endParaRPr lang="en-US" sz="1800" dirty="0"/>
          </a:p>
          <a:p>
            <a:pPr marL="279400" indent="-279400">
              <a:spcAft>
                <a:spcPts val="600"/>
              </a:spcAft>
              <a:buSzPct val="100000"/>
              <a:buChar char="▪"/>
            </a:pP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Pfeil „Start“</a:t>
            </a:r>
            <a:endParaRPr lang="en-US" sz="1800" dirty="0"/>
          </a:p>
          <a:p>
            <a:pPr marL="279400" indent="-279400">
              <a:spcAft>
                <a:spcPts val="600"/>
              </a:spcAft>
              <a:buSzPct val="100000"/>
              <a:buChar char="▪"/>
            </a:pP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Endzustand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Doppelkreis</a:t>
            </a:r>
            <a:endParaRPr lang="en-US" sz="1800" dirty="0"/>
          </a:p>
          <a:p>
            <a:pPr marL="279400" indent="-279400">
              <a:spcAft>
                <a:spcPts val="600"/>
              </a:spcAft>
              <a:buSzPct val="100000"/>
              <a:buChar char="▪"/>
            </a:pP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Übergang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Pfeil mit Zeichen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Jeder Zustand ist eine Erinnerung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8638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400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Zustand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 Automat weiß 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noch kein Anfang von LOL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zuletzt ein L gelesen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zuletzt LO gelesen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LOL kommt vor – das bleibt 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DEA merkt sich </a:t>
            </a: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das ganze Wort – nur das, was für die Entscheidung wichtig ist.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 lesen XLOL</a:t>
            </a:r>
            <a:endParaRPr lang="en-US" sz="3200" dirty="0"/>
          </a:p>
        </p:txBody>
      </p:sp>
      <p:pic>
        <p:nvPicPr>
          <p:cNvPr id="3" name="Image 0" descr="/home/user/AutomatenLab/materials/build/img/video/lol_xlol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74583"/>
            <a:ext cx="7863840" cy="253179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EINGABE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979408" y="1901952"/>
            <a:ext cx="56692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D3D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79408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9592056" y="1901952"/>
            <a:ext cx="56692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D3D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592056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10204704" y="1901952"/>
            <a:ext cx="56692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D3D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204704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10817352" y="1901952"/>
            <a:ext cx="56692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D3D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817352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8979408" y="2606040"/>
            <a:ext cx="2798064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Zustand: </a:t>
            </a: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in S0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Zeichen 1: X</a:t>
            </a:r>
            <a:endParaRPr lang="en-US" sz="3200" dirty="0"/>
          </a:p>
        </p:txBody>
      </p:sp>
      <p:pic>
        <p:nvPicPr>
          <p:cNvPr id="3" name="Image 0" descr="/home/user/AutomatenLab/materials/build/img/video/lol_xlol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74583"/>
            <a:ext cx="7863840" cy="253179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EINGABE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979408" y="1901952"/>
            <a:ext cx="566928" cy="566928"/>
          </a:xfrm>
          <a:prstGeom prst="rect">
            <a:avLst/>
          </a:prstGeom>
          <a:solidFill>
            <a:srgbClr val="B26A0F"/>
          </a:solidFill>
          <a:ln w="15240">
            <a:solidFill>
              <a:srgbClr val="B26A0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79408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9592056" y="1901952"/>
            <a:ext cx="56692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D3D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592056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10204704" y="1901952"/>
            <a:ext cx="56692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D3D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204704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10817352" y="1901952"/>
            <a:ext cx="56692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D3D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817352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8979408" y="2606040"/>
            <a:ext cx="2798064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Zustand: </a:t>
            </a: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Zeichen 2: L</a:t>
            </a:r>
            <a:endParaRPr lang="en-US" sz="3200" dirty="0"/>
          </a:p>
        </p:txBody>
      </p:sp>
      <p:pic>
        <p:nvPicPr>
          <p:cNvPr id="3" name="Image 0" descr="/home/user/AutomatenLab/materials/build/img/video/lol_xlol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74583"/>
            <a:ext cx="7863840" cy="253179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EINGABE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979408" y="1901952"/>
            <a:ext cx="566928" cy="566928"/>
          </a:xfrm>
          <a:prstGeom prst="rect">
            <a:avLst/>
          </a:prstGeom>
          <a:solidFill>
            <a:srgbClr val="F6E7CF"/>
          </a:solidFill>
          <a:ln w="15240">
            <a:solidFill>
              <a:srgbClr val="C9D3D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79408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9592056" y="1901952"/>
            <a:ext cx="566928" cy="566928"/>
          </a:xfrm>
          <a:prstGeom prst="rect">
            <a:avLst/>
          </a:prstGeom>
          <a:solidFill>
            <a:srgbClr val="B26A0F"/>
          </a:solidFill>
          <a:ln w="15240">
            <a:solidFill>
              <a:srgbClr val="B26A0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592056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10204704" y="1901952"/>
            <a:ext cx="56692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D3D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204704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10817352" y="1901952"/>
            <a:ext cx="56692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D3D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817352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8979408" y="2606040"/>
            <a:ext cx="2798064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Zustand: </a:t>
            </a: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Zeichen 3: O</a:t>
            </a:r>
            <a:endParaRPr lang="en-US" sz="3200" dirty="0"/>
          </a:p>
        </p:txBody>
      </p:sp>
      <p:pic>
        <p:nvPicPr>
          <p:cNvPr id="3" name="Image 0" descr="/home/user/AutomatenLab/materials/build/img/video/lol_xlol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74583"/>
            <a:ext cx="7863840" cy="253179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EINGABE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979408" y="1901952"/>
            <a:ext cx="566928" cy="566928"/>
          </a:xfrm>
          <a:prstGeom prst="rect">
            <a:avLst/>
          </a:prstGeom>
          <a:solidFill>
            <a:srgbClr val="F6E7CF"/>
          </a:solidFill>
          <a:ln w="15240">
            <a:solidFill>
              <a:srgbClr val="C9D3D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79408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9592056" y="1901952"/>
            <a:ext cx="566928" cy="566928"/>
          </a:xfrm>
          <a:prstGeom prst="rect">
            <a:avLst/>
          </a:prstGeom>
          <a:solidFill>
            <a:srgbClr val="F6E7CF"/>
          </a:solidFill>
          <a:ln w="15240">
            <a:solidFill>
              <a:srgbClr val="C9D3D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592056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10204704" y="1901952"/>
            <a:ext cx="566928" cy="566928"/>
          </a:xfrm>
          <a:prstGeom prst="rect">
            <a:avLst/>
          </a:prstGeom>
          <a:solidFill>
            <a:srgbClr val="B26A0F"/>
          </a:solidFill>
          <a:ln w="15240">
            <a:solidFill>
              <a:srgbClr val="B26A0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204704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10817352" y="1901952"/>
            <a:ext cx="56692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D3D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817352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8979408" y="2606040"/>
            <a:ext cx="2798064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Zustand: </a:t>
            </a: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Zeichen 4: L</a:t>
            </a:r>
            <a:endParaRPr lang="en-US" sz="3200" dirty="0"/>
          </a:p>
        </p:txBody>
      </p:sp>
      <p:pic>
        <p:nvPicPr>
          <p:cNvPr id="3" name="Image 0" descr="/home/user/AutomatenLab/materials/build/img/video/lol_xlol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74583"/>
            <a:ext cx="7863840" cy="253179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EINGABE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979408" y="1901952"/>
            <a:ext cx="566928" cy="566928"/>
          </a:xfrm>
          <a:prstGeom prst="rect">
            <a:avLst/>
          </a:prstGeom>
          <a:solidFill>
            <a:srgbClr val="F6E7CF"/>
          </a:solidFill>
          <a:ln w="15240">
            <a:solidFill>
              <a:srgbClr val="C9D3D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79408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9592056" y="1901952"/>
            <a:ext cx="566928" cy="566928"/>
          </a:xfrm>
          <a:prstGeom prst="rect">
            <a:avLst/>
          </a:prstGeom>
          <a:solidFill>
            <a:srgbClr val="F6E7CF"/>
          </a:solidFill>
          <a:ln w="15240">
            <a:solidFill>
              <a:srgbClr val="C9D3D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592056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10204704" y="1901952"/>
            <a:ext cx="566928" cy="566928"/>
          </a:xfrm>
          <a:prstGeom prst="rect">
            <a:avLst/>
          </a:prstGeom>
          <a:solidFill>
            <a:srgbClr val="F6E7CF"/>
          </a:solidFill>
          <a:ln w="15240">
            <a:solidFill>
              <a:srgbClr val="C9D3D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204704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10817352" y="1901952"/>
            <a:ext cx="566928" cy="566928"/>
          </a:xfrm>
          <a:prstGeom prst="rect">
            <a:avLst/>
          </a:prstGeom>
          <a:solidFill>
            <a:srgbClr val="B26A0F"/>
          </a:solidFill>
          <a:ln w="15240">
            <a:solidFill>
              <a:srgbClr val="B26A0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817352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8979408" y="2606040"/>
            <a:ext cx="2798064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Zustand: </a:t>
            </a: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ist Endzustand ⇒ akzeptiert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Akzeptiert oder abgelehnt?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78638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XLOL:</a:t>
            </a: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S0 –X→ S0 –L→ S1 –O→ S2 –L→ S3 ⇒ </a:t>
            </a: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akzeptiert</a:t>
            </a: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da S3 ein Endzustand ist.</a:t>
            </a:r>
            <a:endParaRPr lang="en-US" sz="23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LOOL:</a:t>
            </a: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S0 –L→ S1 –O→ S2 –O→ S0 –L→ S1 ⇒ </a:t>
            </a: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abgelehnt</a:t>
            </a: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da S1 kein Endzustand ist.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8ECDB"/>
          </a:solidFill>
          <a:ln w="12700">
            <a:solidFill>
              <a:srgbClr val="B26A0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Akzeptiert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⇔ nach dem </a:t>
            </a: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letzten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Zeichen in einem </a:t>
            </a: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Endzustand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 wenn ein Pfeil fehlt?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Kaffee 40 ct · Münzen 10 ct und 20 ct · nur passend</a:t>
            </a:r>
            <a:endParaRPr lang="en-US" sz="1900" dirty="0"/>
          </a:p>
        </p:txBody>
      </p:sp>
      <p:pic>
        <p:nvPicPr>
          <p:cNvPr id="4" name="Image 0" descr="/home/user/AutomatenLab/materials/build/img/video/kaff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59067"/>
            <a:ext cx="7863840" cy="159122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532120"/>
            <a:ext cx="7863840" cy="822960"/>
          </a:xfrm>
          <a:prstGeom prst="roundRect">
            <a:avLst>
              <a:gd name="adj" fmla="val 1111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56235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10 20:  S0 –20→ S2 –10→ S3 –20→ </a:t>
            </a:r>
            <a:r>
              <a:rPr lang="en-US" sz="2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(kein Pfeil mit 20 aus S3)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KAFFEEAUTOMAT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 … S4 = 0, 10, 20, 30, 40 ct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S4: genau 40 ct ⇒ Endzustand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Vollständig: mit Fehlerzustand</a:t>
            </a:r>
            <a:endParaRPr lang="en-US" sz="3200" dirty="0"/>
          </a:p>
        </p:txBody>
      </p:sp>
      <p:pic>
        <p:nvPicPr>
          <p:cNvPr id="3" name="Image 0" descr="/home/user/AutomatenLab/materials/build/img/video/kaffee_komplet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91329"/>
            <a:ext cx="7863840" cy="165238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5532120"/>
            <a:ext cx="7863840" cy="822960"/>
          </a:xfrm>
          <a:prstGeom prst="roundRect">
            <a:avLst>
              <a:gd name="adj" fmla="val 1111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56235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Fehlende Pfeile führen in den </a:t>
            </a:r>
            <a:r>
              <a:rPr lang="en-US" sz="2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Fehlerzustand</a:t>
            </a: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dort bleibt der Automat ⇒ </a:t>
            </a:r>
            <a:r>
              <a:rPr lang="en-US" sz="2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abgelehnt</a:t>
            </a: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8ECDB"/>
          </a:solidFill>
          <a:ln w="12700">
            <a:solidFill>
              <a:srgbClr val="B26A0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ABI-HINWEIS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„Alle nicht eingezeichneten Übergänge führen in einen Fehlerzustand.“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Diesen Satz brauchst du, wenn du den Fehlerzustand weglässt.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im AutomatenLab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108960" cy="42062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45920"/>
            <a:ext cx="2468880" cy="2468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42519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5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Akzeptor-Arena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023360" y="1325880"/>
            <a:ext cx="4389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machen gleich: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Akzeptor-Arena: Wörter blitzschnell entscheiden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Sprach-Detektiv: Welche Sprache erkennt ein unbekannter Automat?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715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automatenlab.frankjuchim.de/#/arena?automat=lol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Sprache beschreiben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78638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Kurze Wörter testen: ε, einzelne Zeichen, …</a:t>
            </a:r>
            <a:endParaRPr lang="en-US" sz="24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Muster vermuten</a:t>
            </a:r>
            <a:endParaRPr lang="en-US" sz="24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Mit Beispiel und Gegenbeispiel absichern</a:t>
            </a:r>
            <a:endParaRPr lang="en-US" sz="24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Antwortsatz: „Der Automat akzeptiert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die Wörter über Σ = {L, O, X}, in denen LOL vorkommt.“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ABI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Beschreiben Sie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die Sprache …“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Untersuchen Sie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welche Eingaben akzeptiert werden.“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Pausiere jetzt!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868680" cy="86868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45920" y="132588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Welche Wörter akzeptiert der LOL-Erkenner?</a:t>
            </a:r>
            <a:endParaRPr lang="en-US" sz="2500" dirty="0"/>
          </a:p>
        </p:txBody>
      </p:sp>
      <p:pic>
        <p:nvPicPr>
          <p:cNvPr id="6" name="Image 1" descr="/home/user/AutomatenLab/materials/build/img/video/l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393" y="2560320"/>
            <a:ext cx="5964334" cy="19202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4663440"/>
            <a:ext cx="7772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LOLO</a:t>
            </a:r>
            <a:endParaRPr lang="en-US" sz="23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LLOXL</a:t>
            </a:r>
            <a:endParaRPr lang="en-US" sz="23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OLOL</a:t>
            </a:r>
            <a:endParaRPr lang="en-US" sz="2300" dirty="0"/>
          </a:p>
        </p:txBody>
      </p:sp>
      <p:sp>
        <p:nvSpPr>
          <p:cNvPr id="8" name="Shape 4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8ECDB"/>
          </a:solidFill>
          <a:ln w="12700">
            <a:solidFill>
              <a:srgbClr val="B26A0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GEHT’S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anhalten,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Papier lösen,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 weiter: Die Auflösung kommt sofort.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Auflösung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8638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LOLO:</a:t>
            </a: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S0 –L→ S1 –O→ S2 –L→ S3 –O→ S3 ⇒ </a:t>
            </a:r>
            <a:r>
              <a:rPr lang="en-US" sz="2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akzeptiert</a:t>
            </a:r>
            <a:endParaRPr lang="en-US" sz="21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LLOXL:</a:t>
            </a: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S0 –L→ S1 –L→ S1 –O→ S2 –X→ S0 –L→ S1 ⇒ </a:t>
            </a:r>
            <a:r>
              <a:rPr lang="en-US" sz="2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abgelehnt</a:t>
            </a:r>
            <a:endParaRPr lang="en-US" sz="21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OLOL:</a:t>
            </a: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S0 –O→ S0 –L→ S1 –O→ S2 –L→ S3 ⇒ </a:t>
            </a:r>
            <a:r>
              <a:rPr lang="en-US" sz="2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akzeptiert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nimmst du mit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7772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DEA liest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Zeichen für Zeichen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 wechselt dabei den Zustand.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Zustand ist eine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Erinnerung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Akzeptiert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wenn er nach dem letzten Zeichen in einem Endzustand ist.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Fehlende Pfeile ⇒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Fehlerzustand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(Hinweis-Satz!).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4160520"/>
            <a:ext cx="3749040" cy="2194560"/>
          </a:xfrm>
          <a:prstGeom prst="roundRect">
            <a:avLst>
              <a:gd name="adj" fmla="val 5000"/>
            </a:avLst>
          </a:prstGeom>
          <a:solidFill>
            <a:srgbClr val="0A4A3F"/>
          </a:solidFill>
          <a:ln w="12700">
            <a:solidFill>
              <a:srgbClr val="3E8E7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43434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Nächstes</a:t>
            </a:r>
            <a:endParaRPr lang="en-US" sz="1500" dirty="0"/>
          </a:p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2: DEA entwickeln in 5 Schritten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63440" y="4160520"/>
            <a:ext cx="3749040" cy="2194560"/>
          </a:xfrm>
          <a:prstGeom prst="roundRect">
            <a:avLst>
              <a:gd name="adj" fmla="val 5000"/>
            </a:avLst>
          </a:prstGeom>
          <a:solidFill>
            <a:srgbClr val="0A4A3F"/>
          </a:solidFill>
          <a:ln w="12700">
            <a:solidFill>
              <a:srgbClr val="3E8E7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43434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Zum Nachlesen</a:t>
            </a:r>
            <a:endParaRPr lang="en-US" sz="1500" dirty="0"/>
          </a:p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Merkblatt M01 – Deterministische endliche Automaten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778240" y="502920"/>
            <a:ext cx="3200400" cy="379476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778240" y="640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 ÜBEN</a:t>
            </a:r>
            <a:endParaRPr lang="en-US" sz="1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1005840"/>
            <a:ext cx="2103120" cy="21031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915400" y="32004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Akzeptor-Arena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Stufe 1: Wörter entscheiden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aten LK">
  <a:themeElements>
    <a:clrScheme name="Automaten LK">
      <a:dk1>
        <a:srgbClr val="1F2A2E"/>
      </a:dk1>
      <a:lt1>
        <a:srgbClr val="FFFFFF"/>
      </a:lt1>
      <a:dk2>
        <a:srgbClr val="0E6455"/>
      </a:dk2>
      <a:lt2>
        <a:srgbClr val="E4F0EE"/>
      </a:lt2>
      <a:accent1>
        <a:srgbClr val="0E6455"/>
      </a:accent1>
      <a:accent2>
        <a:srgbClr val="B26A0F"/>
      </a:accent2>
      <a:accent3>
        <a:srgbClr val="3E8E7E"/>
      </a:accent3>
      <a:accent4>
        <a:srgbClr val="D9A45B"/>
      </a:accent4>
      <a:accent5>
        <a:srgbClr val="5B6770"/>
      </a:accent5>
      <a:accent6>
        <a:srgbClr val="A83232"/>
      </a:accent6>
      <a:hlink>
        <a:srgbClr val="0E6455"/>
      </a:hlink>
      <a:folHlink>
        <a:srgbClr val="0A4A3F"/>
      </a:folHlink>
    </a:clrScheme>
    <a:fontScheme name="Automaten 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 1 – Wie ein Automat ein Wort prüft</dc:title>
  <dc:subject>PptxGenJS Presentation</dc:subject>
  <dc:creator>Frank Juchim</dc:creator>
  <cp:lastModifiedBy>Frank Juchim</cp:lastModifiedBy>
  <cp:revision>1</cp:revision>
  <dcterms:created xsi:type="dcterms:W3CDTF">2026-10-14T16:08:33Z</dcterms:created>
  <dcterms:modified xsi:type="dcterms:W3CDTF">2026-10-14T16:08:33Z</dcterms:modified>
</cp:coreProperties>
</file>