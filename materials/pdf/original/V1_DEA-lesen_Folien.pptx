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Einstieg
„Passwortprüfung, Barcode-Scanner, Getränkeautomat – alle prüfen Eingaben Zeichen für Zeichen und merken sich dabei erstaunlich wenig.“
„In sechs Minuten kannst du jeden DEA lesen – und für jedes Wort sagen: akzeptiert oder nicht, und warum.“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[0:25–1:25] Bausteine eines DEA
Mauszeiger/Laserpointer: Start-Pfeil, Doppelkreis, ein Übergang zeigen.
„Jeder Zustand ist eine Erinnerung: S1 heißt ‚zuletzt habe ich ein L gesehen‘.“
Deterministisch: aus jedem Zustand für jedes Zeichen genau ein Pfeil.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[1:25–2:45] Ein Wort verarbeiten
Pro Folie ein Zeichen: „Ich lese X – aus S0 gibt es einen X-Pfeil zurück nach S0.“
„Nach dem letzten Zeichen bin ich in S3 – ein Endzustand – also akzeptiert.“
LOOL: „Das zweite O zerstört den Anfang – zurück nach S0.“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[2:45–3:35] Der Fehlerzustand
„20 + 10 + 20 wären 50 ct – aus S3 gibt es keinen 20-Pfeil.“
„Im Abi steht dann: Alle nicht eingezeichneten Übergänge führen in einen Fehlerzustand. Wenn du ihn weglässt, schreib diesen Satz dazu.“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[3:35–4:45] Live im AutomatenLab
Arena: „Ohne Zeitlimit üben“ anhaken, Runde starten, laut mitdenken.
Detektiv: b, ab, ba, abb testen → Vermutung „endet auf b“ → Antwort wählen.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[4:45–5:30] Die Sprache beschreiben
„Das Wort ‚genau‘ ist wichtig: alle diese Wörter – und keine anderen.“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[5:30–6:00] Jetzt du
„Halte das Video an und entscheide für jedes Wort – mit Zustandsfolge.“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[6:00–6:25] Zusammenfassung
Auf Merkblatt M01 und die Arena verweisen; Ausblick: selbst einen Automaten bauen.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1  ·  DEA lesen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1  ·  DEA lesen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1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ein Automat ein Wort prüft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entscheidet eine Maschine mit nur vier „Erinnerungen“, ob in einem Chat LOL vorkommt?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LOL-Erkenner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{L, O, X}</a:t>
            </a:r>
            <a:endParaRPr lang="en-US" sz="1900" dirty="0"/>
          </a:p>
        </p:txBody>
      </p:sp>
      <p:pic>
        <p:nvPicPr>
          <p:cNvPr id="4" name="Image 0" descr="/home/user/AutomatenLab/materials/build/img/video/l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51723"/>
            <a:ext cx="7863840" cy="25317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 alle Wörter, in denen LOL vorkommt.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Eingabealphabet</a:t>
            </a:r>
            <a:endParaRPr lang="en-US" sz="18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 … S3</a:t>
            </a:r>
            <a:endParaRPr lang="en-US" sz="18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Pfeil „Start“</a:t>
            </a:r>
            <a:endParaRPr lang="en-US" sz="18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Doppelkreis</a:t>
            </a:r>
            <a:endParaRPr lang="en-US" sz="1800" dirty="0"/>
          </a:p>
          <a:p>
            <a:pPr marL="279400" indent="-279400">
              <a:spcAft>
                <a:spcPts val="600"/>
              </a:spcAft>
              <a:buSzPct val="100000"/>
              <a:buChar char="▪"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Übergang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Pfeil mit Zeichen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Jeder Zustand ist eine Erinnerung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Automat weiß 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noch kein Anfang von LOL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zuletzt ein L gelesen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zuletzt LO gelesen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LOL kommt vor – das bleibt 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merkt sich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ganze Wort – nur das, was für die Entscheidung wichtig ist.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 lesen XLOL</a:t>
            </a:r>
            <a:endParaRPr lang="en-US" sz="3200" dirty="0"/>
          </a:p>
        </p:txBody>
      </p:sp>
      <p:pic>
        <p:nvPicPr>
          <p:cNvPr id="3" name="Image 0" descr="/home/user/AutomatenLab/materials/build/img/video/lol_xlol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4583"/>
            <a:ext cx="7863840" cy="253179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 S0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Zeichen 1: X</a:t>
            </a:r>
            <a:endParaRPr lang="en-US" sz="3200" dirty="0"/>
          </a:p>
        </p:txBody>
      </p:sp>
      <p:pic>
        <p:nvPicPr>
          <p:cNvPr id="3" name="Image 0" descr="/home/user/AutomatenLab/materials/build/img/video/lol_xlol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4583"/>
            <a:ext cx="7863840" cy="253179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B26A0F"/>
          </a:solidFill>
          <a:ln w="15240">
            <a:solidFill>
              <a:srgbClr val="B26A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Zeichen 2: L</a:t>
            </a:r>
            <a:endParaRPr lang="en-US" sz="3200" dirty="0"/>
          </a:p>
        </p:txBody>
      </p:sp>
      <p:pic>
        <p:nvPicPr>
          <p:cNvPr id="3" name="Image 0" descr="/home/user/AutomatenLab/materials/build/img/video/lol_xlol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4583"/>
            <a:ext cx="7863840" cy="253179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B26A0F"/>
          </a:solidFill>
          <a:ln w="15240">
            <a:solidFill>
              <a:srgbClr val="B26A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Zeichen 3: O</a:t>
            </a:r>
            <a:endParaRPr lang="en-US" sz="3200" dirty="0"/>
          </a:p>
        </p:txBody>
      </p:sp>
      <p:pic>
        <p:nvPicPr>
          <p:cNvPr id="3" name="Image 0" descr="/home/user/AutomatenLab/materials/build/img/video/lol_xlol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4583"/>
            <a:ext cx="7863840" cy="253179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B26A0F"/>
          </a:solidFill>
          <a:ln w="15240">
            <a:solidFill>
              <a:srgbClr val="B26A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Zeichen 4: L</a:t>
            </a:r>
            <a:endParaRPr lang="en-US" sz="3200" dirty="0"/>
          </a:p>
        </p:txBody>
      </p:sp>
      <p:pic>
        <p:nvPicPr>
          <p:cNvPr id="3" name="Image 0" descr="/home/user/AutomatenLab/materials/build/img/video/lol_xlol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4583"/>
            <a:ext cx="7863840" cy="253179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solidFill>
            <a:srgbClr val="B26A0F"/>
          </a:solidFill>
          <a:ln w="15240">
            <a:solidFill>
              <a:srgbClr val="B26A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1735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ist Endzustand ⇒ akzeptiert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Akzeptiert oder abgelehnt?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XLOL: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 –X→ S0 –L→ S1 –O→ S2 –L→ S3 ⇒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 S3 ein Endzustand ist.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LOOL: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 –L→ S1 –O→ S2 –O→ S0 –L→ S1 ⇒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 S1 kein Endzustand ist.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⇔ nach dem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letzten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Zeichen in einem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wenn ein Pfeil fehlt?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Kaffee 40 ct · Münzen 10 ct und 20 ct · nur passend</a:t>
            </a:r>
            <a:endParaRPr lang="en-US" sz="1900" dirty="0"/>
          </a:p>
        </p:txBody>
      </p:sp>
      <p:pic>
        <p:nvPicPr>
          <p:cNvPr id="4" name="Image 0" descr="/home/user/AutomatenLab/materials/build/img/video/ka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59067"/>
            <a:ext cx="7863840" cy="15912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53212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235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10 20:  S0 –20→ S2 –10→ S3 –20→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(kein Pfeil mit 20 aus S3)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KAFFEEAUTOMAT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… S4 = 0, 10, 20, 30, 40 ct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S4: genau 40 ct ⇒ Endzustand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Vollständig: mit Fehlerzustand</a:t>
            </a:r>
            <a:endParaRPr lang="en-US" sz="3200" dirty="0"/>
          </a:p>
        </p:txBody>
      </p:sp>
      <p:pic>
        <p:nvPicPr>
          <p:cNvPr id="3" name="Image 0" descr="/home/user/AutomatenLab/materials/build/img/video/kaffee_komple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1329"/>
            <a:ext cx="7863840" cy="165238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53212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6235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Pfeile führen in den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Fehlerzustand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dort bleibt der Automat ⇒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ABI-HINWEIS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„Alle nicht eingezeichneten Übergänge führen in einen Fehlerzustand.“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Diesen Satz brauchst du, wenn du den Fehlerzustand weglässt.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Akzeptor-Arena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Akzeptor-Arena: Wörter blitzschnell entscheiden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Sprach-Detektiv: Welche Sprache erkennt ein unbekannter Automat?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automatenlab.frankjuchim.de/#/arena?automat=lol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Sprache beschreiben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Kurze Wörter testen: ε, einzelne Zeichen, …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Muster vermuten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Beispiel und Gegenbeispiel absichern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Antwortsatz: „Der Automat akzeptiert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die Wörter über Σ = {L, O, X}, in denen LOL vorkommt.“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Beschreiben Sie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die Sprache …“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Untersuchen Sie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welche Eingaben akzeptiert werden.“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Wörter akzeptiert der LOL-Erkenner?</a:t>
            </a:r>
            <a:endParaRPr lang="en-US" sz="2500" dirty="0"/>
          </a:p>
        </p:txBody>
      </p:sp>
      <p:pic>
        <p:nvPicPr>
          <p:cNvPr id="6" name="Image 1" descr="/home/user/AutomatenLab/materials/build/img/video/l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393" y="2560320"/>
            <a:ext cx="5964334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663440"/>
            <a:ext cx="7772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LLOXL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OLOL</a:t>
            </a:r>
            <a:endParaRPr lang="en-US" sz="2300" dirty="0"/>
          </a:p>
        </p:txBody>
      </p:sp>
      <p:sp>
        <p:nvSpPr>
          <p:cNvPr id="8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LOLO: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 –L→ S1 –O→ S2 –L→ S3 –O→ S3 ⇒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LLOXL: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 –L→ S1 –L→ S1 –O→ S2 –X→ S0 –L→ S1 ⇒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OLOL: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 –O→ S0 –L→ S1 –O→ S2 –L→ S3 ⇒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liest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Zeichen für Zeichen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wechselt dabei den Zustand.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Zustand ist eine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Erinnerung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er nach dem letzten Zeichen in einem Endzustand ist.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Pfeile ⇒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Fehlerzustand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(Hinweis-Satz!).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2: DEA entwickeln in 5 Schritten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M01 – Deterministische endliche Automaten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Akzeptor-Arena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1: Wörter entscheiden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1 – Wie ein Automat ein Wort prüft</dc:title>
  <dc:subject>PptxGenJS Presentation</dc:subject>
  <dc:creator>Frank Juchim</dc:creator>
  <cp:lastModifiedBy>Frank Juchim</cp:lastModifiedBy>
  <cp:revision>1</cp:revision>
  <dcterms:created xsi:type="dcterms:W3CDTF">2026-10-14T12:22:24Z</dcterms:created>
  <dcterms:modified xsi:type="dcterms:W3CDTF">2026-10-14T12:22:24Z</dcterms:modified>
</cp:coreProperties>
</file>