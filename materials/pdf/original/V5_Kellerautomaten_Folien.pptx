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Einstieg
„Im letzten Video ist der DEA an aⁿbⁿ gescheitert. Heute bekommt er einen Stapel als Gedächtnis – in der Notation, die im Abi verlangt wird.“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[0:20–1:00] Der Keller
„Wie ein Tellerstapel: Du kommst nur an den obersten Teller.“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[1:00–2:10] Die Beschriftung
„Ein Übergang fragt zwei Dinge: Was liegt oben? Was lese ich?“
„Die Ablage A# wird von rechts abgelegt: erst #, dann A – also liegt A oben.“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[2:10–2:45] Der Kellerautomat für aⁿbⁿ
Graph einmal komplett vorlesen.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[2:45–3:45] Live: Simulator
Bei jedem Schritt: Übergang vorlesen, Keller kommentieren.
Kurz aab laden: „Wo bleibt er stehen?“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[3:45–5:00] Die Abi-Tabelle
„Erste Zeile: S0, nur #, noch nichts gelesen – Striche.“
„Spalte drei: das Zeichen, das der Übergang oben vorgefunden hat.“
„Der ε-Übergang bekommt eine eigene Zeile – mit ε als Eingabezeichen.“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[5:30–6:15] Jetzt du: aab
„Achte auf den Schluss: Warum genau wird aab abgelehnt?“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[6:15–6:40] Zusammenfassung
Ausblick: Grammatiken – die andere Seite der Sprachen.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B574A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5  ·  Kellerautomaten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F1F7F6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AKZENT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5  ·  Kellerautomaten  ·  automatenlab.frankjuchim.de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E4EEEC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9FC3BC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_DUNKEL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572000"/>
            <a:ext cx="3200400" cy="2057400"/>
          </a:xfrm>
          <a:prstGeom prst="rect">
            <a:avLst/>
          </a:prstGeom>
          <a:solidFill>
            <a:srgbClr val="083D34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0" y="45720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978640" y="457200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7824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782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658600" y="6629400"/>
            <a:ext cx="320040" cy="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78640" y="6309360"/>
            <a:ext cx="0" cy="320040"/>
          </a:xfrm>
          <a:prstGeom prst="line">
            <a:avLst/>
          </a:prstGeom>
          <a:noFill/>
          <a:ln w="31750">
            <a:solidFill>
              <a:srgbClr val="F3D9B5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Erklärvideo 5  ·  Maschinen, die Sprache verstehen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Kellerautomaten: Notation und Abi-Tabelle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7772400" cy="1463040"/>
          </a:xfrm>
          <a:prstGeom prst="roundRect">
            <a:avLst>
              <a:gd name="adj" fmla="val 75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114800"/>
            <a:ext cx="7315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Leitfrage</a:t>
            </a:r>
            <a:endParaRPr lang="en-US" sz="1500" dirty="0"/>
          </a:p>
          <a:p>
            <a:pPr indent="0" marL="0">
              <a:buNone/>
            </a:pP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erkennt eine Maschine a</a:t>
            </a:r>
            <a:r>
              <a:rPr lang="en-US" sz="2300" i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r>
              <a:rPr lang="en-US" sz="2300" i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– und wie dokumentiere ich das im Abi?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automatenlab.frankjuchim.de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561320" y="91440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61320" y="9144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857232" y="2331720"/>
            <a:ext cx="960120" cy="96012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48672" y="2423160"/>
            <a:ext cx="777240" cy="77724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57232" y="2331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10122408" y="1389888"/>
            <a:ext cx="420624" cy="0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652760" y="1874520"/>
            <a:ext cx="256032" cy="47548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Stapel als Gedächtnis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Kellerspeicher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Zugriff nur auf das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oberste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Zeichen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liegt am Anfang im Keller (Vorbelegung)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Kelleralphabet, z. B. Γ = {#, A}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Schritt: oberstes Zeichen entfernen und eine Zeichenkette ablegen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9966960" y="2331720"/>
            <a:ext cx="822960" cy="548640"/>
          </a:xfrm>
          <a:prstGeom prst="rect">
            <a:avLst/>
          </a:prstGeom>
          <a:solidFill>
            <a:srgbClr val="B26A0F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696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966960" y="2880360"/>
            <a:ext cx="822960" cy="548640"/>
          </a:xfrm>
          <a:prstGeom prst="rect">
            <a:avLst/>
          </a:prstGeom>
          <a:solidFill>
            <a:srgbClr val="F6E7CF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966960" y="28803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9966960" y="3429000"/>
            <a:ext cx="822960" cy="548640"/>
          </a:xfrm>
          <a:prstGeom prst="rect">
            <a:avLst/>
          </a:prstGeom>
          <a:solidFill>
            <a:srgbClr val="D7E4E1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0" y="3429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0881360" y="2377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oben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(oberstes Kellerzeichen, Eingabe) : Ablage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(#, a) : A#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# entfernen, A# ablegen ⇒ A liegt oben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(A, a) : AA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ein weiteres A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(A, b) : ε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A entfernen, nichts ablegen</a:t>
            </a:r>
            <a:endParaRPr lang="en-US" sz="22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(#, ε) : #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ohne ein Zeichen zu lesen (ε-Übergang)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ABLAGEREGEL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Ablage wird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rechts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abgelegt.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Zeichen liegt danach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oben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Vorher – nachher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21792" y="1371600"/>
            <a:ext cx="2474976" cy="4114800"/>
          </a:xfrm>
          <a:prstGeom prst="roundRect">
            <a:avLst>
              <a:gd name="adj" fmla="val 3695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0876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(#, a) : A#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703320"/>
            <a:ext cx="685800" cy="502920"/>
          </a:xfrm>
          <a:prstGeom prst="rect">
            <a:avLst/>
          </a:prstGeom>
          <a:solidFill>
            <a:srgbClr val="D7E4E1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70332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2793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645920" y="3429000"/>
            <a:ext cx="411480" cy="0"/>
          </a:xfrm>
          <a:prstGeom prst="line">
            <a:avLst/>
          </a:prstGeom>
          <a:noFill/>
          <a:ln w="31750">
            <a:solidFill>
              <a:srgbClr val="B26A0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48840" y="3200400"/>
            <a:ext cx="685800" cy="502920"/>
          </a:xfrm>
          <a:prstGeom prst="rect">
            <a:avLst/>
          </a:prstGeom>
          <a:solidFill>
            <a:srgbClr val="F6E7CF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48840" y="320040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148840" y="3703320"/>
            <a:ext cx="685800" cy="502920"/>
          </a:xfrm>
          <a:prstGeom prst="rect">
            <a:avLst/>
          </a:prstGeom>
          <a:solidFill>
            <a:srgbClr val="D7E4E1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48840" y="370332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2793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nachher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892040"/>
            <a:ext cx="243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Oben liegt A.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3243072" y="1371600"/>
            <a:ext cx="2474976" cy="4114800"/>
          </a:xfrm>
          <a:prstGeom prst="roundRect">
            <a:avLst>
              <a:gd name="adj" fmla="val 3695"/>
            </a:avLst>
          </a:prstGeom>
          <a:solidFill>
            <a:srgbClr val="FFFFFF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61360" y="150876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a) : AA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489960" y="3200400"/>
            <a:ext cx="685800" cy="502920"/>
          </a:xfrm>
          <a:prstGeom prst="rect">
            <a:avLst/>
          </a:prstGeom>
          <a:solidFill>
            <a:srgbClr val="B26A0F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89960" y="320040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489960" y="3703320"/>
            <a:ext cx="685800" cy="502920"/>
          </a:xfrm>
          <a:prstGeom prst="rect">
            <a:avLst/>
          </a:prstGeom>
          <a:solidFill>
            <a:srgbClr val="D7E4E1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89960" y="370332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2941320" y="42793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267200" y="3429000"/>
            <a:ext cx="411480" cy="0"/>
          </a:xfrm>
          <a:prstGeom prst="line">
            <a:avLst/>
          </a:prstGeom>
          <a:noFill/>
          <a:ln w="31750">
            <a:solidFill>
              <a:srgbClr val="B26A0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770120" y="2697480"/>
            <a:ext cx="685800" cy="502920"/>
          </a:xfrm>
          <a:prstGeom prst="rect">
            <a:avLst/>
          </a:prstGeom>
          <a:solidFill>
            <a:srgbClr val="F6E7CF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70120" y="269748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770120" y="3200400"/>
            <a:ext cx="685800" cy="502920"/>
          </a:xfrm>
          <a:prstGeom prst="rect">
            <a:avLst/>
          </a:prstGeom>
          <a:solidFill>
            <a:srgbClr val="F6E7CF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70120" y="320040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4770120" y="3703320"/>
            <a:ext cx="685800" cy="502920"/>
          </a:xfrm>
          <a:prstGeom prst="rect">
            <a:avLst/>
          </a:prstGeom>
          <a:solidFill>
            <a:srgbClr val="D7E4E1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70120" y="370332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4221480" y="42793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nachher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261360" y="4892040"/>
            <a:ext cx="243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A mehr.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5864352" y="1371600"/>
            <a:ext cx="2474976" cy="4114800"/>
          </a:xfrm>
          <a:prstGeom prst="roundRect">
            <a:avLst>
              <a:gd name="adj" fmla="val 3695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82640" y="150876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b) : ε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6111240" y="2697480"/>
            <a:ext cx="685800" cy="502920"/>
          </a:xfrm>
          <a:prstGeom prst="rect">
            <a:avLst/>
          </a:prstGeom>
          <a:solidFill>
            <a:srgbClr val="B26A0F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11240" y="269748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6111240" y="3200400"/>
            <a:ext cx="685800" cy="502920"/>
          </a:xfrm>
          <a:prstGeom prst="rect">
            <a:avLst/>
          </a:prstGeom>
          <a:solidFill>
            <a:srgbClr val="F6E7CF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11240" y="320040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6111240" y="3703320"/>
            <a:ext cx="685800" cy="502920"/>
          </a:xfrm>
          <a:prstGeom prst="rect">
            <a:avLst/>
          </a:prstGeom>
          <a:solidFill>
            <a:srgbClr val="D7E4E1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111240" y="370332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5562600" y="42793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6888480" y="3429000"/>
            <a:ext cx="411480" cy="0"/>
          </a:xfrm>
          <a:prstGeom prst="line">
            <a:avLst/>
          </a:prstGeom>
          <a:noFill/>
          <a:ln w="31750">
            <a:solidFill>
              <a:srgbClr val="B26A0F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391400" y="3200400"/>
            <a:ext cx="685800" cy="502920"/>
          </a:xfrm>
          <a:prstGeom prst="rect">
            <a:avLst/>
          </a:prstGeom>
          <a:solidFill>
            <a:srgbClr val="F6E7CF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91400" y="320040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200" dirty="0"/>
          </a:p>
        </p:txBody>
      </p:sp>
      <p:sp>
        <p:nvSpPr>
          <p:cNvPr id="43" name="Shape 41"/>
          <p:cNvSpPr/>
          <p:nvPr/>
        </p:nvSpPr>
        <p:spPr>
          <a:xfrm>
            <a:off x="7391400" y="3703320"/>
            <a:ext cx="685800" cy="502920"/>
          </a:xfrm>
          <a:prstGeom prst="rect">
            <a:avLst/>
          </a:prstGeom>
          <a:solidFill>
            <a:srgbClr val="D7E4E1"/>
          </a:solidFill>
          <a:ln w="15240">
            <a:solidFill>
              <a:srgbClr val="0A4A3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391400" y="3703320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6842760" y="42793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nachher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882640" y="4892040"/>
            <a:ext cx="243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A weniger.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Kellerautomat für aⁿbⁿ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{a, b}  ·  Γ = {#, A}  ·  Startzustand S0  ·  Endzustand S2</a:t>
            </a:r>
            <a:endParaRPr lang="en-US" sz="1900" dirty="0"/>
          </a:p>
        </p:txBody>
      </p:sp>
      <p:pic>
        <p:nvPicPr>
          <p:cNvPr id="4" name="Image 0" descr="/home/user/AutomatenLab/materials/build/img/video/anbn_p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15015"/>
            <a:ext cx="7863840" cy="18052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436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ein A ablegen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</a:t>
            </a:r>
            <a:r>
              <a:rPr lang="en-US" sz="19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ein A entfernen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noch # ⇒ S2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im AutomatenLab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108960" cy="420624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251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Keller-Labor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023360" y="1325880"/>
            <a:ext cx="4389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6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machen gleich: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aabb Schritt für Schritt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 beobachten: A rauf, A runter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passiert bei aab?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automatenlab.frankjuchim.de/#/keller?automat=anbn&amp;modus=sim&amp;wort=aabb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Abi-Tabelle: aabb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201168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Kellerspeicher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oberstes Kellersymbol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verarbeitetes Eingabezeichen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S0 | # | – | –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Oberstes Zeichen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ε-Übergang = eigene Zeile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Abi-Tabelle: aabb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201168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Kellerspeicher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oberstes Kellersymbol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verarbeitetes Eingabezeichen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C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akzeptiert: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Eingabe vollständig gelesen und Endzustand S2 erreicht.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S0 | # | – | –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Oberstes Zeichen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ε-Übergang = eigene Zeile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Pausiere jetzt!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68680" cy="86868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3258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Wird </a:t>
            </a: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aab</a:t>
            </a:r>
            <a:r>
              <a:rPr lang="en-US" sz="25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akzeptiert? Erstelle die Tabelle.</a:t>
            </a:r>
            <a:endParaRPr lang="en-US" sz="2500" dirty="0"/>
          </a:p>
        </p:txBody>
      </p:sp>
      <p:pic>
        <p:nvPicPr>
          <p:cNvPr id="6" name="Image 1" descr="/home/user/AutomatenLab/materials/build/img/video/anbn_p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72115"/>
            <a:ext cx="7863840" cy="180521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4572000"/>
            <a:ext cx="77724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Spalten: Zustand | Belegung Kellerspeicher | oberstes Kellersymbol | verarbeitetes Eingabezeichen</a:t>
            </a:r>
            <a:endParaRPr lang="en-US" sz="2300" dirty="0"/>
          </a:p>
        </p:txBody>
      </p:sp>
      <p:sp>
        <p:nvSpPr>
          <p:cNvPr id="8" name="Shape 4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GEHT’S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anhalten,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Papier lösen,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weiter: Die Auflösung kommt sofort.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Auflösung: aab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331720"/>
                <a:gridCol w="201168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Belegung Kellerspeicher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oberstes Kellersymbol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verarbeitetes Eingabezeichen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023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akzeptiert: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die Eingabe ist gelesen, aber S1 ist kein Endzustand und für (A, ε) gibt es keinen Übergang.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8778240" y="1325880"/>
            <a:ext cx="3200400" cy="2971800"/>
          </a:xfrm>
          <a:prstGeom prst="roundRect">
            <a:avLst>
              <a:gd name="adj" fmla="val 3077"/>
            </a:avLst>
          </a:prstGeom>
          <a:solidFill>
            <a:srgbClr val="F8ECDB"/>
          </a:solidFill>
          <a:ln w="12700">
            <a:solidFill>
              <a:srgbClr val="B26A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79408" y="1490472"/>
            <a:ext cx="2798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ACHTUNG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979408" y="1901952"/>
            <a:ext cx="27980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Akzeptanz über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nach vollständiger Eingabe.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Nicht: „Keller leer“.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nimmst du mit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772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Übergang: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(oberstes Kellerzeichen, Eingabe) : Ablage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Ablage von rechts: das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Zeichen liegt oben.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Zustand | Belegung | oberstes Kellersymbol | Eingabezeichen.</a:t>
            </a:r>
            <a:endParaRPr lang="en-US" sz="2200" dirty="0"/>
          </a:p>
          <a:p>
            <a:pPr marL="279400" indent="-2794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Eingabe ganz gelesen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Endzustand.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Nächstes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6: Grammatiken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4160520"/>
            <a:ext cx="3749040" cy="2194560"/>
          </a:xfrm>
          <a:prstGeom prst="roundRect">
            <a:avLst>
              <a:gd name="adj" fmla="val 5000"/>
            </a:avLst>
          </a:prstGeom>
          <a:solidFill>
            <a:srgbClr val="0A4A3F"/>
          </a:solidFill>
          <a:ln w="12700">
            <a:solidFill>
              <a:srgbClr val="3E8E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43434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Nachlesen</a:t>
            </a:r>
            <a:endParaRPr lang="en-US" sz="15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Merkblatt M07 – Kellerautomaten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78240" y="502920"/>
            <a:ext cx="3200400" cy="379476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78240" y="640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WEITER ÜBEN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1005840"/>
            <a:ext cx="2103120" cy="2103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915400" y="32004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Keller-Labor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Tabellen-Trainer: Klammern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Video 5 – Kellerautomaten: Notation und Abi-Tabelle</dc:title>
  <dc:subject>PptxGenJS Presentation</dc:subject>
  <dc:creator>Frank Juchim</dc:creator>
  <cp:lastModifiedBy>Frank Juchim</cp:lastModifiedBy>
  <cp:revision>1</cp:revision>
  <dcterms:created xsi:type="dcterms:W3CDTF">2026-10-14T12:22:25Z</dcterms:created>
  <dcterms:modified xsi:type="dcterms:W3CDTF">2026-10-14T12:22:25Z</dcterms:modified>
</cp:coreProperties>
</file>