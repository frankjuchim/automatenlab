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„Im letzten Video ist der DEA an aⁿbⁿ gescheitert. Heute bekommt er einen Stapel als Gedächtnis – in der Notation, die im Abi verlangt wird.“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[0:20–1:00] Der Keller
„Wie ein Tellerstapel: Du kommst nur an den obersten Teller.“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[1:00–2:10] Die Beschriftung
„Ein Übergang fragt zwei Dinge: Was liegt oben? Was lese ich?“
„Die Ablage A# wird von rechts abgelegt: erst #, dann A – also liegt A oben.“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[2:10–2:45] Der Kellerautomat für aⁿbⁿ
Graph einmal komplett vorlesen.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[2:45–3:45] Live: Simulator
Bei jedem Schritt: Übergang vorlesen, Keller kommentieren.
Kurz aab laden: „Wo bleibt er stehen?“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[3:45–5:00] Die Abi-Tabelle
„Erste Zeile: S0, nur #, noch nichts gelesen – Striche.“
„Spalte drei: das Zeichen, das der Übergang oben vorgefunden hat.“
„Der ε-Übergang bekommt eine eigene Zeile – mit ε als Eingabezeichen.“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[5:30–6:15] Jetzt du: aab
„Achte auf den Schluss: Warum genau wird aab abgelehnt?“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[6:15–6:40] Zusammenfassung
Ausblick: Grammatiken – die andere Seite der Sprachen.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5  ·  Kellerautomaten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5  ·  Kellerautomaten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5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Kellerautomaten: Notation und Abi-Tabelle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erkennt eine Maschine a</a:t>
            </a:r>
            <a:r>
              <a:rPr lang="en-US" sz="2300" i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300" i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und wie dokumentiere ich das im Abi?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Stapel als Gedächtnis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Kellerspeicher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Zugriff nur auf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liegt am Anfang im Keller (Vorbelegung)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Kelleralphabet, z. B. Γ = {#, A}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Schritt: oberstes Zeichen entfernen und eine Zeichenkette ablegen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966960" y="2331720"/>
            <a:ext cx="822960" cy="548640"/>
          </a:xfrm>
          <a:prstGeom prst="rect">
            <a:avLst/>
          </a:prstGeom>
          <a:solidFill>
            <a:srgbClr val="B26A0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696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966960" y="2880360"/>
            <a:ext cx="822960" cy="54864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66960" y="2880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966960" y="3429000"/>
            <a:ext cx="822960" cy="54864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oben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(oberstes Kellerzeichen, Eingabe) : Ablage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a) : A#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# entfernen, A# ablegen ⇒ A liegt oben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a) : AA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ein weiteres A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b) : ε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 entfernen, nichts ablegen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ε) : #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ohne ein Zeichen zu lesen (ε-Übergang)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ABLAGEREGEL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Ablage wird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rechts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abgelegt.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liegt danach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Vorher – nachher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21792" y="1371600"/>
            <a:ext cx="2474976" cy="4114800"/>
          </a:xfrm>
          <a:prstGeom prst="roundRect">
            <a:avLst>
              <a:gd name="adj" fmla="val 3695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(#, a) : A#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45920" y="3429000"/>
            <a:ext cx="411480" cy="0"/>
          </a:xfrm>
          <a:prstGeom prst="line">
            <a:avLst/>
          </a:prstGeom>
          <a:noFill/>
          <a:ln w="31750">
            <a:solidFill>
              <a:srgbClr val="B26A0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320040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4884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9204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 liegt A.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243072" y="1371600"/>
            <a:ext cx="2474976" cy="4114800"/>
          </a:xfrm>
          <a:prstGeom prst="roundRect">
            <a:avLst>
              <a:gd name="adj" fmla="val 3695"/>
            </a:avLst>
          </a:prstGeom>
          <a:solidFill>
            <a:srgbClr val="FFFFFF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61360" y="15087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a) : AA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489960" y="3200400"/>
            <a:ext cx="685800" cy="502920"/>
          </a:xfrm>
          <a:prstGeom prst="rect">
            <a:avLst/>
          </a:prstGeom>
          <a:solidFill>
            <a:srgbClr val="B26A0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8996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48996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8996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94132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67200" y="3429000"/>
            <a:ext cx="411480" cy="0"/>
          </a:xfrm>
          <a:prstGeom prst="line">
            <a:avLst/>
          </a:prstGeom>
          <a:noFill/>
          <a:ln w="31750">
            <a:solidFill>
              <a:srgbClr val="B26A0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70120" y="269748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0120" y="2697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770120" y="320040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7012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77012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012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422148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261360" y="489204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 mehr.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5864352" y="1371600"/>
            <a:ext cx="2474976" cy="4114800"/>
          </a:xfrm>
          <a:prstGeom prst="roundRect">
            <a:avLst>
              <a:gd name="adj" fmla="val 3695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82640" y="15087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: ε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111240" y="2697480"/>
            <a:ext cx="685800" cy="502920"/>
          </a:xfrm>
          <a:prstGeom prst="rect">
            <a:avLst/>
          </a:prstGeom>
          <a:solidFill>
            <a:srgbClr val="B26A0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11240" y="2697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111240" y="320040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1124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11124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1124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556260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88480" y="3429000"/>
            <a:ext cx="411480" cy="0"/>
          </a:xfrm>
          <a:prstGeom prst="line">
            <a:avLst/>
          </a:prstGeom>
          <a:noFill/>
          <a:ln w="31750">
            <a:solidFill>
              <a:srgbClr val="B26A0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391400" y="3200400"/>
            <a:ext cx="685800" cy="502920"/>
          </a:xfrm>
          <a:prstGeom prst="rect">
            <a:avLst/>
          </a:prstGeom>
          <a:solidFill>
            <a:srgbClr val="F6E7CF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91400" y="3200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7391400" y="3703320"/>
            <a:ext cx="685800" cy="502920"/>
          </a:xfrm>
          <a:prstGeom prst="rect">
            <a:avLst/>
          </a:prstGeom>
          <a:solidFill>
            <a:srgbClr val="D7E4E1"/>
          </a:solidFill>
          <a:ln w="15240">
            <a:solidFill>
              <a:srgbClr val="0A4A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91400" y="37033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6842760" y="4279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882640" y="4892040"/>
            <a:ext cx="243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 weniger.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Kellerautomat für aⁿbⁿ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 ·  Γ = {#, A}  ·  Startzustand S0  ·  Endzustand S2</a:t>
            </a:r>
            <a:endParaRPr lang="en-US" sz="1900" dirty="0"/>
          </a:p>
        </p:txBody>
      </p:sp>
      <p:pic>
        <p:nvPicPr>
          <p:cNvPr id="4" name="Image 0" descr="/home/user/AutomatenLab/materials/build/img/video/anbn_p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15015"/>
            <a:ext cx="7863840" cy="18052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A ablegen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A entfernen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noch # ⇒ S2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Schritt für Schritt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 beobachten: A rauf, A runter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 bei aab?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automatenlab.frankjuchim.de/#/keller?automat=anbn&amp;modus=sim&amp;wort=aabb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Abi-Tabelle: aabb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 | # | – | –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Oberstes Zeichen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ε-Übergang = eigene Zeile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Abi-Tabelle: aabb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Eingabe vollständig gelesen und Endzustand S2 erreicht.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 | # | – | –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Oberstes Zeichen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ε-Übergang = eigene Zeile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Wird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aab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akzeptiert? Erstelle die Tabelle.</a:t>
            </a:r>
            <a:endParaRPr lang="en-US" sz="2500" dirty="0"/>
          </a:p>
        </p:txBody>
      </p:sp>
      <p:pic>
        <p:nvPicPr>
          <p:cNvPr id="6" name="Image 1" descr="/home/user/AutomatenLab/materials/build/img/video/anbn_p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72115"/>
            <a:ext cx="7863840" cy="180521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572000"/>
            <a:ext cx="7772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Spalten: Zustand | Belegung Kellerspeicher | oberstes Kellersymbol | verarbeitetes Eingabezeichen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Auflösung: aab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Eingabe ist gelesen, aber S1 ist kein Endzustand und für (A, ε) gibt es keinen Übergang.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 über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nach vollständiger Eingabe.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Nicht: „Keller leer“.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Übergang: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(oberstes Kellerzeichen, Eingabe) : Ablage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Ablage von rechts: das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liegt oben.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Tabelle: Zustand | Belegung | oberstes Kellersymbol | Eingabezeichen.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Eingabe ganz gelesen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Endzustand.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6: Grammatiken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M07 – Kellerautomaten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Tabellen-Trainer: Klammern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5 – Kellerautomaten: Notation und Abi-Tabelle</dc:title>
  <dc:subject>PptxGenJS Presentation</dc:subject>
  <dc:creator>Frank Juchim</dc:creator>
  <cp:lastModifiedBy>Frank Juchim</cp:lastModifiedBy>
  <cp:revision>1</cp:revision>
  <dcterms:created xsi:type="dcterms:W3CDTF">2026-10-14T16:08:34Z</dcterms:created>
  <dcterms:modified xsi:type="dcterms:W3CDTF">2026-10-14T16:08:34Z</dcterms:modified>
</cp:coreProperties>
</file>