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[0:00–0:20] Einstieg
„Einen Automaten lesen ist das eine – einen selbst bauen das andere. Mit fünf Schritten klappt es fast immer.“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[0:20–0:50] Der Auftrag
Beispiele vorlesen; „ε gehört nicht dazu – das leere Wort endet nicht auf ab.“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[0:50–1:40] Schritt 1 und 2: Erinnerungen
„Muss ich mir das ganze Wort merken? Nein – nur, wie viel von ab gerade am Ende steht.“
Bedeutung jedes Zustands laut formulieren.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[1:40–2:50] Schritt 3 und 4: Übergänge, Start und Ende
Systematisch fragen: „Ich bin in S1, also zuletzt a. Jetzt kommt noch ein a – was weiß ich dann? Zuletzt a! Also bleibe ich in S1.“
„Aus S2 mit a: wieder ein möglicher Anfang → S1.“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[2:50–3:35] Schritt 5: Testen
„Viele schicken jedes unpassende Zeichen zurück nach S0. Testen wir aab …“
„Überlappungen sind die besten Testwörter.“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[3:35–4:50] Live im Baukasten
Zustände anlegen und Bedeutung sagen, Übergangstabelle füllen, Start/Endzustand setzen.
Bewusst erst den Fehler einbauen, mit aab testen, korrigieren.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[4:50–5:30] Bausteine für typische Sprachen
„Fast jede Abi-Sprache setzt sich aus diesen Bausteinen zusammen.“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[5:30–6:00] Jetzt du
„Welche Erinnerungen brauchst du? Tipp: Es sind wieder drei.“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[6:00–6:25] Zusammenfassung
Auf Baukasten Stufe 1 verweisen.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0B574A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2  ·  DEA entwickeln  ·  automatenlab.frankjuchim.de  ·  CC BY-SA 4.0 Frank Juchim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F1F7F6"/>
          </a:solidFill>
          <a:ln/>
        </p:spPr>
      </p:sp>
      <p:sp>
        <p:nvSpPr>
          <p:cNvPr id="5" name="Shape 2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AKZENT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2  ·  DEA entwickeln  ·  automatenlab.frankjuchim.de  ·  CC BY-SA 4.0 Frank Juchim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E4EEEC"/>
          </a:solidFill>
          <a:ln/>
        </p:spPr>
      </p:sp>
      <p:sp>
        <p:nvSpPr>
          <p:cNvPr id="5" name="Shape 2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DUNKEL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083D34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Erklärvideo 2  ·  Maschinen, die Sprache verstehen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7863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 entwickeln in 5 Schritten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640080" y="3977640"/>
            <a:ext cx="7772400" cy="1463040"/>
          </a:xfrm>
          <a:prstGeom prst="roundRect">
            <a:avLst>
              <a:gd name="adj" fmla="val 75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4114800"/>
            <a:ext cx="7315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Leitfrage</a:t>
            </a:r>
            <a:endParaRPr lang="en-US" sz="1500" dirty="0"/>
          </a:p>
          <a:p>
            <a:pPr indent="0" marL="0">
              <a:buNone/>
            </a:pPr>
            <a:r>
              <a:rPr lang="en-US" sz="2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baue ich einen Automaten, der genau die richtigen Wörter akzeptiert – und keinen Fall übersieht?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FD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automatenlab.frankjuchim.de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0" y="9144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10561320" y="91440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9144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9857232" y="233172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948672" y="2423160"/>
            <a:ext cx="777240" cy="77724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57232" y="2331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10122408" y="1389888"/>
            <a:ext cx="420624" cy="0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652760" y="1874520"/>
            <a:ext cx="256032" cy="47548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Auftrag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8638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Entwickle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einen DEA über Σ = {a, b}, der genau die Wörter akzeptiert, die auf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enden.</a:t>
            </a:r>
            <a:endParaRPr lang="en-US" sz="24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gehören dazu: ab, aab, bab, abab</a:t>
            </a:r>
            <a:endParaRPr lang="en-US" sz="24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gehören nicht dazu: ε, ba, abb, aba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REZEPT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Erinnerungen sammeln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Zustände festlegen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Übergänge eintragen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Start und Ende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Testen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Schritt 1 + 2: Was muss sich der Automat merken?</a:t>
            </a:r>
            <a:endParaRPr lang="en-US" sz="3200" dirty="0"/>
          </a:p>
        </p:txBody>
      </p:sp>
      <p:pic>
        <p:nvPicPr>
          <p:cNvPr id="3" name="Image 0" descr="/home/user/AutomatenLab/materials/build/img/video/eab_schritt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9795"/>
            <a:ext cx="7863840" cy="32412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532120"/>
            <a:ext cx="7863840" cy="822960"/>
          </a:xfrm>
          <a:prstGeom prst="roundRect">
            <a:avLst>
              <a:gd name="adj" fmla="val 1111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5623560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</a:t>
            </a: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kein passender Anfang   ·   </a:t>
            </a:r>
            <a:r>
              <a:rPr lang="en-US" sz="2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zuletzt a   ·   </a:t>
            </a:r>
            <a:r>
              <a:rPr lang="en-US" sz="2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zuletzt ab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LEITFRAGE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muss ich über das bisher Gelesene wissen?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wenig wie möglich!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Schritt 3: zuerst der Hauptweg</a:t>
            </a:r>
            <a:endParaRPr lang="en-US" sz="3200" dirty="0"/>
          </a:p>
        </p:txBody>
      </p:sp>
      <p:pic>
        <p:nvPicPr>
          <p:cNvPr id="3" name="Image 0" descr="/home/user/AutomatenLab/materials/build/img/video/eab_schritt3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19855"/>
            <a:ext cx="7863840" cy="32412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HAUPTWEG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–a→ S1: jetzt „zuletzt a“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–b→ S2: jetzt „zuletzt ab“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Schritt 3: jeder Zustand, jedes Zeichen</a:t>
            </a:r>
            <a:endParaRPr lang="en-US" sz="3200" dirty="0"/>
          </a:p>
        </p:txBody>
      </p:sp>
      <p:pic>
        <p:nvPicPr>
          <p:cNvPr id="3" name="Image 0" descr="/home/user/AutomatenLab/materials/build/img/video/eab_komple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9795"/>
            <a:ext cx="7863840" cy="32412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532120"/>
            <a:ext cx="7863840" cy="822960"/>
          </a:xfrm>
          <a:prstGeom prst="roundRect">
            <a:avLst>
              <a:gd name="adj" fmla="val 1111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5623560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4:</a:t>
            </a: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Start = „noch nichts gelesen“ = S0   ·   Endzustand = „zuletzt ab“ = S2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JEDEN PFEIL FRAGEN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–b→ S0: b ist kein Anfang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–a→ </a:t>
            </a: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das neue a ist wieder ein Anfang!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–a→ S1,  S2 –b→ S0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Schritt 5: Testen – der häufigste Fehler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A832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Falsch: Neuanfang vergessen</a:t>
            </a:r>
            <a:endParaRPr lang="en-US" sz="2100" dirty="0"/>
          </a:p>
        </p:txBody>
      </p:sp>
      <p:pic>
        <p:nvPicPr>
          <p:cNvPr id="4" name="Image 0" descr="/home/user/AutomatenLab/materials/build/img/video/eab_fals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92239" y="1325880"/>
            <a:ext cx="4594163" cy="1874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19456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aab: S0 –a→ S1 –a→ S0 –b→ S0 ⇒ </a:t>
            </a: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abgelehnt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✗</a:t>
            </a:r>
            <a:endParaRPr lang="en-US" sz="1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8404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E6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Richtig</a:t>
            </a:r>
            <a:endParaRPr lang="en-US" sz="2100" dirty="0"/>
          </a:p>
        </p:txBody>
      </p:sp>
      <p:pic>
        <p:nvPicPr>
          <p:cNvPr id="7" name="Image 1" descr="/home/user/AutomatenLab/materials/build/img/video/eab_komplet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5364" y="3840480"/>
            <a:ext cx="4547913" cy="1874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470916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aab: S0 –a→ S1 –a→ S1 –b→ S2 ⇒ </a:t>
            </a: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✓</a:t>
            </a:r>
            <a:endParaRPr lang="en-US" sz="1900" dirty="0"/>
          </a:p>
        </p:txBody>
      </p:sp>
      <p:sp>
        <p:nvSpPr>
          <p:cNvPr id="9" name="Shape 5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8ECDB"/>
          </a:solidFill>
          <a:ln w="12700">
            <a:solidFill>
              <a:srgbClr val="B26A0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TESTWÖRTER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und einzelne Zeichen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 + Gegenbeispiel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Überlappungen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aab, abab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im AutomatenLab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108960" cy="420624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45920"/>
            <a:ext cx="2468880" cy="24688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25196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Automaten-Baukasten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023360" y="1325880"/>
            <a:ext cx="43891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machen gleich: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Zustände anlegen – Bedeutung nennen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Übergangstabelle ausfüllen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Start- und Endzustand setzen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Testen – auch mit aab!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715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automatenlab.frankjuchim.de/#/baukasten?aufgabe=endet-ab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Bausteine für typische Sprachen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8638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Baustein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 Automat merkt sich 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Beispiel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Präfix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wie viel vom Anfang passt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beginnt mit ab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Teilwort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wie viel vom Muster passt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enthält ab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Endung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wie viel vom Muster am Ende steht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endet auf ab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Zählen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die Anzahl bis 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genau zwei 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modulo 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 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Anzahl a durch 3 teilbar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Kombination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 Paar von Erinnerungen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gerade Anzahl a und endet auf 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MERKBLATT M02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Bausteine mit Graph und Beispiel.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Pausiere jetzt!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868680" cy="86868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544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45920" y="132588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Entwickle einen DEA über Σ = {a, b} für alle Wörter, die </a:t>
            </a:r>
            <a:r>
              <a:rPr lang="en-US" sz="25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bb</a:t>
            </a:r>
            <a:r>
              <a:rPr lang="en-US" sz="25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enthalten.</a:t>
            </a:r>
            <a:endParaRPr lang="en-US" sz="25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560320"/>
            <a:ext cx="77724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Welche Erinnerungen braucht der Automat?</a:t>
            </a:r>
            <a:endParaRPr lang="en-US" sz="23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mit abba, bab, abbab.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8ECDB"/>
          </a:solidFill>
          <a:ln w="12700">
            <a:solidFill>
              <a:srgbClr val="B26A0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GEHT’S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anhalten,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Papier lösen,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dann weiter: Die Auflösung kommt sofort.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Auflösung</a:t>
            </a:r>
            <a:endParaRPr lang="en-US" sz="3200" dirty="0"/>
          </a:p>
        </p:txBody>
      </p:sp>
      <p:pic>
        <p:nvPicPr>
          <p:cNvPr id="3" name="Image 0" descr="/home/user/AutomatenLab/materials/build/img/video/b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783" y="1325880"/>
            <a:ext cx="7117553" cy="23774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886200"/>
            <a:ext cx="78638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kein b am Ende  · 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zuletzt ein b  · 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bb gefunden</a:t>
            </a:r>
            <a:endParaRPr lang="en-US" sz="23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✓   ·   bab ✗   ·   abbab ✓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BAUSTEIN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Teilwort enthalten: gefunden bleibt gefunden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nimmst du mit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772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Erinnerungen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dann Zustände.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Zustand und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jedes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Zeichen genau ein Pfeil.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Testen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mit Überlappungen (aab, abab).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Unpassendes Zeichen ≠ automatisch zurück nach S0.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160520"/>
            <a:ext cx="3749040" cy="2194560"/>
          </a:xfrm>
          <a:prstGeom prst="roundRect">
            <a:avLst>
              <a:gd name="adj" fmla="val 5000"/>
            </a:avLst>
          </a:prstGeom>
          <a:solidFill>
            <a:srgbClr val="0A4A3F"/>
          </a:solidFill>
          <a:ln w="12700">
            <a:solidFill>
              <a:srgbClr val="3E8E7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434340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Nächstes</a:t>
            </a:r>
            <a:endParaRPr lang="en-US" sz="1500" dirty="0"/>
          </a:p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3: Mealy-Automaten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4160520"/>
            <a:ext cx="3749040" cy="2194560"/>
          </a:xfrm>
          <a:prstGeom prst="roundRect">
            <a:avLst>
              <a:gd name="adj" fmla="val 5000"/>
            </a:avLst>
          </a:prstGeom>
          <a:solidFill>
            <a:srgbClr val="0A4A3F"/>
          </a:solidFill>
          <a:ln w="12700">
            <a:solidFill>
              <a:srgbClr val="3E8E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434340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Nachlesen</a:t>
            </a:r>
            <a:endParaRPr lang="en-US" sz="1500" dirty="0"/>
          </a:p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Merkblatt M02 – DEA entwickeln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778240" y="502920"/>
            <a:ext cx="3200400" cy="379476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778240" y="640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 ÜBEN</a:t>
            </a:r>
            <a:endParaRPr lang="en-US" sz="14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1005840"/>
            <a:ext cx="2103120" cy="21031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915400" y="32004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Automaten-Baukasten</a:t>
            </a:r>
            <a:endParaRPr lang="en-US" sz="18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Baukasten Stufe 1 (Basis)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Video 2 – DEA entwickeln in 5 Schritten</dc:title>
  <dc:subject>PptxGenJS Presentation</dc:subject>
  <dc:creator>Frank Juchim</dc:creator>
  <cp:lastModifiedBy>Frank Juchim</cp:lastModifiedBy>
  <cp:revision>1</cp:revision>
  <dcterms:created xsi:type="dcterms:W3CDTF">2026-10-14T16:08:33Z</dcterms:created>
  <dcterms:modified xsi:type="dcterms:W3CDTF">2026-10-14T16:08:33Z</dcterms:modified>
</cp:coreProperties>
</file>