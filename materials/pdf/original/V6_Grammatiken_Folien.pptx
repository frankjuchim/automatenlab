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[0:00–0:20] Einstieg
„Bisher haben Automaten Wörter geprüft. Jetzt drehen wir den Spieß um: Eine Grammatik erzeugt Wörter – wie die Grammatik einer Programmiersprache.“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[0:20–1:20] Mini-Deutsch
„Großgeschriebene Platzhalter wie Subjekt werden ersetzt – das sind Nichtterminale. Die echten Wörter bleiben stehen – Terminale.“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[1:20–2:10] Die formale Schreibweise
„Im Abi gibst du immer alle vier Teile an.“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[2:10–3:05] Ableitung und Ableitungsbaum
„Der Baum zeigt dieselbe Ableitung – nur ohne Reihenfolge. Die Blätter von links nach rechts ergeben das Wort.“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[3:05–4:15] Live: Ableitungs-Rallye
Regeln anklicken, dabei laut „ich ersetze das linkeste Nichtterminal …“.
Bewusst einmal eine falsche Regel wählen und „Schritt zurück“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[4:15–4:55] Die Sprache beschreiben
„Genau 3 · 3 = 9 Wörter – eine endliche Sprache.“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[4:55–5:25] Jetzt du
„Mit Ableitung begründen – oder sagen, welche Regel fehlt.“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[5:25–5:50] Zusammenfassung
Ausblick: Zusammenhang Grammatik ↔ Automat.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B574A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6  ·  Grammatiken  ·  automatenlab.frankjuchim.de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F1F7F6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AKZENT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6  ·  Grammatiken  ·  automatenlab.frankjuchim.de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E4EEEC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DUNKEL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83D34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Erklärvideo 6  ·  Maschinen, die Sprache verstehen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Grammatiken: Wie man eine Sprache erzeugt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640080" y="3977640"/>
            <a:ext cx="7772400" cy="1463040"/>
          </a:xfrm>
          <a:prstGeom prst="roundRect">
            <a:avLst>
              <a:gd name="adj" fmla="val 75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114800"/>
            <a:ext cx="7315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Leitfrage</a:t>
            </a:r>
            <a:endParaRPr lang="en-US" sz="1500" dirty="0"/>
          </a:p>
          <a:p>
            <a:pPr indent="0" marL="0">
              <a:buNone/>
            </a:pPr>
            <a:r>
              <a:rPr lang="en-US" sz="2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legt man mit wenigen Regeln fest, welche Wörter zu einer Sprache gehören?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D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automatenlab.frankjuchim.de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056132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9857232" y="233172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48672" y="2423160"/>
            <a:ext cx="777240" cy="77724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57232" y="2331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10122408" y="1389888"/>
            <a:ext cx="420624" cy="0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652760" y="1874520"/>
            <a:ext cx="256032" cy="47548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Mini-Deutsch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→ Subjekt Prädikat Objekt Punkt</a:t>
            </a:r>
            <a:endParaRPr lang="en-US" sz="21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Subjekt → Artikel Nomen</a:t>
            </a:r>
            <a:endParaRPr lang="en-US" sz="21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→ Der | Die | Das</a:t>
            </a:r>
            <a:endParaRPr lang="en-US" sz="21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Nomen → Hund | Schaf | Ziege | …</a:t>
            </a:r>
            <a:endParaRPr lang="en-US" sz="21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Prädikat → frisst | trinkt | …</a:t>
            </a:r>
            <a:endParaRPr lang="en-US" sz="21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 → Wasser | Möhren | …</a:t>
            </a:r>
            <a:endParaRPr lang="en-US" sz="21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Punkt → 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BEGRIFFE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Char char="▪"/>
            </a:pP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Nichtterminal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wird ersetzt</a:t>
            </a:r>
            <a:endParaRPr lang="en-US" sz="1800" dirty="0"/>
          </a:p>
          <a:p>
            <a:pPr marL="279400" indent="-279400">
              <a:spcAft>
                <a:spcPts val="600"/>
              </a:spcAft>
              <a:buSzPct val="100000"/>
              <a:buChar char="▪"/>
            </a:pP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bleibt stehen</a:t>
            </a:r>
            <a:endParaRPr lang="en-US" sz="1800" dirty="0"/>
          </a:p>
          <a:p>
            <a:pPr marL="279400" indent="-279400">
              <a:spcAft>
                <a:spcPts val="600"/>
              </a:spcAft>
              <a:buSzPct val="100000"/>
              <a:buChar char="▪"/>
            </a:pP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Startsymbol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hier beginnt es</a:t>
            </a:r>
            <a:endParaRPr lang="en-US" sz="1800" dirty="0"/>
          </a:p>
          <a:p>
            <a:pPr marL="279400" indent="-279400">
              <a:spcAft>
                <a:spcPts val="600"/>
              </a:spcAft>
              <a:buSzPct val="100000"/>
              <a:buChar char="▪"/>
            </a:pP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→ …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 Ableitung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    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(Start → Subjekt Prädikat Objekt Punkt)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Subjekt Prädikat Objekt Punkt     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(Subjekt → Artikel Nomen)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Artikel Nomen Prädikat Objekt Punkt     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(Artikel → Das)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Das Nomen Prädikat Objekt Punkt     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(Nomen → Schaf)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Das Schaf Prädikat Objekt Punkt     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(Prädikat → frisst)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Das Schaf frisst Objekt Punkt     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(Objekt → Möhren)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Das Schaf frisst Möhren Punkt     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(Punkt → .)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Das Schaf frisst Möhren .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GEHT’S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dem Startsymbol beginnen.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Schritt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Regel anwenden.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Fertig, wenn nur noch Terminale dastehen.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Formal: G = (N, T, S, P)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{S, A, B}   (Nichtterminale)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{la, le, lu}   (Terminale)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Startsymbol: 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4251960"/>
            <a:ext cx="7863840" cy="2103120"/>
          </a:xfrm>
          <a:prstGeom prst="roundRect">
            <a:avLst>
              <a:gd name="adj" fmla="val 4348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4343400"/>
            <a:ext cx="7406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(Produktionsregeln):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→ laA  |  leA  |  luA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laB  |  leB  |  luB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→ lu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SO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„|“ heißt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oder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→ laA | leA steht für S → laA und S → leA.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Ableitung und Ableitungsbaum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3771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Ableitung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37719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leA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lelaB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lelalu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Schritt: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Regel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fertig: nur noch Terminale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640580" y="1325880"/>
            <a:ext cx="3771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Ableitungsbaum</a:t>
            </a:r>
            <a:endParaRPr lang="en-US" sz="2200" dirty="0"/>
          </a:p>
        </p:txBody>
      </p:sp>
      <p:pic>
        <p:nvPicPr>
          <p:cNvPr id="6" name="Image 0" descr="/home/user/AutomatenLab/materials/build/img/ds11/baum_gl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2565" y="1874520"/>
            <a:ext cx="3147931" cy="42062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BAUM LESEN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Wurzel: Startsymbol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innen: Nichtterminale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Blätter von links nach rechts = Wort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im AutomatenLab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108960" cy="420624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45920"/>
            <a:ext cx="2468880" cy="2468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2519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Ableitungs-Rallye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023360" y="1325880"/>
            <a:ext cx="4389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machen gleich: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Zielwort le la lu ableiten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Immer das linkeste Nichtterminal ersetzen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Geht es in 3 Schritten?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15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automatenlab.frankjuchim.de/#/rallye?aufgabe=1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Sprache beschreiben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Kurze Wörter ableiten: lalalu, lelalu, lulelu …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Muster: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Silben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die letzte ist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{xy lu | x, y ∈ {la, le, lu}} – genau 9 Wörter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ABI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Zeigen Sie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dass w erzeugt wird → Ableitung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Beschreiben Sie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die Sprache → Muster + Menge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Pausiere jetzt!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68680" cy="86868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32588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Gehören </a:t>
            </a:r>
            <a:r>
              <a:rPr lang="en-US" sz="25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lalule</a:t>
            </a:r>
            <a:r>
              <a:rPr lang="en-US" sz="25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und </a:t>
            </a:r>
            <a:r>
              <a:rPr lang="en-US" sz="25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lulalu</a:t>
            </a:r>
            <a:r>
              <a:rPr lang="en-US" sz="25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zur Glal-Sprache?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560320"/>
            <a:ext cx="77724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→ laA | leA | luA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laB | leB | luB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→ lu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GEHT’S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anhalten,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Papier lösen,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weiter: Die Auflösung kommt sofort.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Auflösung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lalule: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die letzte Silbe kann nur lu sein (B → lu).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lulalu: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S ⇒ luA ⇒ lulaB ⇒ lulalu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nimmst du mit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772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 G = (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N, T, Startsymbol, P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Ableitung mit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jeder Schritt eine Regel.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Ableitungsbaum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Blätter von links nach rechts = Wort.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Sprache = alle ableitbaren Wörter aus Terminalen.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Nächstes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7: Reguläre Grammatik und Automat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Nachlesen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Merkblatt M08 – Grammatiken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778240" y="502920"/>
            <a:ext cx="3200400" cy="379476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778240" y="640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ÜBEN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1005840"/>
            <a:ext cx="2103120" cy="21031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915400" y="32004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Ableitungs-Rallye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Rallye: Mini-Deutsch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Video 6 – Grammatiken: Wie man eine Sprache erzeugt</dc:title>
  <dc:subject>PptxGenJS Presentation</dc:subject>
  <dc:creator>Frank Juchim</dc:creator>
  <cp:lastModifiedBy>Frank Juchim</cp:lastModifiedBy>
  <cp:revision>1</cp:revision>
  <dcterms:created xsi:type="dcterms:W3CDTF">2026-10-14T12:22:26Z</dcterms:created>
  <dcterms:modified xsi:type="dcterms:W3CDTF">2026-10-14T12:22:26Z</dcterms:modified>
</cp:coreProperties>
</file>