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f69c1832-84bb-215a-a636-a373621e5b18}">
          <p14:sldIdLst>
            <p14:sldId id="256"/>
          </p14:sldIdLst>
        </p14:section>
        <p14:section name="Einstieg" id="{d58e7cc8-19a6-ce4a-e32e-21e261f445f9}">
          <p14:sldIdLst>
            <p14:sldId id="257"/>
            <p14:sldId id="258"/>
            <p14:sldId id="259"/>
          </p14:sldIdLst>
        </p14:section>
        <p14:section name="Erarbeitung" id="{37be1cb2-05b9-5ceb-8de1-d17ae333cdd3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Übung" id="{739f5083-cdf1-881c-3005-e0ecb8487338}">
          <p14:sldIdLst>
            <p14:sldId id="269"/>
            <p14:sldId id="270"/>
            <p14:sldId id="271"/>
          </p14:sldIdLst>
        </p14:section>
        <p14:section name="Sicherung" id="{fa0d1824-6ca7-dfa7-14ac-1d58cc8eed5e}">
          <p14:sldIdLst>
            <p14:sldId id="272"/>
            <p14:sldId id="273"/>
          </p14:sldIdLst>
        </p14:section>
        <p14:section name="Abschluss" id="{a53f52bf-fcfb-7301-f632-ec15fd214fc4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Rückbezug Level 7: aⁿbⁿ und Klammern beliebiger Tiefe kann kein DEA. Heute: Wir geben dem Automaten einen unbegrenzten Speicher.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Lehrkraft liest Zeichen für Zeichen vor. Bei ( [ ) ] scheitert es beim „)“, weil „[“ oben liegt. Frage: Warum reicht kein DEA? → beliebige Tiefe (Level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Kernaussagen: unbegrenzter Speicher, aber eingeschränkter Zugriff (nur oben). Genau das ist ein Kellerspeicher.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Bezug zur Datenstruktur Stapel aus dem Q-Phasen-Unterricht. # = Vorbelegungszeichen, markiert den Boden.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[NUR LEHRKRAFT] Erst ausfüllen lassen, dann aufdecken. Belegung immer mit # am Ende.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Typischer Fehler: Ablage von links nach rechts. Merkhilfe: Die Ablage steht so da, wie sie danach oben im Keller aussieht (oben = links).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[NUR LEHRKRAFT] Zeilenweise aufdecken. (A, c) : BCA auf AB#: A weg → B#; dann A, C, B ablegen → BCAB#.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Idee: Für jedes a ein A in den Keller, jedes b entfernt ein A. Am Ende muss # oben liegen → ε-Übergang in den Endzustand S2.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Ältere Materialien definieren die Akzeptanz teils über „Keller enthält nur noch #“. Verbindlich sind die Ergänzenden Hinweise 2025: Endzustand nach vollständiger Eingabe.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[NUR LEHRKRAFT] Erste Zeile: S0 | # | – | –. Spalte 3 = Zeichen, das VOR dem Schritt oben lag. Letzte Zeile: ε-Übergang.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[NUR LEHRKRAFT] Bei einem NKA müsste man alle Möglichkeiten prüfen; dieser Automat ist deterministisch, es gibt genau einen Lauf.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Tabellen-Trainer gibt zeilenweise Rückmeldung. Eigene Automaten im Simulator testen: #/keller?automat=anb2n&amp;modus=sim.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Automaten im Labor: anbn, klammern, klammern-gemischt, anb2n, gleich-ab (passend zu AB09).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0E64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">
    <p:bg>
      <p:bgPr>
        <a:solidFill>
          <a:srgbClr val="0A4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9 · Welt B · Grenzen &amp; Keller · nur eA (Leistungskurs)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985455" y="64739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 BY-SA 4.0 · Frank Juchim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UFTRAG">
    <p:bg>
      <p:bgPr>
        <a:solidFill>
          <a:srgbClr val="F1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9 · Welt B · Grenzen &amp; Keller · nur eA (Leistungskurs)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985455" y="64739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 BY-SA 4.0 · Frank Juchim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34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Informatik eA (Leistungskurs)  ·  Level 9  ·  Welt B: Grenzen &amp; Keller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Automat bekommt ein Gedächtnis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79476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D7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Kellerautomaten I: Stapel, Notation, Verarbeitung dokumentieren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4709160"/>
            <a:ext cx="8961120" cy="1143000"/>
          </a:xfrm>
          <a:prstGeom prst="roundRect">
            <a:avLst>
              <a:gd name="adj" fmla="val 9600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4828032"/>
            <a:ext cx="8595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Kernfrage</a:t>
            </a:r>
            <a:endParaRPr lang="en-US" sz="1400" dirty="0"/>
          </a:p>
          <a:p>
            <a:pPr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muss man den endlichen Automaten erweitern, damit er unbeschränkt zählen kann?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058400" y="128016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0" y="12801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S0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10881360" y="274320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881360" y="27432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058400" y="420624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F3D9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149840" y="4297680"/>
            <a:ext cx="822960" cy="822960"/>
          </a:xfrm>
          <a:prstGeom prst="ellipse">
            <a:avLst/>
          </a:prstGeom>
          <a:solidFill>
            <a:srgbClr val="0E6455"/>
          </a:solidFill>
          <a:ln w="19050">
            <a:solidFill>
              <a:srgbClr val="F3D9B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0" y="42062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S2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0835640" y="2194560"/>
            <a:ext cx="411480" cy="56692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H="1">
            <a:off x="10835640" y="3657600"/>
            <a:ext cx="411480" cy="56692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Einstieg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Klammer-Check mit Kartenstapel</a:t>
            </a:r>
            <a:endParaRPr lang="en-US" sz="4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Klammer-Check: ( [ ( ) ] 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31673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435608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722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2093976" y="1325880"/>
            <a:ext cx="2052828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424" y="1435608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96896" y="1325880"/>
            <a:ext cx="14584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Partnerarbeit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4375404" y="1325880"/>
            <a:ext cx="2052828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0852" y="1435608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878324" y="1325880"/>
            <a:ext cx="14584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Klammerkarten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2148840"/>
            <a:ext cx="1109441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Öffnende Klammer gelesen: Karte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oben auf den Stapel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Schließende Klammer gelesen: Die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oberste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Karte muss die passende öffnende sein – dann weg damit.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Passt sie nicht oder ist der Stapel leer: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Fehler!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 Ende muss der Stapel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sein.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Danach: ( [ ) ]  und  [ ] 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600200"/>
            <a:ext cx="1109441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Warum funktioniert der Kartenstapel – und der DEA nicht?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Stapel kann </a:t>
            </a:r>
            <a:r>
              <a:rPr lang="en-US" sz="2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beliebig hoch</a:t>
            </a: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werden und wir sehen immer nur die </a:t>
            </a:r>
            <a:r>
              <a:rPr lang="en-US" sz="2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oberste</a:t>
            </a: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Karte.</a:t>
            </a:r>
            <a:endParaRPr lang="en-US" sz="22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Erarbeitung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Kellerspeicher</a:t>
            </a:r>
            <a:endParaRPr lang="en-US" sz="4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Stapel: last in, first out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567864" cy="4297680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737360"/>
            <a:ext cx="731520" cy="731520"/>
          </a:xfrm>
          <a:prstGeom prst="ellipse">
            <a:avLst/>
          </a:prstGeom>
          <a:solidFill>
            <a:srgbClr val="0E6455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push(x)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383280"/>
            <a:ext cx="201922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wird oben abgelegt.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3390824" y="1463040"/>
            <a:ext cx="2567864" cy="4297680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65144" y="1737360"/>
            <a:ext cx="731520" cy="73152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2304" y="187452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65144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pop()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3665144" y="3383280"/>
            <a:ext cx="201922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oberste Zeichen wird entfernt.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6233008" y="1463040"/>
            <a:ext cx="2567864" cy="4297680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507328" y="1737360"/>
            <a:ext cx="731520" cy="731520"/>
          </a:xfrm>
          <a:prstGeom prst="ellipse">
            <a:avLst/>
          </a:prstGeom>
          <a:solidFill>
            <a:srgbClr val="0E6455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4488" y="1874520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507328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top()</a:t>
            </a:r>
            <a:endParaRPr lang="en-US" sz="2100" dirty="0"/>
          </a:p>
        </p:txBody>
      </p:sp>
      <p:sp>
        <p:nvSpPr>
          <p:cNvPr id="17" name="Text 12"/>
          <p:cNvSpPr txBox="1"/>
          <p:nvPr/>
        </p:nvSpPr>
        <p:spPr>
          <a:xfrm>
            <a:off x="6507328" y="3383280"/>
            <a:ext cx="201922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oberste Zeichen wird gelesen (bleibt liegen).</a:t>
            </a:r>
            <a:endParaRPr lang="en-US" sz="2000" dirty="0"/>
          </a:p>
        </p:txBody>
      </p:sp>
      <p:sp>
        <p:nvSpPr>
          <p:cNvPr id="18" name="Shape 13"/>
          <p:cNvSpPr/>
          <p:nvPr/>
        </p:nvSpPr>
        <p:spPr>
          <a:xfrm>
            <a:off x="9075191" y="1463040"/>
            <a:ext cx="2567864" cy="4297680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349511" y="1737360"/>
            <a:ext cx="731520" cy="73152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6671" y="1874520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349511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Notation</a:t>
            </a:r>
            <a:endParaRPr lang="en-US" sz="2100" dirty="0"/>
          </a:p>
        </p:txBody>
      </p:sp>
      <p:sp>
        <p:nvSpPr>
          <p:cNvPr id="22" name="Text 16"/>
          <p:cNvSpPr txBox="1"/>
          <p:nvPr/>
        </p:nvSpPr>
        <p:spPr>
          <a:xfrm>
            <a:off x="9349511" y="3383280"/>
            <a:ext cx="201922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Belegung als Zeichenkette, </a:t>
            </a:r>
            <a:r>
              <a:rPr lang="en-US" sz="20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oben = links</a:t>
            </a: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BA# heißt B liegt oben, # ganz unten.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Aufwärmen: Stapeln (AB09, Aufgabe 1a)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335024"/>
                <a:gridCol w="1335024"/>
                <a:gridCol w="1335024"/>
                <a:gridCol w="1335024"/>
                <a:gridCol w="1335024"/>
                <a:gridCol w="1335024"/>
                <a:gridCol w="133502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push(A)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push(B)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pop()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push(C)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push(C)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top()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pop()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Belegung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A#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BA#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A#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CA#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CCA#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CCA#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CA#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geliefert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 Übergang des Kellerautomaten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Kantenbeschriftung: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(oberstes Kellerzeichen, Eingabezeichen) : Ablage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gelesene Kellerzeichen wird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entfernt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dann wird die Ablage abgelegt –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rechtes Zeichen zuerst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(#, a) : A#   →   A liegt oben, darunter #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(A, b) : ε   →   A wird entfernt, nichts abgelegt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(#, ε) : #   →   ε-Übergang: kein Eingabezeichen, # bleibt</a:t>
            </a:r>
            <a:endParaRPr lang="en-US" sz="2200" dirty="0"/>
          </a:p>
        </p:txBody>
      </p:sp>
      <p:pic>
        <p:nvPicPr>
          <p:cNvPr id="5" name="Image 0" descr="/home/user/AutomatenLab/materials/build/img/ds09/uebergang_stap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79215" y="3977640"/>
            <a:ext cx="7863840" cy="2191949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Ablageregel üben (AB09, Aufgabe 1b)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694176"/>
                <a:gridCol w="3694176"/>
                <a:gridCol w="3703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Übergang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Belegung vorher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Belegung nachher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(#, a) : A#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A#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(A, a) : AA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A#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AA#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(A, b) : ε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AA#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A#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(B, a) : AB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BA#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ABA#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(A, c) : BCA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AB#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BCAB#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Kellerautomat für aⁿbⁿ (n ≥ 1)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= {a, b}   ·   Γ = {#, A}   ·   Vorbelegung #</a:t>
            </a:r>
            <a:endParaRPr lang="en-US" sz="1800" dirty="0"/>
          </a:p>
        </p:txBody>
      </p:sp>
      <p:pic>
        <p:nvPicPr>
          <p:cNvPr id="4" name="Image 0" descr="/home/user/AutomatenLab/materials/build/img/ds09/anb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629747"/>
            <a:ext cx="11094415" cy="246718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nicht eingezeichneten Übergänge führen in einen Fehlerzustand.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Akzeptanz (Abitur-Definition)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09160"/>
          </a:xfrm>
          <a:prstGeom prst="roundRect">
            <a:avLst>
              <a:gd name="adj" fmla="val 1942"/>
            </a:avLst>
          </a:prstGeom>
          <a:solidFill>
            <a:srgbClr val="F8ECDB"/>
          </a:solidFill>
          <a:ln w="19050">
            <a:solidFill>
              <a:srgbClr val="B26A0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4592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645920"/>
            <a:ext cx="9814255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Eingabe wird genau dann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akzeptiert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wenn es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Möglichkeit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gibt, dass sich der Automat nach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vollständiger Verarbeitung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der Eingabe in einem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Endzustand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befindet.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Kellerinhalt ist dabei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egal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„Keller leer“ ist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Bedingung.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passender Übergang ⇒ dieser Lauf scheitert (Fehlerzustand). Abgelehnt, wenn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Lauf akzeptiert.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Verarbeitung dokumentieren: aabb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91840"/>
                <a:gridCol w="2834640"/>
                <a:gridCol w="29535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Zustand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Belegung Kellerspeicher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oberstes Kellersymbol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verarbeitetes Eingabezeichen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A#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AA#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A#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257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0A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Eingabe wird akzeptiert: </a:t>
            </a:r>
            <a:r>
              <a:rPr lang="en-US" sz="2200" b="1" dirty="0">
                <a:solidFill>
                  <a:srgbClr val="0A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</a:t>
            </a:r>
            <a:r>
              <a:rPr lang="en-US" sz="2200" dirty="0">
                <a:solidFill>
                  <a:srgbClr val="0A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die Eingabe ist vollständig gelesen und S2 ist ein Endzustand.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Verarbeitung dokumentieren: aab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91840"/>
                <a:gridCol w="2834640"/>
                <a:gridCol w="29535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Zustand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Belegung Kellerspeicher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oberstes Kellersymbol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verarbeitetes Eingabezeichen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A#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AA#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A#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43434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0A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Eingabe wird akzeptiert: </a:t>
            </a:r>
            <a:r>
              <a:rPr lang="en-US" sz="2200" b="1" dirty="0">
                <a:solidFill>
                  <a:srgbClr val="0A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nein</a:t>
            </a:r>
            <a:r>
              <a:rPr lang="en-US" sz="2200" dirty="0">
                <a:solidFill>
                  <a:srgbClr val="0A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A liegt noch oben, (#, ε) : # ist nicht möglich, S1 ist kein Endzustand.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Arbeitsblatt Level 9</a:t>
            </a:r>
            <a:endParaRPr lang="en-US" sz="4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Auftrag: AB09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31673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435608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722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2093976" y="1325880"/>
            <a:ext cx="236829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424" y="1435608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96896" y="1325880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Einzel → Partner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4690872" y="1325880"/>
            <a:ext cx="2683764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435608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193792" y="1325880"/>
            <a:ext cx="20894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AB09, Merkblatt M07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2148840"/>
            <a:ext cx="79854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2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Tabellen für aabb und aab im Abi-Format.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3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Klammer-Check analysieren.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4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Kellerautomat für aⁿb²ⁿ entwickeln.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Profis: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(runde und eckige Klammern) und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5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(gleich viele a und b).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Kontrolle im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Keller-Labor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(Tabellen-Trainer, Simulator).</a:t>
            </a:r>
            <a:endParaRPr lang="en-US" sz="2200" dirty="0"/>
          </a:p>
        </p:txBody>
      </p:sp>
      <p:sp>
        <p:nvSpPr>
          <p:cNvPr id="13" name="Shape 8"/>
          <p:cNvSpPr/>
          <p:nvPr/>
        </p:nvSpPr>
        <p:spPr>
          <a:xfrm>
            <a:off x="8808415" y="2148840"/>
            <a:ext cx="2834640" cy="356616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9050">
            <a:solidFill>
              <a:srgbClr val="0E6455"/>
            </a:solidFill>
            <a:prstDash val="dash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335" y="2377440"/>
            <a:ext cx="1828800" cy="18288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945575" y="438912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A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Keller-Labor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Keller-Labor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840480" cy="42062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9050">
            <a:solidFill>
              <a:srgbClr val="0E6455"/>
            </a:solidFill>
            <a:prstDash val="dash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828800"/>
            <a:ext cx="2743200" cy="2743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8006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846320" y="1737360"/>
            <a:ext cx="679673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800" dirty="0"/>
          </a:p>
          <a:p>
            <a:pPr indent="0" marL="0">
              <a:buNone/>
            </a:pPr>
            <a:r>
              <a:rPr lang="en-US" sz="34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Keller-Labor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Schrittsimulator mit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Stapel-Animation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Wähle den nächsten Übergang oder lass den Automaten laufen. Modus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Tabelle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Abi-Tabelle Zeile für Zeile mit Sofort-Feedback.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846320" y="5303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https://automatenlab.frankjuchim.de/#/keller?automat=klammern&amp;modus=sim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wir heute gelernt haben</a:t>
            </a:r>
            <a:endParaRPr lang="en-US" sz="4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Merke: Kellerautomat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6888175" cy="4709160"/>
          </a:xfrm>
          <a:prstGeom prst="roundRect">
            <a:avLst>
              <a:gd name="adj" fmla="val 1942"/>
            </a:avLst>
          </a:prstGeom>
          <a:solidFill>
            <a:srgbClr val="F8ECDB"/>
          </a:solidFill>
          <a:ln w="19050">
            <a:solidFill>
              <a:srgbClr val="B26A0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4592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645920"/>
            <a:ext cx="5608015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Kellerautomat = endlicher Automat +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Kellerspeicher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(Stapel, LIFO, unbegrenzt)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Kante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(Kellerzeichen, Eingabe) : Ablage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oberstes Zeichen wird entfernt, Ablage rechts zuerst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Kelleralphabet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Γ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Vorbelegung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ε-Übergänge erlaubt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Akzeptiert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wenn der Automat nach vollständiger Eingabe in einem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Endzustand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sein kann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Keller kann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unbeschränkt zählen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deshalb klappt aⁿbⁿ</a:t>
            </a:r>
            <a:endParaRPr lang="en-US" sz="2200" dirty="0"/>
          </a:p>
        </p:txBody>
      </p:sp>
      <p:pic>
        <p:nvPicPr>
          <p:cNvPr id="6" name="Image 1" descr="/home/user/AutomatenLab/materials/build/img/ds09/klammer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2575" y="3017520"/>
            <a:ext cx="384048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Zum Mitnehmen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10515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Stapel: push, pop, top – oben = links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und Ablageregel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Abi-Tabelle: Zustand | Belegung | oberstes Kellersymbol | Eingabezeichen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Akzeptanz über Endzustand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4846320"/>
            <a:ext cx="10911535" cy="1280160"/>
          </a:xfrm>
          <a:prstGeom prst="roundRect">
            <a:avLst>
              <a:gd name="adj" fmla="val 8571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4956048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Hausaufgabe</a:t>
            </a:r>
            <a:endParaRPr lang="en-US" sz="1500" dirty="0"/>
          </a:p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Tabellen für aaabbb und abb (Automat aus Abbildung 1); Tabellen-Trainer „gleich viele a und b“ im Keller-Labor.</a:t>
            </a:r>
            <a:endParaRPr lang="en-US" sz="15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utomaten LK">
  <a:themeElements>
    <a:clrScheme name="Automaten LK">
      <a:dk1>
        <a:srgbClr val="1F2A2E"/>
      </a:dk1>
      <a:lt1>
        <a:srgbClr val="FFFFFF"/>
      </a:lt1>
      <a:dk2>
        <a:srgbClr val="0E6455"/>
      </a:dk2>
      <a:lt2>
        <a:srgbClr val="E4F0EE"/>
      </a:lt2>
      <a:accent1>
        <a:srgbClr val="0E6455"/>
      </a:accent1>
      <a:accent2>
        <a:srgbClr val="B26A0F"/>
      </a:accent2>
      <a:accent3>
        <a:srgbClr val="3E8E7E"/>
      </a:accent3>
      <a:accent4>
        <a:srgbClr val="D9A45B"/>
      </a:accent4>
      <a:accent5>
        <a:srgbClr val="5B6770"/>
      </a:accent5>
      <a:accent6>
        <a:srgbClr val="A83232"/>
      </a:accent6>
      <a:hlink>
        <a:srgbClr val="0E6455"/>
      </a:hlink>
      <a:folHlink>
        <a:srgbClr val="0A4A3F"/>
      </a:folHlink>
    </a:clrScheme>
    <a:fontScheme name="Automaten L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Max-Planck-Gymnasium Delmenhorst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Der Automat bekommt ein Gedächtnis</dc:title>
  <dc:subject>PptxGenJS Presentation</dc:subject>
  <dc:creator>Frank Juchim</dc:creator>
  <cp:lastModifiedBy>Frank Juchim</cp:lastModifiedBy>
  <cp:revision>1</cp:revision>
  <dcterms:created xsi:type="dcterms:W3CDTF">2026-10-14T16:08:13Z</dcterms:created>
  <dcterms:modified xsi:type="dcterms:W3CDTF">2026-10-14T16:08:13Z</dcterms:modified>
</cp:coreProperties>
</file>