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c3b48c3b-232f-8e7b-77d4-a78779f91841}">
          <p14:sldIdLst>
            <p14:sldId id="256"/>
          </p14:sldIdLst>
        </p14:section>
        <p14:section name="Einstieg" id="{151208a7-7387-7a3c-44e2-ed25ebb397b8}">
          <p14:sldIdLst>
            <p14:sldId id="257"/>
            <p14:sldId id="258"/>
            <p14:sldId id="259"/>
            <p14:sldId id="260"/>
            <p14:sldId id="261"/>
          </p14:sldIdLst>
        </p14:section>
        <p14:section name="Erarbeitung" id="{70d32d73-af1a-1c5f-9181-52966880173a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Übung" id="{5973f17e-3dd3-e83c-fb75-c32e2615c6d3}">
          <p14:sldIdLst>
            <p14:sldId id="269"/>
            <p14:sldId id="270"/>
            <p14:sldId id="271"/>
            <p14:sldId id="272"/>
          </p14:sldIdLst>
        </p14:section>
        <p14:section name="Sicherung" id="{a30cf3cc-ba85-5506-a084-de49ca88b700}">
          <p14:sldIdLst>
            <p14:sldId id="273"/>
            <p14:sldId id="274"/>
          </p14:sldIdLst>
        </p14:section>
        <p14:section name="Abschluss" id="{ab9c786e-e7b3-a040-2002-3683d7176d86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2. Heute drehen wir die Perspektive um: Nicht wir bauen den Automaten, sondern wir bekommen einen und müssen herausfinden, was er tut – genau so beginnen die meisten Abi-Aufgaben.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Kurze Ideensammlung: Wörter ausprobieren, Wege zu den Endzuständen verfolgen, überlegen, was die Zustände „wissen“. Dann Wettbewerb starten.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Punkte: 2 Sprache in Worten, 1 Mengenschreibweise, 1 Bedeutung aller Zustände, +1 Bonus für die erste vollständig richtige Gruppe pro Fall. Punktestand an der Tafel.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Zum Mitprojizieren während der Ermittlung. Fall 4: Hinweis zum Fehlerzustand betonen.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Häufige Fehlvermutungen: Fall 3 „Palindrome“ – Gegenbeispiel abaa (kein Palindrom, wird aber akzeptiert). Fall 4 „höchstens ein a“ – Gegenbeispiel aba (wird akzeptiert). Bei Fall 1 und 4 ist ε in L, bei Fall 2 und 3 nicht.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 Fall 1 „Der Pendler“. Betonen: δ ist eine Funktion – für jedes Paar (Zustand, Zeichen) genau ein Ergebnis. Das ist „deterministisch“.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Lesen: Zeile = aktueller Zustand, Spalte = gelesenes Zeichen, Zelle = Folgezustand. → Startzustand, * Endzustand. Gemeinsam die Tabelle für Fall 2 an der Tafel aufstellen 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Mengenschreibweise üben: L(A) = {w ∈ {a, b}* | w endet auf b}. Frage: Ist ε ∈ L für Fall 2? (Nein, S0 ist kein Endzustand.)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Antwort: Das Wort begann mit a, das zuletzt gelesene Zeichen war b. Herausarbeiten: Ein Zustand fasst ALLE Wörter zusammen, die dorthin führen – die Bedeutung muss für alle diese Wörter stimmen.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Gemeinsam: Bedeutung von S1 formulieren. Schlechte Antwort: „In S1 wurde eine 1 gelesen.“ Gute Antwort: „Das erste Bit des Startzeichens (1) wurde korrekt gelesen, es fehlen noch 1 und 0.“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Diese Satzbausteine stehen auch auf M01 (Abschnitt 5). Abi 2025 eA B b und Abi 2021 Nach D a verlangen genau 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Zwischensicherung nach ca. 20 Minuten: Aufgabe 2b mit Satzbausteinen. Profis vergleichen Aufgabe 4d untereinander.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Fälle 1, 3, 6, 8 entsprechen den Fallkarten aus dem Einstieg.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Für SuS, die mit dem AB fertig sind; Bestwerte notieren.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· Welt A · Endliche Automaten · gA und eA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98545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BY-SA 4.0 · Frank Juchim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FTRAG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· Welt A · Endliche Automaten · gA und eA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98545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BY-SA 4.0 · Frank Juchim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 gA und eA  ·  Level 2  ·  Welt A: Endliche Automaten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macht dieser Automat?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 analysieren – formale Definition, Sprache, Bedeutung von Zuständen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8961120" cy="1143000"/>
          </a:xfrm>
          <a:prstGeom prst="roundRect">
            <a:avLst>
              <a:gd name="adj" fmla="val 96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828032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Kernfrage</a:t>
            </a:r>
            <a:endParaRPr lang="en-US" sz="14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finde ich heraus, welche Sprache ein Automat erkennt – und was seine Zustände „bedeuten“?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0" y="128016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0" y="1280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881360" y="274320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8136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0" y="4297680"/>
            <a:ext cx="822960" cy="82296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0" y="4206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835640" y="219456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835640" y="365760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Sprach-Detektiv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0020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Automat ohne Beschreibung: Wie findet ihr heraus, welche Wörter er akzeptiert?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 seid Detektive – die Wörter sind eure Zeugen.</a:t>
            </a:r>
            <a:endParaRPr lang="en-US" sz="2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Wettbewerb: Vier ungelöste Fälle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2052828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14584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Gruppen (3–4)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375404" y="132588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878324" y="13258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Fallkarten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110944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Gruppe erhält einen Umschlag mit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Fallkarten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Testet verdächtige Wörter: ε, a, b, aa, ab, ba, aba, abba …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Notiert die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Worten und als L = {w ∈ {a, b}* | …}.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Notiert für jeden Zustand, was der Automat dort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weiß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gelöst? Zettel abgeben – die schnellste korrekte Gruppe erhält einen Bonuspunkt.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vier Fälle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325880"/>
            <a:ext cx="5440680" cy="2468880"/>
          </a:xfrm>
          <a:prstGeom prst="roundRect">
            <a:avLst>
              <a:gd name="adj" fmla="val 2963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630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 1: Der Pendler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{a, b}</a:t>
            </a:r>
            <a:endParaRPr lang="en-US" sz="1900" dirty="0"/>
          </a:p>
        </p:txBody>
      </p:sp>
      <p:pic>
        <p:nvPicPr>
          <p:cNvPr id="6" name="Image 0" descr="/home/user/AutomatenLab/materials/build/img/ds02/m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7480" y="1884544"/>
            <a:ext cx="3154680" cy="1351551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172200" y="1325880"/>
            <a:ext cx="5440680" cy="2468880"/>
          </a:xfrm>
          <a:prstGeom prst="roundRect">
            <a:avLst>
              <a:gd name="adj" fmla="val 2963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355080" y="14630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 2: Der Schlusspunkt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{a, b}</a:t>
            </a:r>
            <a:endParaRPr lang="en-US" sz="1900" dirty="0"/>
          </a:p>
        </p:txBody>
      </p:sp>
      <p:pic>
        <p:nvPicPr>
          <p:cNvPr id="9" name="Image 1" descr="/home/user/AutomatenLab/materials/build/img/ds02/m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884544"/>
            <a:ext cx="3154680" cy="135155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48640" y="3931920"/>
            <a:ext cx="5440680" cy="2468880"/>
          </a:xfrm>
          <a:prstGeom prst="roundRect">
            <a:avLst>
              <a:gd name="adj" fmla="val 2963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731520" y="40690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 3: Spiegelbild?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{a, b}</a:t>
            </a:r>
            <a:endParaRPr lang="en-US" sz="1900" dirty="0"/>
          </a:p>
        </p:txBody>
      </p:sp>
      <p:pic>
        <p:nvPicPr>
          <p:cNvPr id="12" name="Image 2" descr="/home/user/AutomatenLab/materials/build/img/ds02/m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4135891"/>
            <a:ext cx="3154680" cy="2060937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172200" y="3931920"/>
            <a:ext cx="5440680" cy="2468880"/>
          </a:xfrm>
          <a:prstGeom prst="roundRect">
            <a:avLst>
              <a:gd name="adj" fmla="val 2963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6355080" y="40690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 4: Abstand halten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Fehlende Übergänge → Fehlerzustand</a:t>
            </a:r>
            <a:endParaRPr lang="en-US" sz="1900" dirty="0"/>
          </a:p>
        </p:txBody>
      </p:sp>
      <p:pic>
        <p:nvPicPr>
          <p:cNvPr id="15" name="Image 3" descr="/home/user/AutomatenLab/materials/build/img/ds02/m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512341"/>
            <a:ext cx="3154680" cy="130803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Auflösung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Sprache 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Bedeutung der Zustände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Der Pendler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 Wörter mit einer geraden Anzahl a (auch 0 a)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S0: bisher gerade Anzahl a gelesen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S1: bisher ungerade Anzahl a gelesen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Der Schlusspunkt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 Wörter, die auf b enden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S0: zuletzt kein b gelesen (oder noch nichts)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S1: zuletzt b gelesen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Spiegelbild?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 nichtleeren Wörter, die mit demselben Zeichen beginnen und enden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S0: noch nichts gelesen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S1: begann mit a, zuletzt 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S2: begann mit a, zuletzt 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S3: begann mit b, zuletzt 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S4: begann mit b, zuletzt 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Abstand halten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 Wörter, in denen nie zwei a direkt hintereinander stehen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S0: zuletzt kein a gelesen (oder noch nichts)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S1: zuletzt ein a gelesen – ein weiteres a führt in den Fehlerzustand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Erarbeitung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Sprache der Analyse</a:t>
            </a:r>
            <a:endParaRPr lang="en-US" sz="4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Formale Definition eines DEA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633953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(Q, Σ, δ, S0, F)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{S0, S1}: endliche Menge der Zustände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{a, b}: Eingabealphabet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Q × Σ → Q, z. B. δ(S0, a) = S1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Startzustand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{S0}: Menge der Endzustände</a:t>
            </a:r>
            <a:endParaRPr lang="en-US" sz="2400" dirty="0"/>
          </a:p>
        </p:txBody>
      </p:sp>
      <p:pic>
        <p:nvPicPr>
          <p:cNvPr id="4" name="Image 0" descr="/home/user/AutomatenLab/materials/build/img/ds02/m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3935" y="2854550"/>
            <a:ext cx="4389120" cy="188041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↔ Übergangstabelle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* S0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/home/user/AutomatenLab/materials/build/img/ds02/m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5295" y="1645920"/>
            <a:ext cx="4937760" cy="2115472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48640" y="32918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Zeile = aktueller Zustand · Spalte = gelesenes Zeichen · Zelle = Folgezustand</a:t>
            </a:r>
            <a:endParaRPr lang="en-US" sz="1800" dirty="0"/>
          </a:p>
        </p:txBody>
      </p:sp>
      <p:sp>
        <p:nvSpPr>
          <p:cNvPr id="7" name="Text 2"/>
          <p:cNvSpPr txBox="1"/>
          <p:nvPr/>
        </p:nvSpPr>
        <p:spPr>
          <a:xfrm>
            <a:off x="548640" y="42062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Startzustand    * Endzustand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Wörter und Sprachen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Wort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endliche Folge von Zeichen aus Σ, z. B. abba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390824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65144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304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5144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665144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leere Wort – akzeptiert genau dann, wenn S0 Endzustand ist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233008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507328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8" y="1874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7328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Σ*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 aller Wörter über Σ, einschließlich ε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9075191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349511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671" y="187452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9511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L(A)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9349511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Sprache von A: alle Wörter, die A akzeptiert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00200"/>
            <a:ext cx="110944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„weiß“ der Automat, wenn er sich in S2 befindet?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063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3 „Spiegelbild?“ – Zustand = Gedächtnis über das </a:t>
            </a: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gesamte</a:t>
            </a: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bisher gelesene Wort</a:t>
            </a:r>
            <a:endParaRPr lang="en-US" sz="2200" dirty="0"/>
          </a:p>
        </p:txBody>
      </p:sp>
      <p:pic>
        <p:nvPicPr>
          <p:cNvPr id="5" name="Image 1" descr="/home/user/AutomatenLab/materials/build/img/ds02/m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6370" y="3337560"/>
            <a:ext cx="4478956" cy="2926080"/>
          </a:xfrm>
          <a:prstGeom prst="rect">
            <a:avLst/>
          </a:prstGeom>
        </p:spPr>
      </p:pic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Barcode-Startzeichen 110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{0, 1}</a:t>
            </a:r>
            <a:endParaRPr lang="en-US" sz="1800" dirty="0"/>
          </a:p>
        </p:txBody>
      </p:sp>
      <p:pic>
        <p:nvPicPr>
          <p:cNvPr id="4" name="Image 0" descr="/home/user/AutomatenLab/materials/build/img/ds02/bar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24983"/>
            <a:ext cx="11094415" cy="261951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nicht eingezeichneten Übergänge führen in einen Fehlerzustand.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Abi-Check: Bedeutung von Zuständen erläutern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Baustein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Beispiel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 Automat befindet sich genau dann in Si, wenn …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 die bisherige Quersumme ungerade ist.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Si wurde bisher … gelesen / ist bekannt, dass …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 das Startzeichen 110 vollständig gelesen wurde.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ist (k)ein Endzustand, weil …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 eine Bestellnummer mit ungerader Quersumme ungültig ist.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 Si führt x nach Sj, weil …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 eine gerade Ziffer die Parität nicht ändert.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Arbeitsblatt Level 2</a:t>
            </a:r>
            <a:endParaRPr lang="en-US" sz="4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Auftrag: AB02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236829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 → Partner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690872" y="1325880"/>
            <a:ext cx="2683764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193792" y="1325880"/>
            <a:ext cx="20894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AB02, Merkblatt M01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79854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Aufgaben 1 und 2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Aufgabe 3 (Quersumme gerade?)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Aufgabe 4 (Prüfnummer mit Trennzeichen)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Sprach-Detektiv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Fälle 2, 4, 7, 9, 12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8808415" y="2148840"/>
            <a:ext cx="2834640" cy="35661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1335" y="2377440"/>
            <a:ext cx="1828800" cy="18288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945575" y="4389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Sprach-Detektiv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Sprach-Detektiv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840480" cy="42062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00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737360"/>
            <a:ext cx="67967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8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Sprach-Detektiv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Sprache erkennt der Automat? Teste Wörter, wähle eine von vier Beschreibungen. Falsch geraten? Die App zeigt dir ein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Gegenbeispiel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https://automatenlab.frankjuchim.de/#/detektiv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Akzeptor-Arena · Stufe 2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840480" cy="42062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00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737360"/>
            <a:ext cx="67967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8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Akzeptor-Arena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Längere Wörter, Graphen mit Rückkanten. Mit </a:t>
            </a:r>
            <a:r>
              <a:rPr lang="en-US" sz="22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#/arena?automat=quersumme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trainierst du gezielt den Quersummen-Prüfer aus Aufgabe 3.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https://automatenlab.frankjuchim.de/#/arena?stufe=2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wir heute gelernt haben</a:t>
            </a:r>
            <a:endParaRPr lang="en-US" sz="4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Merke: Automaten analysieren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705295" cy="4709160"/>
          </a:xfrm>
          <a:prstGeom prst="roundRect">
            <a:avLst>
              <a:gd name="adj" fmla="val 1942"/>
            </a:avLst>
          </a:prstGeom>
          <a:solidFill>
            <a:srgbClr val="F8ECDB"/>
          </a:solidFill>
          <a:ln w="1905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45920"/>
            <a:ext cx="542513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DEA ist ein 5-Tupel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(Q, Σ, δ, S0, F)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mit δ: Q × Σ → Q.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L(A)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ist die Menge aller Wörter aus Σ*, die A akzeptiert. ε ∈ L(A) ⇔ S0 ∈ F.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Sprache finden: kurze Wörter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systematisch testen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Wege zu Endzuständen verfolgen, mit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Gegenbeispielen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absichern.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Bedeutung eines Zustands: Was gilt für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Wort, das in diesen Zustand führt? – im Sachzusammenhang formulieren.</a:t>
            </a:r>
            <a:endParaRPr lang="en-US" sz="2200" dirty="0"/>
          </a:p>
        </p:txBody>
      </p:sp>
      <p:pic>
        <p:nvPicPr>
          <p:cNvPr id="6" name="Image 1" descr="/home/user/AutomatenLab/materials/build/img/ds02/quersum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695" y="2954535"/>
            <a:ext cx="4023360" cy="163473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Zum Mitnehmen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Formale Definition A = (Q, Σ, δ, S0, F) und Übergangstabelle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Wort, ε, Σ*, Sprache L(A)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Sprache eines Automaten untersuchen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Bedeutung von Zuständen im Sachzusammenhang erläutern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956048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Hausaufgabe</a:t>
            </a:r>
            <a:endParaRPr lang="en-US" sz="15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Boss-Training „Was macht er?“ (AB02, letzte Seite): zwei Automaten im Abi-Format analysieren.</a:t>
            </a:r>
            <a:endParaRPr lang="en-US" sz="15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Max-Planck-Gymnasium Delmenhorst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 macht dieser Automat?</dc:title>
  <dc:subject>PptxGenJS Presentation</dc:subject>
  <dc:creator>Frank Juchim</dc:creator>
  <cp:lastModifiedBy>Frank Juchim</cp:lastModifiedBy>
  <cp:revision>1</cp:revision>
  <dcterms:created xsi:type="dcterms:W3CDTF">2026-10-14T16:07:56Z</dcterms:created>
  <dcterms:modified xsi:type="dcterms:W3CDTF">2026-10-14T16:07:56Z</dcterms:modified>
</cp:coreProperties>
</file>